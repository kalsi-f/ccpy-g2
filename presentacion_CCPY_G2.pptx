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0"/>
  </p:notesMasterIdLst>
  <p:sldIdLst>
    <p:sldId id="256" r:id="rId2"/>
    <p:sldId id="287" r:id="rId3"/>
    <p:sldId id="306" r:id="rId4"/>
    <p:sldId id="258" r:id="rId5"/>
    <p:sldId id="303" r:id="rId6"/>
    <p:sldId id="290" r:id="rId7"/>
    <p:sldId id="293" r:id="rId8"/>
    <p:sldId id="260" r:id="rId9"/>
    <p:sldId id="262" r:id="rId10"/>
    <p:sldId id="263" r:id="rId11"/>
    <p:sldId id="264" r:id="rId12"/>
    <p:sldId id="265" r:id="rId13"/>
    <p:sldId id="266" r:id="rId14"/>
    <p:sldId id="296" r:id="rId15"/>
    <p:sldId id="299" r:id="rId16"/>
    <p:sldId id="302" r:id="rId17"/>
    <p:sldId id="304" r:id="rId18"/>
    <p:sldId id="305" r:id="rId19"/>
  </p:sldIdLst>
  <p:sldSz cx="12192000" cy="6858000"/>
  <p:notesSz cx="6858000" cy="9144000"/>
  <p:embeddedFontLst>
    <p:embeddedFont>
      <p:font typeface="Arial Black" panose="020B0A04020102020204" pitchFamily="34" charset="0"/>
      <p:regular r:id="rId21"/>
      <p:bold r:id="rId22"/>
    </p:embeddedFont>
    <p:embeddedFont>
      <p:font typeface="Mate" panose="020B0604020202020204" charset="0"/>
      <p:regular r:id="rId23"/>
      <p: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3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1536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  <p:extLst>
    <p:ext uri="{620B2872-D7B9-4A21-9093-7833F8D536E1}">
      <p15:sldGuideLst xmlns:p15="http://schemas.microsoft.com/office/powerpoint/2012/main">
        <p15:guide id="1" orient="horz" pos="2880">
          <p15:clr>
            <a:srgbClr val="F26B43"/>
          </p15:clr>
        </p15:guide>
        <p15:guide id="2" pos="2160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2" name="Google Shape;33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El histograma presente en la Fig. 6 muestra una asimetría en la distribución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de ingresos en el mercado laboral regional. La mayor concentración de mujeres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encuentra en el tramo de ingresos más bajo ($0 a $500.000 CLP), lo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indica empleos precarios, salarios mínimos o jornadas parciales. En contraste,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los hombres presentan mayor participación en los tramos de ingresos medios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altos (entre $500.000 y $1.500.000). Este gráfico permite explorar la relación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entre brecha salarial de género y vulnerabilidad del núcleo familiar en hogares con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jefatura 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9ab5b710e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2" name="Google Shape;342;g39ab5b710e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Fig. 7 compara la distribución de ingresos laborales por género entre 2017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y 2024 en la Región de Los Ríos, agrupados en tramos de $500.000 CLP. Se ob-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serva un desplazamiento general hacia tramos superiores entre ambos períodos,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atribuible en parte a la inflación y los reajustes del ingreso mínimo. Sin embargo,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la proporción de mujeres concentradas en el tramo inferior ($0 a $500.000 CLP)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se mantiene consistentemente más alta que la de hombres en ambos años. Este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gráfico permite evaluar si la brecha salarial de género persiste en el tiempo 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en qué medida se asocia a la mayor vulnerabilidad de los hogares con jefatura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femenina frente a carencias en vivienda, educación y seguridad social.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39ab5b710e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17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84497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017105BD-6D6F-49DB-9DE4-D4A6452D7E5F}" type="slidenum">
              <a:rPr lang="es-ES" altLang="zh-CN" noProof="0" smtClean="0"/>
              <a:t>18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82064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 con imagen">
  <p:cSld name="Diapositiva de título con imagen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" name="Google Shape;16;p2"/>
          <p:cNvCxnSpPr/>
          <p:nvPr/>
        </p:nvCxnSpPr>
        <p:spPr>
          <a:xfrm>
            <a:off x="1509005" y="4172084"/>
            <a:ext cx="0" cy="760288"/>
          </a:xfrm>
          <a:prstGeom prst="straightConnector1">
            <a:avLst/>
          </a:prstGeom>
          <a:noFill/>
          <a:ln w="19050" cap="flat" cmpd="sng">
            <a:solidFill>
              <a:srgbClr val="D8440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" name="Google Shape;17;p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6742557" y="821836"/>
            <a:ext cx="4405503" cy="506634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9" name="Google Shape;19;p2"/>
          <p:cNvSpPr/>
          <p:nvPr/>
        </p:nvSpPr>
        <p:spPr>
          <a:xfrm>
            <a:off x="7441324" y="5568778"/>
            <a:ext cx="829927" cy="949454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">
  <p:cSld name="Título y contenid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contenido con imagen">
  <p:cSld name="Título y contenido con imagen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>
            <a:spLocks noGrp="1"/>
          </p:cNvSpPr>
          <p:nvPr>
            <p:ph type="tbl" idx="2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551278" y="4665388"/>
            <a:ext cx="603952" cy="68174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524774" y="5146146"/>
            <a:ext cx="1667226" cy="1711855"/>
          </a:xfrm>
          <a:custGeom>
            <a:avLst/>
            <a:gdLst/>
            <a:ahLst/>
            <a:cxnLst/>
            <a:rect l="l" t="t" r="r" b="b"/>
            <a:pathLst>
              <a:path w="1667226" h="1711855" extrusionOk="0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0177285" y="5347130"/>
            <a:ext cx="748554" cy="856361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ción">
  <p:cSld name="Introducción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8"/>
          <p:cNvSpPr txBox="1"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8"/>
          <p:cNvSpPr txBox="1">
            <a:spLocks noGrp="1"/>
          </p:cNvSpPr>
          <p:nvPr>
            <p:ph type="body" idx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8"/>
          <p:cNvSpPr>
            <a:spLocks noGrp="1"/>
          </p:cNvSpPr>
          <p:nvPr>
            <p:ph type="pic" idx="2"/>
          </p:nvPr>
        </p:nvSpPr>
        <p:spPr>
          <a:xfrm>
            <a:off x="5745001" y="0"/>
            <a:ext cx="6446999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la sección">
  <p:cSld name="Encabezado de la secció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9"/>
          <p:cNvSpPr txBox="1"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/>
          <p:nvPr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9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13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cap="none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9"/>
          <p:cNvSpPr>
            <a:spLocks noGrp="1"/>
          </p:cNvSpPr>
          <p:nvPr>
            <p:ph type="pic" idx="2"/>
          </p:nvPr>
        </p:nvSpPr>
        <p:spPr>
          <a:xfrm>
            <a:off x="581710" y="555648"/>
            <a:ext cx="5045662" cy="578309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 ">
  <p:cSld name="Cita 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"/>
          <p:cNvSpPr txBox="1">
            <a:spLocks noGrp="1"/>
          </p:cNvSpPr>
          <p:nvPr>
            <p:ph type="title"/>
          </p:nvPr>
        </p:nvSpPr>
        <p:spPr>
          <a:xfrm>
            <a:off x="6099079" y="1856195"/>
            <a:ext cx="4518122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Arial"/>
              <a:buNone/>
              <a:defRPr sz="2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500"/>
              <a:buNone/>
              <a:defRPr sz="1500" b="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3843559" y="722518"/>
            <a:ext cx="1244907" cy="1405252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ADC0D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>
            <a:off x="1223929" y="1436914"/>
            <a:ext cx="2857005" cy="326977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CD3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758702" y="3457554"/>
            <a:ext cx="1208037" cy="138175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0"/>
          <p:cNvSpPr/>
          <p:nvPr/>
        </p:nvSpPr>
        <p:spPr>
          <a:xfrm>
            <a:off x="2917915" y="4662164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EE8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08" name="Google Shape;108;p1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miembros del equipo">
  <p:cSld name="4 miembros del equipo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1"/>
          <p:cNvSpPr>
            <a:spLocks noGrp="1"/>
          </p:cNvSpPr>
          <p:nvPr>
            <p:ph type="pic" idx="2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3" name="Google Shape;113;p11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4" name="Google Shape;114;p11"/>
          <p:cNvSpPr txBox="1">
            <a:spLocks noGrp="1"/>
          </p:cNvSpPr>
          <p:nvPr>
            <p:ph type="body" idx="3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1"/>
          <p:cNvSpPr>
            <a:spLocks noGrp="1"/>
          </p:cNvSpPr>
          <p:nvPr>
            <p:ph type="pic" idx="4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6" name="Google Shape;116;p11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6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>
            <a:spLocks noGrp="1"/>
          </p:cNvSpPr>
          <p:nvPr>
            <p:ph type="pic" idx="7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19" name="Google Shape;119;p11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9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>
            <a:spLocks noGrp="1"/>
          </p:cNvSpPr>
          <p:nvPr>
            <p:ph type="pic" idx="13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122" name="Google Shape;122;p11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11"/>
          <p:cNvSpPr txBox="1">
            <a:spLocks noGrp="1"/>
          </p:cNvSpPr>
          <p:nvPr>
            <p:ph type="body" idx="15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miembros del equipo">
  <p:cSld name="8 miembros del equipo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>
            <a:spLocks noGrp="1"/>
          </p:cNvSpPr>
          <p:nvPr>
            <p:ph type="pic" idx="2"/>
          </p:nvPr>
        </p:nvSpPr>
        <p:spPr>
          <a:xfrm>
            <a:off x="426979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12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2"/>
          <p:cNvSpPr txBox="1">
            <a:spLocks noGrp="1"/>
          </p:cNvSpPr>
          <p:nvPr>
            <p:ph type="body" idx="3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2"/>
          <p:cNvSpPr>
            <a:spLocks noGrp="1"/>
          </p:cNvSpPr>
          <p:nvPr>
            <p:ph type="pic" idx="4"/>
          </p:nvPr>
        </p:nvSpPr>
        <p:spPr>
          <a:xfrm>
            <a:off x="8059916" y="436455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2" name="Google Shape;132;p12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2"/>
          <p:cNvSpPr txBox="1">
            <a:spLocks noGrp="1"/>
          </p:cNvSpPr>
          <p:nvPr>
            <p:ph type="body" idx="6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2"/>
          <p:cNvSpPr>
            <a:spLocks noGrp="1"/>
          </p:cNvSpPr>
          <p:nvPr>
            <p:ph type="pic" idx="7"/>
          </p:nvPr>
        </p:nvSpPr>
        <p:spPr>
          <a:xfrm>
            <a:off x="426979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12" descr="Haga clic en el icono para agregar una imagen"/>
          <p:cNvSpPr txBox="1">
            <a:spLocks noGrp="1"/>
          </p:cNvSpPr>
          <p:nvPr>
            <p:ph type="body" idx="8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2"/>
          <p:cNvSpPr txBox="1">
            <a:spLocks noGrp="1"/>
          </p:cNvSpPr>
          <p:nvPr>
            <p:ph type="body" idx="9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2"/>
          <p:cNvSpPr>
            <a:spLocks noGrp="1"/>
          </p:cNvSpPr>
          <p:nvPr>
            <p:ph type="pic" idx="13"/>
          </p:nvPr>
        </p:nvSpPr>
        <p:spPr>
          <a:xfrm>
            <a:off x="8059916" y="2004222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38" name="Google Shape;138;p12" descr="Haga clic en el icono para agregar una imagen"/>
          <p:cNvSpPr txBox="1">
            <a:spLocks noGrp="1"/>
          </p:cNvSpPr>
          <p:nvPr>
            <p:ph type="body" idx="14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2"/>
          <p:cNvSpPr txBox="1">
            <a:spLocks noGrp="1"/>
          </p:cNvSpPr>
          <p:nvPr>
            <p:ph type="body" idx="15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12"/>
          <p:cNvSpPr>
            <a:spLocks noGrp="1"/>
          </p:cNvSpPr>
          <p:nvPr>
            <p:ph type="pic" idx="16"/>
          </p:nvPr>
        </p:nvSpPr>
        <p:spPr>
          <a:xfrm>
            <a:off x="426979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12" descr="Haga clic en el icono para agregar una imagen"/>
          <p:cNvSpPr txBox="1">
            <a:spLocks noGrp="1"/>
          </p:cNvSpPr>
          <p:nvPr>
            <p:ph type="body" idx="17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2"/>
          <p:cNvSpPr txBox="1">
            <a:spLocks noGrp="1"/>
          </p:cNvSpPr>
          <p:nvPr>
            <p:ph type="body" idx="18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2"/>
          <p:cNvSpPr>
            <a:spLocks noGrp="1"/>
          </p:cNvSpPr>
          <p:nvPr>
            <p:ph type="pic" idx="19"/>
          </p:nvPr>
        </p:nvSpPr>
        <p:spPr>
          <a:xfrm>
            <a:off x="8059916" y="3571991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12" descr="Haga clic en el icono para agregar una imagen"/>
          <p:cNvSpPr txBox="1">
            <a:spLocks noGrp="1"/>
          </p:cNvSpPr>
          <p:nvPr>
            <p:ph type="body" idx="20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body" idx="2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12"/>
          <p:cNvSpPr>
            <a:spLocks noGrp="1"/>
          </p:cNvSpPr>
          <p:nvPr>
            <p:ph type="pic" idx="22"/>
          </p:nvPr>
        </p:nvSpPr>
        <p:spPr>
          <a:xfrm>
            <a:off x="426979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12" descr="Haga clic en el icono para agregar una imagen"/>
          <p:cNvSpPr txBox="1">
            <a:spLocks noGrp="1"/>
          </p:cNvSpPr>
          <p:nvPr>
            <p:ph type="body" idx="23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24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12"/>
          <p:cNvSpPr>
            <a:spLocks noGrp="1"/>
          </p:cNvSpPr>
          <p:nvPr>
            <p:ph type="pic" idx="25"/>
          </p:nvPr>
        </p:nvSpPr>
        <p:spPr>
          <a:xfrm>
            <a:off x="8059916" y="5153614"/>
            <a:ext cx="1173264" cy="1357920"/>
          </a:xfrm>
          <a:prstGeom prst="rect">
            <a:avLst/>
          </a:prstGeom>
          <a:noFill/>
          <a:ln>
            <a:noFill/>
          </a:ln>
        </p:spPr>
      </p:sp>
      <p:sp>
        <p:nvSpPr>
          <p:cNvPr id="150" name="Google Shape;150;p12" descr="Haga clic en el icono para agregar una imagen"/>
          <p:cNvSpPr txBox="1">
            <a:spLocks noGrp="1"/>
          </p:cNvSpPr>
          <p:nvPr>
            <p:ph type="body" idx="26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7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 i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r>
              <a:rPr lang="es-ES"/>
              <a:t> de 11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scala de tiempo">
  <p:cSld name="Escala de tiempo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"/>
          <p:cNvSpPr/>
          <p:nvPr/>
        </p:nvSpPr>
        <p:spPr>
          <a:xfrm>
            <a:off x="1295508" y="3039919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6" name="Google Shape;156;p13"/>
          <p:cNvSpPr/>
          <p:nvPr/>
        </p:nvSpPr>
        <p:spPr>
          <a:xfrm>
            <a:off x="3670763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7" name="Google Shape;157;p13"/>
          <p:cNvSpPr/>
          <p:nvPr/>
        </p:nvSpPr>
        <p:spPr>
          <a:xfrm>
            <a:off x="4865676" y="3722308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8" name="Google Shape;158;p13"/>
          <p:cNvSpPr/>
          <p:nvPr/>
        </p:nvSpPr>
        <p:spPr>
          <a:xfrm>
            <a:off x="7245668" y="3725411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59" name="Google Shape;159;p13"/>
          <p:cNvSpPr/>
          <p:nvPr/>
        </p:nvSpPr>
        <p:spPr>
          <a:xfrm>
            <a:off x="8440729" y="1677046"/>
            <a:ext cx="2375255" cy="2734936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0" name="Google Shape;160;p13"/>
          <p:cNvSpPr/>
          <p:nvPr/>
        </p:nvSpPr>
        <p:spPr>
          <a:xfrm>
            <a:off x="1274779" y="1667026"/>
            <a:ext cx="7152768" cy="2736950"/>
          </a:xfrm>
          <a:custGeom>
            <a:avLst/>
            <a:gdLst/>
            <a:ahLst/>
            <a:cxnLst/>
            <a:rect l="l" t="t" r="r" b="b"/>
            <a:pathLst>
              <a:path w="7152768" h="2736950" extrusionOk="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1" name="Google Shape;161;p13"/>
          <p:cNvSpPr/>
          <p:nvPr/>
        </p:nvSpPr>
        <p:spPr>
          <a:xfrm>
            <a:off x="8440979" y="1677475"/>
            <a:ext cx="2373549" cy="2062264"/>
          </a:xfrm>
          <a:custGeom>
            <a:avLst/>
            <a:gdLst/>
            <a:ahLst/>
            <a:cxnLst/>
            <a:rect l="l" t="t" r="r" b="b"/>
            <a:pathLst>
              <a:path w="2373549" h="2062264" extrusionOk="0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>
            <a:solidFill>
              <a:srgbClr val="D9E5F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2" name="Google Shape;162;p13"/>
          <p:cNvSpPr/>
          <p:nvPr/>
        </p:nvSpPr>
        <p:spPr>
          <a:xfrm flipH="1">
            <a:off x="10715501" y="2243467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3" name="Google Shape;163;p13"/>
          <p:cNvSpPr/>
          <p:nvPr/>
        </p:nvSpPr>
        <p:spPr>
          <a:xfrm flipH="1">
            <a:off x="9534557" y="1571099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4" name="Google Shape;164;p13"/>
          <p:cNvSpPr/>
          <p:nvPr/>
        </p:nvSpPr>
        <p:spPr>
          <a:xfrm flipH="1">
            <a:off x="8328171" y="2258376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5" name="Google Shape;165;p13"/>
          <p:cNvSpPr/>
          <p:nvPr/>
        </p:nvSpPr>
        <p:spPr>
          <a:xfrm flipH="1">
            <a:off x="8333460" y="361085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6" name="Google Shape;166;p13"/>
          <p:cNvSpPr/>
          <p:nvPr/>
        </p:nvSpPr>
        <p:spPr>
          <a:xfrm flipH="1">
            <a:off x="7146016" y="429086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7" name="Google Shape;167;p13"/>
          <p:cNvSpPr/>
          <p:nvPr/>
        </p:nvSpPr>
        <p:spPr>
          <a:xfrm flipH="1">
            <a:off x="5937847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8" name="Google Shape;168;p13"/>
          <p:cNvSpPr/>
          <p:nvPr/>
        </p:nvSpPr>
        <p:spPr>
          <a:xfrm flipH="1">
            <a:off x="5951993" y="225130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69" name="Google Shape;169;p13"/>
          <p:cNvSpPr/>
          <p:nvPr/>
        </p:nvSpPr>
        <p:spPr>
          <a:xfrm flipH="1">
            <a:off x="4778156" y="1565771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0" name="Google Shape;170;p13"/>
          <p:cNvSpPr/>
          <p:nvPr/>
        </p:nvSpPr>
        <p:spPr>
          <a:xfrm flipH="1">
            <a:off x="3565843" y="2247823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1" name="Google Shape;171;p13"/>
          <p:cNvSpPr/>
          <p:nvPr/>
        </p:nvSpPr>
        <p:spPr>
          <a:xfrm flipH="1">
            <a:off x="3565952" y="361339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2" name="Google Shape;172;p13"/>
          <p:cNvSpPr/>
          <p:nvPr/>
        </p:nvSpPr>
        <p:spPr>
          <a:xfrm flipH="1">
            <a:off x="2386318" y="2962784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3" name="Google Shape;173;p13"/>
          <p:cNvSpPr/>
          <p:nvPr/>
        </p:nvSpPr>
        <p:spPr>
          <a:xfrm flipH="1">
            <a:off x="1190302" y="3612210"/>
            <a:ext cx="204312" cy="236468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174" name="Google Shape;174;p13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13"/>
          <p:cNvSpPr txBox="1">
            <a:spLocks noGrp="1"/>
          </p:cNvSpPr>
          <p:nvPr>
            <p:ph type="body" idx="2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p13" descr="Haga clic en el icono para agregar una imagen"/>
          <p:cNvSpPr txBox="1">
            <a:spLocks noGrp="1"/>
          </p:cNvSpPr>
          <p:nvPr>
            <p:ph type="body" idx="3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13"/>
          <p:cNvSpPr txBox="1">
            <a:spLocks noGrp="1"/>
          </p:cNvSpPr>
          <p:nvPr>
            <p:ph type="body" idx="4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13" descr="Haga clic en el icono para agregar una imagen"/>
          <p:cNvSpPr txBox="1">
            <a:spLocks noGrp="1"/>
          </p:cNvSpPr>
          <p:nvPr>
            <p:ph type="body" idx="5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3" descr="Haga clic en el icono para agregar una imagen"/>
          <p:cNvSpPr txBox="1">
            <a:spLocks noGrp="1"/>
          </p:cNvSpPr>
          <p:nvPr>
            <p:ph type="body" idx="7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13"/>
          <p:cNvSpPr txBox="1">
            <a:spLocks noGrp="1"/>
          </p:cNvSpPr>
          <p:nvPr>
            <p:ph type="body" idx="8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13" descr="Haga clic en el icono para agregar una imagen"/>
          <p:cNvSpPr txBox="1">
            <a:spLocks noGrp="1"/>
          </p:cNvSpPr>
          <p:nvPr>
            <p:ph type="body" idx="9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1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13"/>
          <p:cNvSpPr txBox="1">
            <a:spLocks noGrp="1"/>
          </p:cNvSpPr>
          <p:nvPr>
            <p:ph type="body" idx="13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umen">
  <p:cSld name="Resumen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>
            <a:spLocks noGrp="1"/>
          </p:cNvSpPr>
          <p:nvPr>
            <p:ph type="pic" idx="2"/>
          </p:nvPr>
        </p:nvSpPr>
        <p:spPr>
          <a:xfrm>
            <a:off x="7493157" y="529148"/>
            <a:ext cx="4248873" cy="4731130"/>
          </a:xfrm>
          <a:prstGeom prst="rect">
            <a:avLst/>
          </a:prstGeom>
          <a:noFill/>
          <a:ln>
            <a:noFill/>
          </a:ln>
        </p:spPr>
      </p:sp>
      <p:sp>
        <p:nvSpPr>
          <p:cNvPr id="215" name="Google Shape;215;p16"/>
          <p:cNvSpPr txBox="1">
            <a:spLocks noGrp="1"/>
          </p:cNvSpPr>
          <p:nvPr>
            <p:ph type="body" idx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500"/>
              <a:buNone/>
              <a:defRPr sz="1500" b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16"/>
          <p:cNvSpPr/>
          <p:nvPr/>
        </p:nvSpPr>
        <p:spPr>
          <a:xfrm flipH="1">
            <a:off x="7400972" y="4508725"/>
            <a:ext cx="1347680" cy="1581179"/>
          </a:xfrm>
          <a:custGeom>
            <a:avLst/>
            <a:gdLst/>
            <a:ahLst/>
            <a:cxnLst/>
            <a:rect l="l" t="t" r="r" b="b"/>
            <a:pathLst>
              <a:path w="4387647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6521016" y="4772906"/>
            <a:ext cx="663381" cy="758922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18" name="Google Shape;218;p16"/>
          <p:cNvSpPr txBox="1"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1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1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cias">
  <p:cSld name="Gracia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/>
          <p:cNvSpPr/>
          <p:nvPr/>
        </p:nvSpPr>
        <p:spPr>
          <a:xfrm>
            <a:off x="410352" y="12435"/>
            <a:ext cx="1455521" cy="1019127"/>
          </a:xfrm>
          <a:custGeom>
            <a:avLst/>
            <a:gdLst/>
            <a:ahLst/>
            <a:cxnLst/>
            <a:rect l="l" t="t" r="r" b="b"/>
            <a:pathLst>
              <a:path w="1455521" h="1019127" extrusionOk="0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FABE7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3955762" y="5952136"/>
            <a:ext cx="1455521" cy="932559"/>
          </a:xfrm>
          <a:custGeom>
            <a:avLst/>
            <a:gdLst/>
            <a:ahLst/>
            <a:cxnLst/>
            <a:rect l="l" t="t" r="r" b="b"/>
            <a:pathLst>
              <a:path w="1455521" h="932559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rgbClr val="D9E5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rgbClr val="334C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3702" y="448131"/>
            <a:ext cx="678871" cy="1266696"/>
          </a:xfrm>
          <a:custGeom>
            <a:avLst/>
            <a:gdLst/>
            <a:ahLst/>
            <a:cxnLst/>
            <a:rect l="l" t="t" r="r" b="b"/>
            <a:pathLst>
              <a:path w="678871" h="1266696" extrusionOk="0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 cap="flat" cmpd="sng">
            <a:solidFill>
              <a:srgbClr val="FABE7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6334981" y="5962237"/>
            <a:ext cx="1455521" cy="901561"/>
          </a:xfrm>
          <a:custGeom>
            <a:avLst/>
            <a:gdLst/>
            <a:ahLst/>
            <a:cxnLst/>
            <a:rect l="l" t="t" r="r" b="b"/>
            <a:pathLst>
              <a:path w="1455521" h="901561" extrusionOk="0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7"/>
          <p:cNvSpPr>
            <a:spLocks noGrp="1"/>
          </p:cNvSpPr>
          <p:nvPr>
            <p:ph type="pic" idx="2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4" name="Google Shape;234;p17"/>
          <p:cNvSpPr>
            <a:spLocks noGrp="1"/>
          </p:cNvSpPr>
          <p:nvPr>
            <p:ph type="pic" idx="3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5" name="Google Shape;235;p17"/>
          <p:cNvSpPr>
            <a:spLocks noGrp="1"/>
          </p:cNvSpPr>
          <p:nvPr>
            <p:ph type="pic" idx="4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6" name="Google Shape;236;p17"/>
          <p:cNvSpPr>
            <a:spLocks noGrp="1"/>
          </p:cNvSpPr>
          <p:nvPr>
            <p:ph type="pic" idx="5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noFill/>
          <a:ln>
            <a:noFill/>
          </a:ln>
        </p:spPr>
      </p:sp>
      <p:sp>
        <p:nvSpPr>
          <p:cNvPr id="237" name="Google Shape;237;p17" descr="Haga clic en el icono para agregar una imagen"/>
          <p:cNvSpPr txBox="1">
            <a:spLocks noGrp="1"/>
          </p:cNvSpPr>
          <p:nvPr>
            <p:ph type="body" idx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 b="0">
                <a:solidFill>
                  <a:schemeClr val="accent6"/>
                </a:solidFill>
              </a:defRPr>
            </a:lvl1pPr>
            <a:lvl2pPr marL="914400" lvl="1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•"/>
              <a:defRPr sz="1000"/>
            </a:lvl2pPr>
            <a:lvl3pPr marL="13716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900"/>
              <a:buChar char="•"/>
              <a:defRPr sz="900"/>
            </a:lvl3pPr>
            <a:lvl4pPr marL="1828800" lvl="3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4pPr>
            <a:lvl5pPr marL="2286000" lvl="4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800"/>
              <a:buChar char="•"/>
              <a:defRPr sz="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17"/>
          <p:cNvSpPr txBox="1"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7"/>
          <p:cNvSpPr/>
          <p:nvPr/>
        </p:nvSpPr>
        <p:spPr>
          <a:xfrm>
            <a:off x="-6538" y="1815084"/>
            <a:ext cx="697438" cy="1266696"/>
          </a:xfrm>
          <a:custGeom>
            <a:avLst/>
            <a:gdLst/>
            <a:ahLst/>
            <a:cxnLst/>
            <a:rect l="l" t="t" r="r" b="b"/>
            <a:pathLst>
              <a:path w="697438" h="1266696" extrusionOk="0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 cap="flat" cmpd="sng">
            <a:solidFill>
              <a:srgbClr val="D5DFE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lumna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0" name="Marcador de posición del contenido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1" name="Marcador de posición del contenido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500" b="0">
                <a:solidFill>
                  <a:schemeClr val="accent6"/>
                </a:solidFill>
                <a:latin typeface="+mn-lt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los estilos de texto del patrón </a:t>
            </a:r>
          </a:p>
        </p:txBody>
      </p:sp>
      <p:sp>
        <p:nvSpPr>
          <p:cNvPr id="27" name="Marcador de posición del contenido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4" name="Marcador de título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5" name="Marcador de posición del contenido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6" name="Marcador de posición del contenido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8" name="Marcador de posición del contenido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29" name="Marcador de posición del contenido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s-ES"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 rtl="0"/>
            <a:r>
              <a:rPr lang="es-ES"/>
              <a:t>Haga clic para editar el estilo de título del patrón</a:t>
            </a:r>
            <a:endParaRPr lang="es-ES" altLang="en-US" dirty="0"/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noProof="0"/>
              <a:t>Título de la presentación</a:t>
            </a:r>
            <a:endParaRPr lang="es-ES" noProof="0" dirty="0"/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fld id="{47FEACEE-25B4-4A2D-B147-27296E36371D}" type="slidenum">
              <a:rPr lang="es-ES" altLang="zh-CN" noProof="0" smtClean="0"/>
              <a:pPr rtl="0"/>
              <a:t>‹Nº›</a:t>
            </a:fld>
            <a:endParaRPr lang="es-E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151382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 columnas con 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5" name="Forma libre: Forma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6" name="Forma libre: Forma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7" name="Forma libre: Forma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solidFill>
                <a:schemeClr val="accent6"/>
              </a:solidFill>
            </a:endParaRPr>
          </a:p>
        </p:txBody>
      </p:sp>
      <p:sp>
        <p:nvSpPr>
          <p:cNvPr id="31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2" name="Marcador de posición del contenido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3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4" name="Marcador de posición del contenido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5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6" name="Marcador de posición del contenido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7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38" name="Marcador de posición del contenido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39" name="Marcador de posición del contenido 47" descr="Haga clic en el icono para agregar una imagen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s-ES" sz="1800" b="1">
                <a:solidFill>
                  <a:schemeClr val="accent6"/>
                </a:solidFill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lvl="0" rtl="0"/>
            <a:r>
              <a:rPr lang="es-ES"/>
              <a:t>Haga clic para modificar el estilo de título del patrón </a:t>
            </a:r>
          </a:p>
        </p:txBody>
      </p:sp>
      <p:sp>
        <p:nvSpPr>
          <p:cNvPr id="40" name="Marcador de posición del contenido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lang="es-ES" sz="1000"/>
            </a:lvl2pPr>
            <a:lvl3pPr>
              <a:defRPr lang="es-ES" sz="900"/>
            </a:lvl3pPr>
            <a:lvl4pPr>
              <a:defRPr lang="es-ES" sz="800"/>
            </a:lvl4pPr>
            <a:lvl5pPr>
              <a:defRPr lang="es-ES"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/>
              <a:t>Haga clic para modificar los estilos de texto del patrón </a:t>
            </a:r>
          </a:p>
        </p:txBody>
      </p:sp>
      <p:sp>
        <p:nvSpPr>
          <p:cNvPr id="41" name="Marcador de posición del contenido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2" name="Marcador de posición del contenido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3" name="Marcador de posición del contenido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4" name="Marcador de posición del contenido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45" name="Marcador de posición del contenido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rtlCol="0" anchor="ctr">
            <a:noAutofit/>
          </a:bodyPr>
          <a:lstStyle>
            <a:lvl1pPr marL="0" indent="0" algn="ctr">
              <a:buNone/>
              <a:defRPr lang="es-ES" sz="1000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en el icono para agregar una imagen</a:t>
            </a:r>
            <a:endParaRPr lang="es-ES" altLang="en-US"/>
          </a:p>
        </p:txBody>
      </p:sp>
      <p:sp>
        <p:nvSpPr>
          <p:cNvPr id="25" name="Marcador de título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Haga clic para modificar el estilo de título del patrón</a:t>
            </a:r>
            <a:endParaRPr lang="es-ES" dirty="0"/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6"/>
                </a:solidFill>
              </a:defRPr>
            </a:lvl1pPr>
          </a:lstStyle>
          <a:p>
            <a:pPr rtl="0"/>
            <a:fld id="{47FEACEE-25B4-4A2D-B147-27296E36371D}" type="slidenum">
              <a:rPr lang="es-ES" altLang="zh-CN" smtClean="0"/>
              <a:pPr rtl="0"/>
              <a:t>‹Nº›</a:t>
            </a:fld>
            <a:endParaRPr lang="es-ES" altLang="zh-CN" dirty="0"/>
          </a:p>
        </p:txBody>
      </p:sp>
    </p:spTree>
    <p:extLst>
      <p:ext uri="{BB962C8B-B14F-4D97-AF65-F5344CB8AC3E}">
        <p14:creationId xmlns:p14="http://schemas.microsoft.com/office/powerpoint/2010/main" val="164746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2" r:id="rId10"/>
    <p:sldLayoutId id="2147483663" r:id="rId11"/>
    <p:sldLayoutId id="2147483665" r:id="rId12"/>
    <p:sldLayoutId id="2147483666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2" pos="3840">
          <p15:clr>
            <a:srgbClr val="F26B43"/>
          </p15:clr>
        </p15:guide>
        <p15:guide id="3" pos="5640">
          <p15:clr>
            <a:srgbClr val="F26B43"/>
          </p15:clr>
        </p15:guide>
        <p15:guide id="4" pos="1656">
          <p15:clr>
            <a:srgbClr val="F26B43"/>
          </p15:clr>
        </p15:guide>
        <p15:guide id="5" pos="5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"/>
          <p:cNvSpPr txBox="1">
            <a:spLocks noGrp="1"/>
          </p:cNvSpPr>
          <p:nvPr>
            <p:ph type="title"/>
          </p:nvPr>
        </p:nvSpPr>
        <p:spPr>
          <a:xfrm>
            <a:off x="368968" y="1967271"/>
            <a:ext cx="5521299" cy="2057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Font typeface="Arial Black"/>
              <a:buNone/>
            </a:pPr>
            <a:r>
              <a:rPr lang="es-ES" sz="30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Factores Predominantes en Hogares con Pobreza Multidimensional en la Región de Los Ríos (2017–2024)</a:t>
            </a:r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body" idx="1"/>
          </p:nvPr>
        </p:nvSpPr>
        <p:spPr>
          <a:xfrm>
            <a:off x="1524529" y="4113817"/>
            <a:ext cx="2469956" cy="205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Cristóbal Espinoza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Vicente Paredes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Javier Ramírez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Fabián Reyes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r>
              <a:rPr lang="es-ES" sz="18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Profesor: Luis Veas C.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9857505" y="838985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>
            <a:solidFill>
              <a:srgbClr val="4D8CD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5974436" y="3694919"/>
            <a:ext cx="1637958" cy="1873859"/>
          </a:xfrm>
          <a:custGeom>
            <a:avLst/>
            <a:gdLst/>
            <a:ahLst/>
            <a:cxnLst/>
            <a:rect l="l" t="t" r="r" b="b"/>
            <a:pathLst>
              <a:path w="4398682" h="5032188" extrusionOk="0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ABE77">
              <a:alpha val="50196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Mate"/>
              <a:ea typeface="Mate"/>
              <a:cs typeface="Mate"/>
              <a:sym typeface="Mate"/>
            </a:endParaRPr>
          </a:p>
        </p:txBody>
      </p:sp>
      <p:pic>
        <p:nvPicPr>
          <p:cNvPr id="249" name="Google Shape;24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4758" y="1289222"/>
            <a:ext cx="4956737" cy="4235757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sp>
        <p:nvSpPr>
          <p:cNvPr id="250" name="Google Shape;250;p18"/>
          <p:cNvSpPr txBox="1"/>
          <p:nvPr/>
        </p:nvSpPr>
        <p:spPr>
          <a:xfrm>
            <a:off x="368968" y="1601167"/>
            <a:ext cx="266580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Arial"/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Computación Científica con Python</a:t>
            </a:r>
            <a:endParaRPr/>
          </a:p>
        </p:txBody>
      </p:sp>
      <p:pic>
        <p:nvPicPr>
          <p:cNvPr id="251" name="Google Shape;2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3453" y="632901"/>
            <a:ext cx="2665805" cy="615809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D041C-5B36-F4A0-4653-228349736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Índice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5FCD2C-441B-A85A-4957-2BC3AA2A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2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E85760A-3F20-4554-A4CA-D69C0A163C2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A9E3293-402F-4F6B-A06C-3B1E5CCAFF91}"/>
              </a:ext>
            </a:extLst>
          </p:cNvPr>
          <p:cNvSpPr/>
          <p:nvPr/>
        </p:nvSpPr>
        <p:spPr>
          <a:xfrm>
            <a:off x="889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ED6C7CB-3BA2-4AE5-B0D6-EE9A892961D3}"/>
              </a:ext>
            </a:extLst>
          </p:cNvPr>
          <p:cNvSpPr txBox="1"/>
          <p:nvPr/>
        </p:nvSpPr>
        <p:spPr>
          <a:xfrm>
            <a:off x="1549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Introducción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57255DD-81C3-455A-9404-F0CCF3192498}"/>
              </a:ext>
            </a:extLst>
          </p:cNvPr>
          <p:cNvSpPr/>
          <p:nvPr/>
        </p:nvSpPr>
        <p:spPr>
          <a:xfrm>
            <a:off x="889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853D881-61EE-410C-87A5-DA56A8852894}"/>
              </a:ext>
            </a:extLst>
          </p:cNvPr>
          <p:cNvSpPr txBox="1"/>
          <p:nvPr/>
        </p:nvSpPr>
        <p:spPr>
          <a:xfrm>
            <a:off x="1549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Preguntas de investigación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B754CBF-F586-4DAD-98C5-9EA204774644}"/>
              </a:ext>
            </a:extLst>
          </p:cNvPr>
          <p:cNvSpPr/>
          <p:nvPr/>
        </p:nvSpPr>
        <p:spPr>
          <a:xfrm>
            <a:off x="889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DE692FE-20F6-4E8F-9061-899BEBA5A4C5}"/>
              </a:ext>
            </a:extLst>
          </p:cNvPr>
          <p:cNvSpPr txBox="1"/>
          <p:nvPr/>
        </p:nvSpPr>
        <p:spPr>
          <a:xfrm>
            <a:off x="1549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Solución propuesta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2A63100-AF75-4E96-9993-2003F2E7B3A2}"/>
              </a:ext>
            </a:extLst>
          </p:cNvPr>
          <p:cNvSpPr/>
          <p:nvPr/>
        </p:nvSpPr>
        <p:spPr>
          <a:xfrm>
            <a:off x="889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B862E5E-B306-4D5B-BC47-1E1C760DA44A}"/>
              </a:ext>
            </a:extLst>
          </p:cNvPr>
          <p:cNvSpPr txBox="1"/>
          <p:nvPr/>
        </p:nvSpPr>
        <p:spPr>
          <a:xfrm>
            <a:off x="1549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Metodología aplicada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772EF00-7EE8-48B9-AC32-71DB18504997}"/>
              </a:ext>
            </a:extLst>
          </p:cNvPr>
          <p:cNvSpPr/>
          <p:nvPr/>
        </p:nvSpPr>
        <p:spPr>
          <a:xfrm>
            <a:off x="889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3F2CE8-58BD-4B3E-B455-F65472A9EBBD}"/>
              </a:ext>
            </a:extLst>
          </p:cNvPr>
          <p:cNvSpPr txBox="1"/>
          <p:nvPr/>
        </p:nvSpPr>
        <p:spPr>
          <a:xfrm>
            <a:off x="1549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general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2BB0B4D-444C-42A2-B511-871D08F8B2E0}"/>
              </a:ext>
            </a:extLst>
          </p:cNvPr>
          <p:cNvSpPr/>
          <p:nvPr/>
        </p:nvSpPr>
        <p:spPr>
          <a:xfrm>
            <a:off x="6604000" y="19050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34E59E7-26F0-46AC-A418-CE5442787085}"/>
              </a:ext>
            </a:extLst>
          </p:cNvPr>
          <p:cNvSpPr txBox="1"/>
          <p:nvPr/>
        </p:nvSpPr>
        <p:spPr>
          <a:xfrm>
            <a:off x="7264400" y="19050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Análisis por dimensión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2459DAE1-543E-44B3-9E52-2F9A512991CC}"/>
              </a:ext>
            </a:extLst>
          </p:cNvPr>
          <p:cNvSpPr/>
          <p:nvPr/>
        </p:nvSpPr>
        <p:spPr>
          <a:xfrm>
            <a:off x="6604000" y="27813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E9591E8-1241-4C0B-9D34-15A718BFACDF}"/>
              </a:ext>
            </a:extLst>
          </p:cNvPr>
          <p:cNvSpPr txBox="1"/>
          <p:nvPr/>
        </p:nvSpPr>
        <p:spPr>
          <a:xfrm>
            <a:off x="7264400" y="27813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Muestra del dashboard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C947BAED-82ED-4375-9046-2354DA06AA8C}"/>
              </a:ext>
            </a:extLst>
          </p:cNvPr>
          <p:cNvSpPr/>
          <p:nvPr/>
        </p:nvSpPr>
        <p:spPr>
          <a:xfrm>
            <a:off x="6604000" y="36576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B462714-E670-4DB2-A3D7-E55702745736}"/>
              </a:ext>
            </a:extLst>
          </p:cNvPr>
          <p:cNvSpPr txBox="1"/>
          <p:nvPr/>
        </p:nvSpPr>
        <p:spPr>
          <a:xfrm>
            <a:off x="7264400" y="36576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Modelos de IA aplicados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5AD65E4D-6E81-4426-96AC-34666875D0F4}"/>
              </a:ext>
            </a:extLst>
          </p:cNvPr>
          <p:cNvSpPr/>
          <p:nvPr/>
        </p:nvSpPr>
        <p:spPr>
          <a:xfrm>
            <a:off x="6604000" y="45339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>
                <a:solidFill>
                  <a:srgbClr val="FFFFFF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F0BB7C5-0FD7-46B5-816F-C2B8FB62F5EB}"/>
              </a:ext>
            </a:extLst>
          </p:cNvPr>
          <p:cNvSpPr txBox="1"/>
          <p:nvPr/>
        </p:nvSpPr>
        <p:spPr>
          <a:xfrm>
            <a:off x="7264400" y="45339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Discusión de resultados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D9A034B-DE3F-437B-8CD8-835238C90E9A}"/>
              </a:ext>
            </a:extLst>
          </p:cNvPr>
          <p:cNvSpPr/>
          <p:nvPr/>
        </p:nvSpPr>
        <p:spPr>
          <a:xfrm>
            <a:off x="6604000" y="5410200"/>
            <a:ext cx="508000" cy="508000"/>
          </a:xfrm>
          <a:prstGeom prst="ellipse">
            <a:avLst/>
          </a:prstGeom>
          <a:solidFill>
            <a:srgbClr val="B83803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s-CL" sz="1800" b="1" dirty="0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A530DED-C39C-4C0B-AEC3-F0A1EEEB5BB2}"/>
              </a:ext>
            </a:extLst>
          </p:cNvPr>
          <p:cNvSpPr txBox="1"/>
          <p:nvPr/>
        </p:nvSpPr>
        <p:spPr>
          <a:xfrm>
            <a:off x="7264400" y="5410200"/>
            <a:ext cx="4445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CL" sz="1700" b="1">
                <a:solidFill>
                  <a:srgbClr val="0F253E"/>
                </a:solidFill>
              </a:rPr>
              <a:t>Conclusiones</a:t>
            </a:r>
          </a:p>
        </p:txBody>
      </p:sp>
    </p:spTree>
    <p:extLst>
      <p:ext uri="{BB962C8B-B14F-4D97-AF65-F5344CB8AC3E}">
        <p14:creationId xmlns:p14="http://schemas.microsoft.com/office/powerpoint/2010/main" val="172548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9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/>
              <a:t>Introducción</a:t>
            </a:r>
            <a:endParaRPr/>
          </a:p>
        </p:txBody>
      </p:sp>
      <p:sp>
        <p:nvSpPr>
          <p:cNvPr id="257" name="Google Shape;257;p19"/>
          <p:cNvSpPr>
            <a:spLocks noGrp="1"/>
          </p:cNvSpPr>
          <p:nvPr>
            <p:ph type="chart" idx="2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La pobreza va más allá del ingreso → el IPM (PNUD/OPHI, 2010) mide privaciones en educación, salud, trabajo y vivienda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Chile adoptó su IPM nacional en 2014, medido bianualmente vía CASEN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Los Ríos muestra alta heterogeneidad: de 13,9% (Valdivia) a 35,4% (Lago Ranco) en 2022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000"/>
              <a:buFont typeface="Arial"/>
              <a:buChar char="•"/>
            </a:pPr>
            <a:r>
              <a:rPr lang="es-ES" sz="20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Este trabajo analiza los determinantes comunales usando CASEN, Censo 2017 y 2024</a:t>
            </a:r>
            <a:endParaRPr sz="20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9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3 de 18</a:t>
            </a:r>
            <a:endParaRPr dirty="0"/>
          </a:p>
        </p:txBody>
      </p:sp>
      <p:pic>
        <p:nvPicPr>
          <p:cNvPr id="260" name="Google Shape;260;p19" descr="Observatorio Social - Ministerio de Desarrollo Social y Famili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9121" y="4611174"/>
            <a:ext cx="3140311" cy="624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9" descr="Censo 2024, la mejor encuesta geoestadística de planificación para un país  - Escuela de Salud Pública"/>
          <p:cNvPicPr preferRelativeResize="0"/>
          <p:nvPr/>
        </p:nvPicPr>
        <p:blipFill rotWithShape="1">
          <a:blip r:embed="rId4">
            <a:alphaModFix/>
          </a:blip>
          <a:srcRect b="30153"/>
          <a:stretch/>
        </p:blipFill>
        <p:spPr>
          <a:xfrm>
            <a:off x="5303384" y="4321238"/>
            <a:ext cx="2647950" cy="12041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12356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0"/>
          <p:cNvSpPr txBox="1"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Preguntas de investigación</a:t>
            </a:r>
            <a:endParaRPr/>
          </a:p>
        </p:txBody>
      </p:sp>
      <p:sp>
        <p:nvSpPr>
          <p:cNvPr id="268" name="Google Shape;268;p20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69" name="Google Shape;269;p20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4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0"/>
          <p:cNvSpPr>
            <a:spLocks noGrp="1"/>
          </p:cNvSpPr>
          <p:nvPr>
            <p:ph type="chart" idx="2"/>
          </p:nvPr>
        </p:nvSpPr>
        <p:spPr>
          <a:xfrm>
            <a:off x="571775" y="2273025"/>
            <a:ext cx="11115900" cy="3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4889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¿Qué dimensiones del IPM tienen mayor incidencia en la pobreza multidimensional de las comunas de la Región de Los Ríos en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/>
          </a:p>
          <a:p>
            <a:pPr marL="457200" marR="0" lvl="0" indent="-4889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500"/>
              <a:buFont typeface="Mate"/>
              <a:buAutoNum type="arabicPeriod"/>
            </a:pPr>
            <a:r>
              <a:rPr lang="es-ES" sz="25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¿Cómo ha evolucionado la incidencia de las carencias en educación, vivienda, composición de hogar y empleos e ingresos a nivel comunal entre 2017 y 2024?</a:t>
            </a:r>
            <a:endParaRPr sz="2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"/>
          <p:cNvSpPr txBox="1">
            <a:spLocks noGrp="1"/>
          </p:cNvSpPr>
          <p:nvPr>
            <p:ph type="title"/>
          </p:nvPr>
        </p:nvSpPr>
        <p:spPr>
          <a:xfrm>
            <a:off x="7678439" y="507076"/>
            <a:ext cx="4216782" cy="1115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Solución</a:t>
            </a:r>
            <a:endParaRPr/>
          </a:p>
        </p:txBody>
      </p:sp>
      <p:sp>
        <p:nvSpPr>
          <p:cNvPr id="277" name="Google Shape;277;p21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5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1"/>
          <p:cNvSpPr>
            <a:spLocks noGrp="1"/>
          </p:cNvSpPr>
          <p:nvPr>
            <p:ph type="chart" idx="2"/>
          </p:nvPr>
        </p:nvSpPr>
        <p:spPr>
          <a:xfrm>
            <a:off x="7678439" y="1502193"/>
            <a:ext cx="3745026" cy="415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l">
              <a:lnSpc>
                <a:spcPct val="90000"/>
              </a:lnSpc>
              <a:spcBef>
                <a:spcPts val="0"/>
              </a:spcBef>
              <a:buClr>
                <a:schemeClr val="dk2"/>
              </a:buClr>
              <a:buFont typeface="Arial"/>
              <a:buChar char="•"/>
            </a:pPr>
            <a:r>
              <a:rPr lang="es-CL" sz="1600" b="1">
                <a:solidFill>
                  <a:schemeClr val="dk2"/>
                </a:solidFill>
                <a:latin typeface="Arial"/>
              </a:rPr>
              <a:t>Análisis comparativo a nivel comunal: 12 comunas, 2017 vs 2024</a:t>
            </a:r>
          </a:p>
          <a:p>
            <a:pPr marL="0" indent="0" algn="l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>
                <a:solidFill>
                  <a:schemeClr val="dk2"/>
                </a:solidFill>
                <a:latin typeface="Arial"/>
              </a:rPr>
              <a:t>5 dimensiones operacionalizadas: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Educación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Empleo e Ingresos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Vivienda y Habitabilidad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Composición del Hogar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Contexto Territorial y Temporal</a:t>
            </a:r>
          </a:p>
          <a:p>
            <a:pPr marL="0" indent="0" algn="l">
              <a:lnSpc>
                <a:spcPct val="90000"/>
              </a:lnSpc>
              <a:spcBef>
                <a:spcPts val="800"/>
              </a:spcBef>
              <a:buNone/>
            </a:pPr>
            <a:r>
              <a:rPr lang="es-CL" sz="1600" b="1">
                <a:solidFill>
                  <a:schemeClr val="dk2"/>
                </a:solidFill>
                <a:latin typeface="Arial"/>
              </a:rPr>
              <a:t>Fuentes:</a:t>
            </a:r>
          </a:p>
          <a:p>
            <a:pPr marL="228600" indent="-228600" algn="l">
              <a:lnSpc>
                <a:spcPct val="90000"/>
              </a:lnSpc>
              <a:spcBef>
                <a:spcPts val="300"/>
              </a:spcBef>
              <a:buClr>
                <a:schemeClr val="dk2"/>
              </a:buClr>
              <a:buFont typeface="Arial"/>
              <a:buChar char="•"/>
            </a:pPr>
            <a:r>
              <a:rPr lang="es-CL" sz="1500">
                <a:solidFill>
                  <a:schemeClr val="dk2"/>
                </a:solidFill>
                <a:latin typeface="Arial"/>
              </a:rPr>
              <a:t>CASEN, Censo, ENE, BCN e INE (2017 y 2024); portales inmobiliarios vía web scraping.</a:t>
            </a:r>
          </a:p>
        </p:txBody>
      </p:sp>
      <p:pic>
        <p:nvPicPr>
          <p:cNvPr id="280" name="Google Shape;28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236" y="1338351"/>
            <a:ext cx="7425203" cy="41812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1171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40EA77-CFB2-4D24-FED0-64D87DA2A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Metodología aplicada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F6C188-9583-13F0-3940-EDB779C842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6 de 18</a:t>
            </a:r>
          </a:p>
        </p:txBody>
      </p:sp>
      <p:sp>
        <p:nvSpPr>
          <p:cNvPr id="101" name="Origenes"/>
          <p:cNvSpPr txBox="1"/>
          <p:nvPr/>
        </p:nvSpPr>
        <p:spPr>
          <a:xfrm>
            <a:off x="584200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Orígenes de los datos</a:t>
            </a:r>
            <a:br>
              <a:rPr lang="es-CL" sz="2000" b="1" dirty="0">
                <a:solidFill>
                  <a:srgbClr val="B83803"/>
                </a:solidFill>
              </a:rPr>
            </a:br>
            <a:endParaRPr lang="es-CL" sz="2000" b="1" dirty="0">
              <a:solidFill>
                <a:srgbClr val="B83803"/>
              </a:solidFill>
            </a:endParaRPr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CASEN 2017 y 2024 (microdatos, Región de Los Ríos)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 de Población y Vivienda 2017 y 2024 (INE)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Encuesta Nacional de Empleo (ENE) 2017 y 2024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BCN: cartografía y servicios básicos (web </a:t>
            </a:r>
            <a:r>
              <a:rPr lang="es-CL" sz="1800" dirty="0" err="1"/>
              <a:t>scraping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Portal Inmobiliario: avisos de arriendo y venta (web scraping)</a:t>
            </a:r>
          </a:p>
        </p:txBody>
      </p:sp>
      <p:sp>
        <p:nvSpPr>
          <p:cNvPr id="102" name="Volumenes"/>
          <p:cNvSpPr txBox="1"/>
          <p:nvPr/>
        </p:nvSpPr>
        <p:spPr>
          <a:xfrm>
            <a:off x="4292600" y="1714500"/>
            <a:ext cx="3429000" cy="4445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Aft>
                <a:spcPts val="500"/>
              </a:spcAft>
              <a:buNone/>
            </a:pPr>
            <a:r>
              <a:rPr lang="es-CL" sz="2000" b="1" dirty="0">
                <a:solidFill>
                  <a:srgbClr val="B83803"/>
                </a:solidFill>
              </a:rPr>
              <a:t>Volúmenes de datos</a:t>
            </a:r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19.300 registros CASEN de Los Ríos consolidados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Dataset ML limpio: 6.800 hogares (6.608 modelados)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BCN: 12 comunas por 2 años (24 páginas)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Scraping inmobiliario: ~1.670 avisos de propiedades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Censo: 35.000 registros de población y 7.700 de migración (2017)</a:t>
            </a:r>
          </a:p>
        </p:txBody>
      </p:sp>
      <p:sp>
        <p:nvSpPr>
          <p:cNvPr id="103" name="Operaciones"/>
          <p:cNvSpPr txBox="1"/>
          <p:nvPr/>
        </p:nvSpPr>
        <p:spPr>
          <a:xfrm>
            <a:off x="8001000" y="1714500"/>
            <a:ext cx="3606800" cy="4445000"/>
          </a:xfrm>
          <a:prstGeom prst="rect">
            <a:avLst/>
          </a:prstGeom>
        </p:spPr>
        <p:txBody>
          <a:bodyPr wrap="square" rtlCol="0">
            <a:normAutofit fontScale="85000" lnSpcReduction="10000"/>
          </a:bodyPr>
          <a:lstStyle/>
          <a:p>
            <a:pPr>
              <a:spcAft>
                <a:spcPts val="500"/>
              </a:spcAft>
              <a:buNone/>
            </a:pPr>
            <a:r>
              <a:rPr lang="es-CL" sz="2400" b="1" dirty="0">
                <a:solidFill>
                  <a:srgbClr val="B83803"/>
                </a:solidFill>
              </a:rPr>
              <a:t>Limpieza y enriquecimiento</a:t>
            </a:r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Filtrado de microdatos por Región de Los Ríos (región 14)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Agregación persona - hogar (jefe, tamaño, % menores, ingreso per cápita)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Normalización de formatos del scraping y pivoteo a comuna-año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Tratamiento de NaN y estandarización (</a:t>
            </a:r>
            <a:r>
              <a:rPr lang="es-CL" sz="1800" dirty="0" err="1"/>
              <a:t>StandardScaler</a:t>
            </a:r>
            <a:r>
              <a:rPr lang="es-CL" sz="1800" dirty="0"/>
              <a:t>)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Índices por dimensión IPM (educación, vivienda, composición, ingresos), escala 0–1</a:t>
            </a:r>
            <a:br>
              <a:rPr lang="es-CL" sz="1800" dirty="0"/>
            </a:br>
            <a:endParaRPr lang="es-CL" sz="1800" dirty="0"/>
          </a:p>
          <a:p>
            <a:pPr marL="200025" indent="-200025">
              <a:lnSpc>
                <a:spcPts val="1500"/>
              </a:lnSpc>
              <a:spcAft>
                <a:spcPts val="400"/>
              </a:spcAft>
              <a:buFont typeface="Arial"/>
              <a:buChar char="•"/>
            </a:pPr>
            <a:r>
              <a:rPr lang="es-CL" sz="1800" dirty="0"/>
              <a:t>Índice de hacinamiento por tramos y unión geoespacial con GeoPandas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E0D8B54-8E96-4825-BDB0-956134DB24A1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0695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F1B4FB-72D6-650A-A1B2-3C7B90360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Análisis general</a:t>
            </a:r>
          </a:p>
        </p:txBody>
      </p:sp>
      <p:sp>
        <p:nvSpPr>
          <p:cNvPr id="3" name="Marcador de gráfico 2">
            <a:extLst>
              <a:ext uri="{FF2B5EF4-FFF2-40B4-BE49-F238E27FC236}">
                <a16:creationId xmlns:a16="http://schemas.microsoft.com/office/drawing/2014/main" id="{017DD0BC-F0A9-3E94-0BD9-F8E32E4C656F}"/>
              </a:ext>
            </a:extLst>
          </p:cNvPr>
          <p:cNvSpPr>
            <a:spLocks noGrp="1"/>
          </p:cNvSpPr>
          <p:nvPr>
            <p:ph type="chart" idx="2"/>
          </p:nvPr>
        </p:nvSpPr>
        <p:spPr/>
        <p:txBody>
          <a:bodyPr/>
          <a:lstStyle/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Heterogeneidad territorial: </a:t>
            </a:r>
            <a:r>
              <a:rPr lang="es-CL" sz="1800" dirty="0"/>
              <a:t>la pobreza multidimensional va de 13,9% en Valdivia a 35,4% en Lago Ranco (estimación IPM comunal 2022).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Educación: </a:t>
            </a:r>
            <a:r>
              <a:rPr lang="es-CL" sz="1800" dirty="0"/>
              <a:t>sube la educación superior y cae la básica entre 2017 y 2024, pero persiste el rezago en comunas rurales.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Vivienda: </a:t>
            </a:r>
            <a:r>
              <a:rPr lang="es-CL" sz="1800" dirty="0"/>
              <a:t>la carencia de servicios básicos mantiene su orden territorial (Corral y Panguipulli más altos, Valdivia el más bajo); la mayoría de comunas mejoró entre 6 y 10 puntos.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Ingresos: </a:t>
            </a:r>
            <a:r>
              <a:rPr lang="es-CL" sz="1800" dirty="0"/>
              <a:t>persiste la brecha de género, con las mujeres concentradas en el tramo más bajo ($0 a $500.000).</a:t>
            </a:r>
          </a:p>
          <a:p>
            <a:pPr marL="285750" indent="-285750" algn="just">
              <a:lnSpc>
                <a:spcPts val="2000"/>
              </a:lnSpc>
              <a:spcAft>
                <a:spcPts val="900"/>
              </a:spcAft>
              <a:buFont typeface="Arial"/>
              <a:buChar char="•"/>
            </a:pPr>
            <a:r>
              <a:rPr lang="es-CL" sz="1800" b="1" dirty="0"/>
              <a:t>Migración: </a:t>
            </a:r>
            <a:r>
              <a:rPr lang="es-CL" sz="1800" dirty="0"/>
              <a:t>aumento generalizado de la inmigración internacional en 2024, especialmente en Valdivia.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ECD4F0-65C6-8F56-D928-E9E4F8D64C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7 de 18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ACE2201-748B-45CB-B8E9-D56BAB8B306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941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Educación</a:t>
            </a:r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dirty="0"/>
              <a:t>8</a:t>
            </a:r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B77CDC2-654B-83BF-A937-9FD0E7D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19" y="1470141"/>
            <a:ext cx="8999967" cy="46663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5" name="Google Shape;305;p24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06" name="Google Shape;306;p24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9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24"/>
          <p:cNvPicPr preferRelativeResize="0"/>
          <p:nvPr/>
        </p:nvPicPr>
        <p:blipFill rotWithShape="1">
          <a:blip r:embed="rId3">
            <a:alphaModFix/>
          </a:blip>
          <a:srcRect t="2169" b="-1"/>
          <a:stretch>
            <a:fillRect/>
          </a:stretch>
        </p:blipFill>
        <p:spPr>
          <a:xfrm>
            <a:off x="656151" y="1786466"/>
            <a:ext cx="5514291" cy="2307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41264" y="1654464"/>
            <a:ext cx="5194584" cy="29524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2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152" y="3920715"/>
            <a:ext cx="5514291" cy="448086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4"/>
          <p:cNvSpPr txBox="1"/>
          <p:nvPr/>
        </p:nvSpPr>
        <p:spPr>
          <a:xfrm>
            <a:off x="1897177" y="3943209"/>
            <a:ext cx="30322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A = personas por dormitorio</a:t>
            </a:r>
            <a:endParaRPr sz="18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"/>
          <p:cNvSpPr txBox="1">
            <a:spLocks noGrp="1"/>
          </p:cNvSpPr>
          <p:nvPr>
            <p:ph type="title"/>
          </p:nvPr>
        </p:nvSpPr>
        <p:spPr>
          <a:xfrm>
            <a:off x="3970421" y="618833"/>
            <a:ext cx="7639870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Viviend</a:t>
            </a:r>
            <a:r>
              <a:rPr lang="es-ES" sz="4400" b="0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a y Habitabilidad</a:t>
            </a:r>
            <a:endParaRPr sz="4400" b="1" i="0" u="none" strike="noStrike" cap="none">
              <a:solidFill>
                <a:schemeClr val="accent6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17" name="Google Shape;317;p25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18" name="Google Shape;318;p25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10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77E96AD-AC4E-A38B-406C-5C8E0D813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1614198"/>
            <a:ext cx="5541275" cy="42428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B1CABD6-7008-10C0-4DB0-03EB33D89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0534" y="1614198"/>
            <a:ext cx="5541275" cy="4242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6"/>
          <p:cNvSpPr txBox="1"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Composición del Hogar</a:t>
            </a:r>
            <a:endParaRPr/>
          </a:p>
        </p:txBody>
      </p:sp>
      <p:sp>
        <p:nvSpPr>
          <p:cNvPr id="327" name="Google Shape;327;p26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28" name="Google Shape;328;p26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11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9" name="Google Shape;329;p26" title="mapa_comparac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00" y="1535125"/>
            <a:ext cx="10527601" cy="468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249" cy="7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36" name="Google Shape;336;p27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37" name="Google Shape;337;p27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8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27"/>
          <p:cNvSpPr>
            <a:spLocks noGrp="1"/>
          </p:cNvSpPr>
          <p:nvPr>
            <p:ph type="tbl" idx="2"/>
          </p:nvPr>
        </p:nvSpPr>
        <p:spPr>
          <a:xfrm>
            <a:off x="7654475" y="2548467"/>
            <a:ext cx="396000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Asimetría en la distribución de ingresos en el mercado laboral reg.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Mayor concentración femenina en el tramo más bajo.</a:t>
            </a:r>
          </a:p>
          <a:p>
            <a:pPr marL="139700" marR="0" lvl="0" indent="0" algn="just" rtl="0">
              <a:spcBef>
                <a:spcPts val="0"/>
              </a:spcBef>
              <a:spcAft>
                <a:spcPts val="0"/>
              </a:spcAft>
              <a:buSzPts val="14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Hombres poseen mayor participación en tramos medios y altos.</a:t>
            </a:r>
            <a:endParaRPr sz="1600" dirty="0"/>
          </a:p>
        </p:txBody>
      </p:sp>
      <p:pic>
        <p:nvPicPr>
          <p:cNvPr id="339" name="Google Shape;339;p27" title="histograma_sueldos.jpg"/>
          <p:cNvPicPr preferRelativeResize="0"/>
          <p:nvPr/>
        </p:nvPicPr>
        <p:blipFill rotWithShape="1">
          <a:blip r:embed="rId3">
            <a:alphaModFix/>
          </a:blip>
          <a:srcRect l="10790" r="-10790"/>
          <a:stretch/>
        </p:blipFill>
        <p:spPr>
          <a:xfrm>
            <a:off x="495299" y="1590125"/>
            <a:ext cx="8004859" cy="462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"/>
          <p:cNvSpPr txBox="1">
            <a:spLocks noGrp="1"/>
          </p:cNvSpPr>
          <p:nvPr>
            <p:ph type="title"/>
          </p:nvPr>
        </p:nvSpPr>
        <p:spPr>
          <a:xfrm>
            <a:off x="5354235" y="811736"/>
            <a:ext cx="62601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</a:pPr>
            <a:r>
              <a:rPr lang="es-ES"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rPr>
              <a:t>Empleos e Ingresos</a:t>
            </a:r>
            <a:endParaRPr/>
          </a:p>
        </p:txBody>
      </p:sp>
      <p:sp>
        <p:nvSpPr>
          <p:cNvPr id="346" name="Google Shape;346;p28"/>
          <p:cNvSpPr txBox="1">
            <a:spLocks noGrp="1"/>
          </p:cNvSpPr>
          <p:nvPr>
            <p:ph type="ftr" idx="11"/>
          </p:nvPr>
        </p:nvSpPr>
        <p:spPr>
          <a:xfrm>
            <a:off x="484632" y="621792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0" i="0" u="none" strike="noStrike" cap="none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PMD en la Región de Los Ríos </a:t>
            </a:r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sldNum" idx="12"/>
          </p:nvPr>
        </p:nvSpPr>
        <p:spPr>
          <a:xfrm>
            <a:off x="11194169" y="6217920"/>
            <a:ext cx="859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sz="1200" b="0" i="0" u="none" strike="noStrike" cap="none" dirty="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  <a:endParaRPr sz="12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8"/>
          <p:cNvSpPr>
            <a:spLocks noGrp="1"/>
          </p:cNvSpPr>
          <p:nvPr>
            <p:ph type="tbl" idx="2"/>
          </p:nvPr>
        </p:nvSpPr>
        <p:spPr>
          <a:xfrm>
            <a:off x="7600649" y="2734732"/>
            <a:ext cx="4168017" cy="2048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Arial"/>
              <a:buChar char="-"/>
            </a:pPr>
            <a:r>
              <a:rPr lang="es-ES" sz="1600" dirty="0"/>
              <a:t>Desplazamiento general hacia tramos superiores (inflación y reajustes del S.M.)</a:t>
            </a:r>
          </a:p>
          <a:p>
            <a:pPr marL="11430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</a:pPr>
            <a:endParaRPr sz="1600" dirty="0"/>
          </a:p>
          <a:p>
            <a:pPr marL="457200" marR="0" lvl="0" indent="-317500" algn="just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s-ES" sz="1600" dirty="0"/>
              <a:t>Concentración femenina más alta en el tramo inferior ($0-$500k)</a:t>
            </a:r>
            <a:endParaRPr sz="1600" dirty="0"/>
          </a:p>
          <a:p>
            <a:pPr marL="45720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49" name="Google Shape;349;p28" title="evolucion_brecha_salaria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300" y="1614200"/>
            <a:ext cx="7105357" cy="4603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30D8E-2A8E-EF59-24B5-7E447CC3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Muestra del dashboard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170DBE-3F8F-CC29-A71A-977097E5B7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14 de 18</a:t>
            </a:r>
          </a:p>
        </p:txBody>
      </p:sp>
      <p:sp>
        <p:nvSpPr>
          <p:cNvPr id="120" name="DashTexto"/>
          <p:cNvSpPr txBox="1"/>
          <p:nvPr/>
        </p:nvSpPr>
        <p:spPr>
          <a:xfrm>
            <a:off x="584200" y="1947334"/>
            <a:ext cx="4292600" cy="36322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Dashboard interactivo construido con ipywidgets y matplotlib sobre datos CASEN 2017–2024.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Organizado en pestañas: Educación, Vivienda y Habitabilidad, Empleo e Ingresos y Composición del Hogar, más dos pestañas de modelos de IA (Random Forest y Clustering Jerárquico).</a:t>
            </a:r>
          </a:p>
          <a:p>
            <a:pPr marL="285750" indent="-285750" algn="just">
              <a:lnSpc>
                <a:spcPts val="2000"/>
              </a:lnSpc>
              <a:spcAft>
                <a:spcPts val="1000"/>
              </a:spcAft>
              <a:buFont typeface="Arial"/>
              <a:buChar char="•"/>
            </a:pPr>
            <a:r>
              <a:rPr lang="es-CL" sz="1600" dirty="0"/>
              <a:t>Integra los principales indicadores por dimensión, mapas coropléticos por comuna, gráficos comparativos 2017 vs 2024 y los modelos de IA aplicados.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2CC9148-844E-4C97-99DE-F09CA25B79F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D80BA80-B851-1CB2-3464-D631A7919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717" y="1524000"/>
            <a:ext cx="5437581" cy="46124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80511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85AF8-C1A9-618E-27A2-C5A0515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Random Forest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4C9E3D-28F2-E1CE-6356-D793988AB4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15 de 18</a:t>
            </a:r>
          </a:p>
        </p:txBody>
      </p:sp>
      <p:sp>
        <p:nvSpPr>
          <p:cNvPr id="120" name="RFTexto"/>
          <p:cNvSpPr txBox="1"/>
          <p:nvPr/>
        </p:nvSpPr>
        <p:spPr>
          <a:xfrm>
            <a:off x="584200" y="1994916"/>
            <a:ext cx="5207000" cy="3674364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Clasificación supervisada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Objetivo: </a:t>
            </a:r>
            <a:r>
              <a:rPr lang="es-CL" sz="1400" dirty="0"/>
              <a:t>predecir si un hogar está en situación de pobreza multidimensional.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Datos: </a:t>
            </a:r>
            <a:r>
              <a:rPr lang="es-CL" sz="1400" dirty="0"/>
              <a:t>6.608 hogares, 39 variables, partición train/test 80/20.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Modelo completo: </a:t>
            </a:r>
            <a:r>
              <a:rPr lang="es-CL" sz="1400" dirty="0"/>
              <a:t>Accuracy 82,5% · F1 52,5% · AUC-ROC 0,857.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4 dimensiones IPM: </a:t>
            </a:r>
            <a:r>
              <a:rPr lang="es-CL" sz="1400" dirty="0"/>
              <a:t>Accuracy 79,1% · F1 43,7% · AUC 0,788.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Factores predominantes: </a:t>
            </a:r>
            <a:r>
              <a:rPr lang="es-CL" sz="1400" dirty="0"/>
              <a:t>Vivienda 32,3% · Educación 27,7% · Ingresos 26,5% · Composición 13,6%.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Por comuna: </a:t>
            </a:r>
            <a:r>
              <a:rPr lang="es-CL" sz="1400" dirty="0"/>
              <a:t>mayor probabilidad en Corral y Lago Ranco; menor en Valdivia.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F63D3CA-D962-4934-9152-044CAE2E90C4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0D193F3-D86E-DD4C-3403-F322A610A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221" y="2514123"/>
            <a:ext cx="5806978" cy="227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973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5FBF9-FC76-51B3-8740-AA602732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Modelos de IA: Clustering Jerárquico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9E1656-2033-69A2-B334-7EC61B9F54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16 de 18</a:t>
            </a:r>
          </a:p>
        </p:txBody>
      </p:sp>
      <p:sp>
        <p:nvSpPr>
          <p:cNvPr id="120" name="ClTexto"/>
          <p:cNvSpPr txBox="1"/>
          <p:nvPr/>
        </p:nvSpPr>
        <p:spPr>
          <a:xfrm>
            <a:off x="584200" y="2104644"/>
            <a:ext cx="5207000" cy="3625596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s-CL" sz="1500" b="1" i="1" dirty="0">
                <a:solidFill>
                  <a:srgbClr val="B83803"/>
                </a:solidFill>
              </a:rPr>
              <a:t>Aprendizaje no supervisado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Método: </a:t>
            </a:r>
            <a:r>
              <a:rPr lang="es-CL" sz="1400" dirty="0"/>
              <a:t>Ward, distancia euclidiana, 4 índices IPM estandarizados.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K óptimo = 4 clusters: </a:t>
            </a:r>
            <a:r>
              <a:rPr lang="es-CL" sz="1400" dirty="0"/>
              <a:t>Silhouette 0,254; validado con Calinski-Harabasz y Davies-Bouldin.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1: </a:t>
            </a:r>
            <a:r>
              <a:rPr lang="es-CL" sz="1400" dirty="0"/>
              <a:t>2.013 hogares (30,5%) · 9% pobres · carencia Ingresos.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2: </a:t>
            </a:r>
            <a:r>
              <a:rPr lang="es-CL" sz="1400" dirty="0"/>
              <a:t>2.270 hogares (34,4%) · 15% pobres · carencia Educación.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>
                <a:solidFill>
                  <a:srgbClr val="B83803"/>
                </a:solidFill>
              </a:rPr>
              <a:t>Cluster 3: </a:t>
            </a:r>
            <a:r>
              <a:rPr lang="es-CL" sz="1400" dirty="0">
                <a:solidFill>
                  <a:srgbClr val="B83803"/>
                </a:solidFill>
              </a:rPr>
              <a:t>412 hogares (6,2%) · 51% pobres · perfil más vulnerable.</a:t>
            </a:r>
          </a:p>
          <a:p>
            <a:pPr marL="228600" indent="-228600">
              <a:lnSpc>
                <a:spcPts val="1700"/>
              </a:lnSpc>
              <a:spcAft>
                <a:spcPts val="600"/>
              </a:spcAft>
              <a:buFont typeface="Arial"/>
              <a:buChar char="•"/>
            </a:pPr>
            <a:r>
              <a:rPr lang="es-CL" sz="1400" b="1" dirty="0"/>
              <a:t>Cluster 4: </a:t>
            </a:r>
            <a:r>
              <a:rPr lang="es-CL" sz="1400" dirty="0"/>
              <a:t>1.913 hogares (28,9%) · 17% pobres · carencia Ingresos.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9EFD0FC-0817-4C03-9749-1A19576DCE72}"/>
              </a:ext>
            </a:extLst>
          </p:cNvPr>
          <p:cNvSpPr txBox="1"/>
          <p:nvPr/>
        </p:nvSpPr>
        <p:spPr>
          <a:xfrm>
            <a:off x="482600" y="6217920"/>
            <a:ext cx="4064000" cy="36576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" sz="1200">
                <a:solidFill>
                  <a:srgbClr val="0F253E"/>
                </a:solidFill>
              </a:rPr>
              <a:t>PMD en la Región de Los Ríos</a:t>
            </a:r>
            <a:endParaRPr lang="es-CL" sz="1200">
              <a:solidFill>
                <a:srgbClr val="0F253E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9A07F3A-5DDC-2755-9E05-BFE9DF78D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596" y="1764453"/>
            <a:ext cx="5004823" cy="396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14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37">
            <a:extLst>
              <a:ext uri="{FF2B5EF4-FFF2-40B4-BE49-F238E27FC236}">
                <a16:creationId xmlns:a16="http://schemas.microsoft.com/office/drawing/2014/main" id="{478CB64C-71AF-6B72-8069-000DD250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95"/>
            <a:ext cx="10515600" cy="132556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Discusión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FA2F9A05-8E79-46FF-1ABA-927EF2D69B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913022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Educación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0532F467-8DBE-D445-0CF7-D5D242DAD66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913022" y="2324073"/>
            <a:ext cx="1865376" cy="2706774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 mejora educacional podría relacionarse con una reducción parcial de vulnerabilidad social, aunque las diferencias territoriales siguen presentes.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48BF8F22-E288-84B0-03E9-82D678051D4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075578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Vivienda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BACB9342-C47E-6729-46BE-F10DBB78182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075125" y="2324073"/>
            <a:ext cx="1867186" cy="2706774"/>
          </a:xfrm>
        </p:spPr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La persistencia de carencias sugiere que los problemas de infraestructura son más difíciles de revertir en períodos cortos.</a:t>
            </a:r>
          </a:p>
        </p:txBody>
      </p:sp>
      <p:sp>
        <p:nvSpPr>
          <p:cNvPr id="44" name="Marcador de texto 43">
            <a:extLst>
              <a:ext uri="{FF2B5EF4-FFF2-40B4-BE49-F238E27FC236}">
                <a16:creationId xmlns:a16="http://schemas.microsoft.com/office/drawing/2014/main" id="{D0C47E92-8875-E555-5480-8A9BAEE853A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238134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Empleo</a:t>
            </a:r>
          </a:p>
        </p:txBody>
      </p:sp>
      <p:sp>
        <p:nvSpPr>
          <p:cNvPr id="54" name="Marcador de texto 53">
            <a:extLst>
              <a:ext uri="{FF2B5EF4-FFF2-40B4-BE49-F238E27FC236}">
                <a16:creationId xmlns:a16="http://schemas.microsoft.com/office/drawing/2014/main" id="{DDCD388C-8374-D810-DCE5-554B7E05F55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239038" y="2324073"/>
            <a:ext cx="1865376" cy="2706773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CL" dirty="0"/>
              <a:t>La brecha salarial evidencia desigualdades económicas que afectan especialmente a hogares con jefatura femenina.</a:t>
            </a:r>
            <a:endParaRPr lang="es-ES" dirty="0"/>
          </a:p>
        </p:txBody>
      </p:sp>
      <p:sp>
        <p:nvSpPr>
          <p:cNvPr id="46" name="Marcador de texto 45">
            <a:extLst>
              <a:ext uri="{FF2B5EF4-FFF2-40B4-BE49-F238E27FC236}">
                <a16:creationId xmlns:a16="http://schemas.microsoft.com/office/drawing/2014/main" id="{B87AFF1A-EF07-5FBF-C582-29AE302A4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8400690" y="1461393"/>
            <a:ext cx="1865376" cy="86621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Territorio</a:t>
            </a:r>
          </a:p>
        </p:txBody>
      </p:sp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E62055F1-67DB-9D6D-ABE2-20C3B2514A4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401141" y="2324073"/>
            <a:ext cx="1865376" cy="2706772"/>
          </a:xfrm>
        </p:spPr>
        <p:txBody>
          <a:bodyPr rtlCol="0"/>
          <a:lstStyle>
            <a:defPPr>
              <a:defRPr lang="es-ES"/>
            </a:defPPr>
          </a:lstStyle>
          <a:p>
            <a:pPr lvl="0"/>
            <a:r>
              <a:rPr lang="es-ES" dirty="0"/>
              <a:t>Las comunas rurales continúan concentrando mayores niveles de pobreza multidimensional.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285177ED-2E57-8FF5-AFD8-AA79A7B24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20214" y="1460875"/>
            <a:ext cx="8345852" cy="859536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 dirty="0">
              <a:latin typeface="+mn-lt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FD68CE-EF5C-4046-41F5-3763D028DAE5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dirty="0"/>
              <a:t>PMD en la Región de Los Ríos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4FC7183-3EBB-B8D1-A66D-964D3C3A7DA8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 rtlCol="0"/>
          <a:lstStyle>
            <a:defPPr>
              <a:defRPr lang="es-ES"/>
            </a:defPPr>
          </a:lstStyle>
          <a:p>
            <a:r>
              <a:rPr lang="es-ES" altLang="zh-CN" noProof="0" dirty="0"/>
              <a:t>17 de 18</a:t>
            </a:r>
          </a:p>
        </p:txBody>
      </p:sp>
      <p:sp>
        <p:nvSpPr>
          <p:cNvPr id="200" name="IA Vinculo"/>
          <p:cNvSpPr/>
          <p:nvPr/>
        </p:nvSpPr>
        <p:spPr>
          <a:xfrm>
            <a:off x="838200" y="5227320"/>
            <a:ext cx="10515600" cy="736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09728" tIns="45720" rIns="109728" bIns="4572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CL" sz="1400" b="1" dirty="0">
                <a:solidFill>
                  <a:schemeClr val="dk2"/>
                </a:solidFill>
              </a:rPr>
              <a:t>Vínculo con los modelos de IA: </a:t>
            </a:r>
            <a:r>
              <a:rPr lang="es-CL" sz="1400" dirty="0">
                <a:solidFill>
                  <a:schemeClr val="dk2"/>
                </a:solidFill>
              </a:rPr>
              <a:t>el Random Forest confirma a Vivienda y Educación como los factores de mayor peso predictivo, y el Clustering detecta un segmento crítico (Cluster 3: ~6% de los hogares con 51% de pobreza).</a:t>
            </a:r>
          </a:p>
        </p:txBody>
      </p:sp>
    </p:spTree>
    <p:extLst>
      <p:ext uri="{BB962C8B-B14F-4D97-AF65-F5344CB8AC3E}">
        <p14:creationId xmlns:p14="http://schemas.microsoft.com/office/powerpoint/2010/main" val="2030836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85">
            <a:extLst>
              <a:ext uri="{FF2B5EF4-FFF2-40B4-BE49-F238E27FC236}">
                <a16:creationId xmlns:a16="http://schemas.microsoft.com/office/drawing/2014/main" id="{1E3F7726-AC85-55B8-BDED-51E7BA85CD1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rtlCol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4400"/>
              <a:buFont typeface="Arial Black"/>
              <a:buNone/>
              <a:defRPr sz="4400" b="1" i="0" u="none" strike="noStrike" cap="none">
                <a:solidFill>
                  <a:schemeClr val="accent6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dirty="0"/>
              <a:t>Conclusiones</a:t>
            </a:r>
          </a:p>
        </p:txBody>
      </p:sp>
      <p:sp>
        <p:nvSpPr>
          <p:cNvPr id="18" name="Marcador de pie de página 3">
            <a:extLst>
              <a:ext uri="{FF2B5EF4-FFF2-40B4-BE49-F238E27FC236}">
                <a16:creationId xmlns:a16="http://schemas.microsoft.com/office/drawing/2014/main" id="{695DA9C9-8185-D0AB-3C76-BC1CABABA354}"/>
              </a:ext>
            </a:extLst>
          </p:cNvPr>
          <p:cNvSpPr txBox="1">
            <a:spLocks/>
          </p:cNvSpPr>
          <p:nvPr/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/>
              <a:t>PMD en la Región de Los Ríos </a:t>
            </a:r>
            <a:endParaRPr lang="es-ES" dirty="0"/>
          </a:p>
        </p:txBody>
      </p:sp>
      <p:sp>
        <p:nvSpPr>
          <p:cNvPr id="21" name="Hdr Trabajo"/>
          <p:cNvSpPr/>
          <p:nvPr/>
        </p:nvSpPr>
        <p:spPr>
          <a:xfrm>
            <a:off x="5842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del trabajo</a:t>
            </a:r>
          </a:p>
        </p:txBody>
      </p:sp>
      <p:sp>
        <p:nvSpPr>
          <p:cNvPr id="22" name="Hdr Asignatura"/>
          <p:cNvSpPr/>
          <p:nvPr/>
        </p:nvSpPr>
        <p:spPr>
          <a:xfrm>
            <a:off x="6273800" y="1905000"/>
            <a:ext cx="5334000" cy="558800"/>
          </a:xfrm>
          <a:prstGeom prst="roundRect">
            <a:avLst>
              <a:gd name="adj" fmla="val 12000"/>
            </a:avLst>
          </a:prstGeom>
          <a:solidFill>
            <a:schemeClr val="dk2"/>
          </a:solidFill>
          <a:ln>
            <a:noFill/>
          </a:ln>
        </p:spPr>
        <p:txBody>
          <a:bodyPr lIns="91440" tIns="27432" rIns="91440" bIns="27432" anchor="ctr"/>
          <a:lstStyle/>
          <a:p>
            <a:pPr algn="l"/>
            <a:r>
              <a:rPr lang="es-CL" sz="1800" b="1" dirty="0">
                <a:solidFill>
                  <a:schemeClr val="lt1"/>
                </a:solidFill>
              </a:rPr>
              <a:t>Conclusiones de la asignatura</a:t>
            </a:r>
          </a:p>
        </p:txBody>
      </p:sp>
      <p:sp>
        <p:nvSpPr>
          <p:cNvPr id="23" name="Body Trabajo"/>
          <p:cNvSpPr/>
          <p:nvPr/>
        </p:nvSpPr>
        <p:spPr>
          <a:xfrm>
            <a:off x="584200" y="2603500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pobreza multidimensional presenta fuertes diferencias territoriales en Los Ríos.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educación muestra avances entre 2017 y 2024, mientras las carencias de vivienda permanecen estables.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La brecha salarial de género persiste.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Los modelos de IA identifican a Vivienda y Educación como factores predominantes y detectan perfiles de hogares vulnerables.</a:t>
            </a:r>
          </a:p>
        </p:txBody>
      </p:sp>
      <p:sp>
        <p:nvSpPr>
          <p:cNvPr id="24" name="Body Asignatura"/>
          <p:cNvSpPr/>
          <p:nvPr/>
        </p:nvSpPr>
        <p:spPr>
          <a:xfrm>
            <a:off x="6273800" y="2595033"/>
            <a:ext cx="5334000" cy="34925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Aplicamos el flujo completo de Computación Científica con Python: obtención (scraping y microdatos), limpieza, enriquecimiento, visualización y modelos de machine learning.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Integramos pandas, GeoPandas, matplotlib, seaborn, scikit-learn e ipywidgets en un proyecto reproducible (entorno virtual, requirements.txt y repositorio en GitHub).</a:t>
            </a:r>
          </a:p>
          <a:p>
            <a:pPr marL="228600" indent="-228600" algn="just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/>
              <a:buChar char="•"/>
            </a:pPr>
            <a:r>
              <a:rPr lang="es-CL" sz="1500" dirty="0">
                <a:solidFill>
                  <a:schemeClr val="dk2"/>
                </a:solidFill>
              </a:rPr>
              <a:t>El trabajo colaborativo con control de versiones permitió dividir el análisis por dimensiones y consolidarlo en un dashboard único.</a:t>
            </a:r>
          </a:p>
        </p:txBody>
      </p:sp>
      <p:sp>
        <p:nvSpPr>
          <p:cNvPr id="25" name="Marcador de número de diapositiva 4">
            <a:extLst>
              <a:ext uri="{FF2B5EF4-FFF2-40B4-BE49-F238E27FC236}">
                <a16:creationId xmlns:a16="http://schemas.microsoft.com/office/drawing/2014/main" id="{68272546-6424-41C4-1077-F47E03FF5689}"/>
              </a:ext>
            </a:extLst>
          </p:cNvPr>
          <p:cNvSpPr txBox="1">
            <a:spLocks/>
          </p:cNvSpPr>
          <p:nvPr/>
        </p:nvSpPr>
        <p:spPr>
          <a:xfrm>
            <a:off x="11235266" y="6260256"/>
            <a:ext cx="838200" cy="274955"/>
          </a:xfrm>
          <a:prstGeom prst="rect">
            <a:avLst/>
          </a:prstGeom>
        </p:spPr>
        <p:txBody>
          <a:bodyPr rtlCol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s-ES"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altLang="zh-CN" sz="1200" dirty="0"/>
              <a:t>18 de 18</a:t>
            </a:r>
          </a:p>
        </p:txBody>
      </p:sp>
    </p:spTree>
    <p:extLst>
      <p:ext uri="{BB962C8B-B14F-4D97-AF65-F5344CB8AC3E}">
        <p14:creationId xmlns:p14="http://schemas.microsoft.com/office/powerpoint/2010/main" val="369501681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5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6657802-EE7C-4486-8CE0-1329EE26792A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7ad3e2b9-775c-46bb-b06c-29a1f07e7a7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1600</Words>
  <Application>Microsoft Office PowerPoint</Application>
  <PresentationFormat>Panorámica</PresentationFormat>
  <Paragraphs>191</Paragraphs>
  <Slides>18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Mate</vt:lpstr>
      <vt:lpstr>Arial</vt:lpstr>
      <vt:lpstr>Arial Black</vt:lpstr>
      <vt:lpstr>Calibri</vt:lpstr>
      <vt:lpstr>Personalizar​</vt:lpstr>
      <vt:lpstr>Factores Predominantes en Hogares con Pobreza Multidimensional en la Región de Los Ríos (2017–2024)</vt:lpstr>
      <vt:lpstr>Índice</vt:lpstr>
      <vt:lpstr>Introducción</vt:lpstr>
      <vt:lpstr>Preguntas de investigación</vt:lpstr>
      <vt:lpstr>Solución</vt:lpstr>
      <vt:lpstr>Metodología aplicada</vt:lpstr>
      <vt:lpstr>Análisis general</vt:lpstr>
      <vt:lpstr>Educación</vt:lpstr>
      <vt:lpstr>Vivienda y Habitabilidad</vt:lpstr>
      <vt:lpstr>Vivienda y Habitabilidad</vt:lpstr>
      <vt:lpstr>Composición del Hogar</vt:lpstr>
      <vt:lpstr>Empleos e Ingresos</vt:lpstr>
      <vt:lpstr>Empleos e Ingresos</vt:lpstr>
      <vt:lpstr>Muestra del dashboard</vt:lpstr>
      <vt:lpstr>Modelos de IA: Random Forest</vt:lpstr>
      <vt:lpstr>Modelos de IA: Clustering Jerárquico</vt:lpstr>
      <vt:lpstr>Discusión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Fabián Reyes Tapia</dc:creator>
  <cp:lastModifiedBy>Javier Ramírez</cp:lastModifiedBy>
  <cp:revision>4</cp:revision>
  <dcterms:modified xsi:type="dcterms:W3CDTF">2026-06-29T15:11:07Z</dcterms:modified>
</cp:coreProperties>
</file>