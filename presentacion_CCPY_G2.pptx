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4" r:id="rId1"/>
  </p:sldMasterIdLst>
  <p:notesMasterIdLst>
    <p:notesMasterId r:id="rId20"/>
  </p:notesMasterIdLst>
  <p:sldIdLst>
    <p:sldId id="256" r:id="rId2"/>
    <p:sldId id="287" r:id="rId3"/>
    <p:sldId id="306" r:id="rId4"/>
    <p:sldId id="258" r:id="rId5"/>
    <p:sldId id="303" r:id="rId6"/>
    <p:sldId id="290" r:id="rId7"/>
    <p:sldId id="260" r:id="rId8"/>
    <p:sldId id="262" r:id="rId9"/>
    <p:sldId id="263" r:id="rId10"/>
    <p:sldId id="264" r:id="rId11"/>
    <p:sldId id="265" r:id="rId12"/>
    <p:sldId id="266" r:id="rId13"/>
    <p:sldId id="293" r:id="rId14"/>
    <p:sldId id="296" r:id="rId15"/>
    <p:sldId id="299" r:id="rId16"/>
    <p:sldId id="302" r:id="rId17"/>
    <p:sldId id="304" r:id="rId18"/>
    <p:sldId id="305" r:id="rId19"/>
  </p:sldIdLst>
  <p:sldSz cx="12192000" cy="6858000"/>
  <p:notesSz cx="6858000" cy="9144000"/>
  <p:embeddedFontLst>
    <p:embeddedFont>
      <p:font typeface="Arial Black" panose="020B0A04020102020204" pitchFamily="34" charset="0"/>
      <p:regular r:id="rId21"/>
      <p:bold r:id="rId22"/>
    </p:embeddedFont>
    <p:embeddedFont>
      <p:font typeface="Mate" panose="020B0604020202020204" charset="0"/>
      <p:regular r:id="rId23"/>
      <p: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536">
          <p15:clr>
            <a:srgbClr val="A4A3A4"/>
          </p15:clr>
        </p15:guide>
        <p15:guide id="2" pos="31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>
        <p:guide orient="horz" pos="1536"/>
        <p:guide pos="31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" name="Google Shape;5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" name="Google Shape;6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  <p:extLst>
    <p:ext uri="{620B2872-D7B9-4A21-9093-7833F8D536E1}">
      <p15:sldGuideLst xmlns:p15="http://schemas.microsoft.com/office/powerpoint/2012/main">
        <p15:guide id="1" orient="horz" pos="2880">
          <p15:clr>
            <a:srgbClr val="F26B43"/>
          </p15:clr>
        </p15:guide>
        <p15:guide id="2" pos="2160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4" name="Google Shape;26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3" name="Google Shape;273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3" name="Google Shape;283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1" name="Google Shape;30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3" name="Google Shape;313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3" name="Google Shape;323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2" name="Google Shape;33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El histograma presente en la Fig. 6 muestra una asimetría en la distribución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de ingresos en el mercado laboral regional. La mayor concentración de mujeres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se encuentra en el tramo de ingresos más bajo ($0 a $500.000 CLP), lo que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indica empleos precarios, salarios mínimos o jornadas parciales. En contraste,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los hombres presentan mayor participación en los tramos de ingresos medios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y altos (entre $500.000 y $1.500.000). Este gráfico permite explorar la relación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entre brecha salarial de género y vulnerabilidad del núcleo familiar en hogares con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jefatura femenina frente a carencias en vivienda, educación y seguridad social.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39ab5b710e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2" name="Google Shape;342;g39ab5b710e0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La Fig. 7 compara la distribución de ingresos laborales por género entre 2017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y 2024 en la Región de Los Ríos, agrupados en tramos de $500.000 CLP. Se ob-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serva un desplazamiento general hacia tramos superiores entre ambos períodos,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atribuible en parte a la inflación y los reajustes del ingreso mínimo. Sin embargo,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la proporción de mujeres concentradas en el tramo inferior ($0 a $500.000 CLP)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se mantiene consistentemente más alta que la de hombres en ambos años. Este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gráfico permite evaluar si la brecha salarial de género persiste en el tiempo 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en qué medida se asocia a la mayor vulnerabilidad de los hogares con jefatura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femenina frente a carencias en vivienda, educación y seguridad social.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g39ab5b710e0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017105BD-6D6F-49DB-9DE4-D4A6452D7E5F}" type="slidenum">
              <a:rPr lang="es-ES" altLang="zh-CN" noProof="0" smtClean="0"/>
              <a:t>17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4844979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017105BD-6D6F-49DB-9DE4-D4A6452D7E5F}" type="slidenum">
              <a:rPr lang="es-ES" altLang="zh-CN" noProof="0" smtClean="0"/>
              <a:t>18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8206457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 con imagen">
  <p:cSld name="Diapositiva de título con imagen">
    <p:bg>
      <p:bgPr>
        <a:solidFill>
          <a:schemeClr val="accent3">
            <a:alpha val="20000"/>
          </a:schemeClr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>
            <a:spLocks noGrp="1"/>
          </p:cNvSpPr>
          <p:nvPr>
            <p:ph type="title"/>
          </p:nvPr>
        </p:nvSpPr>
        <p:spPr>
          <a:xfrm>
            <a:off x="1484764" y="1986926"/>
            <a:ext cx="5257793" cy="2057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6" name="Google Shape;16;p2"/>
          <p:cNvCxnSpPr/>
          <p:nvPr/>
        </p:nvCxnSpPr>
        <p:spPr>
          <a:xfrm>
            <a:off x="1509005" y="4172084"/>
            <a:ext cx="0" cy="760288"/>
          </a:xfrm>
          <a:prstGeom prst="straightConnector1">
            <a:avLst/>
          </a:prstGeom>
          <a:noFill/>
          <a:ln w="19050" cap="flat" cmpd="sng">
            <a:solidFill>
              <a:srgbClr val="D8440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7" name="Google Shape;17;p2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1601366" y="4172084"/>
            <a:ext cx="1570612" cy="76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0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>
            <a:spLocks noGrp="1"/>
          </p:cNvSpPr>
          <p:nvPr>
            <p:ph type="pic" idx="2"/>
          </p:nvPr>
        </p:nvSpPr>
        <p:spPr>
          <a:xfrm>
            <a:off x="6742557" y="821836"/>
            <a:ext cx="4405503" cy="506634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19" name="Google Shape;19;p2"/>
          <p:cNvSpPr/>
          <p:nvPr/>
        </p:nvSpPr>
        <p:spPr>
          <a:xfrm>
            <a:off x="7441324" y="5568778"/>
            <a:ext cx="829927" cy="949454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Mate"/>
              <a:ea typeface="Mate"/>
              <a:cs typeface="Mate"/>
              <a:sym typeface="Mate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contenido">
  <p:cSld name="Título y contenido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"/>
          <p:cNvSpPr txBox="1">
            <a:spLocks noGrp="1"/>
          </p:cNvSpPr>
          <p:nvPr>
            <p:ph type="title"/>
          </p:nvPr>
        </p:nvSpPr>
        <p:spPr>
          <a:xfrm>
            <a:off x="587829" y="507076"/>
            <a:ext cx="10515600" cy="1115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>
            <a:spLocks noGrp="1"/>
          </p:cNvSpPr>
          <p:nvPr>
            <p:ph type="chart" idx="2"/>
          </p:nvPr>
        </p:nvSpPr>
        <p:spPr>
          <a:xfrm>
            <a:off x="587829" y="1622510"/>
            <a:ext cx="10889796" cy="4155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contenido con imagen">
  <p:cSld name="Título y contenido con imagen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581709" y="721538"/>
            <a:ext cx="10889796" cy="141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>
            <a:spLocks noGrp="1"/>
          </p:cNvSpPr>
          <p:nvPr>
            <p:ph type="tbl" idx="2"/>
          </p:nvPr>
        </p:nvSpPr>
        <p:spPr>
          <a:xfrm>
            <a:off x="581709" y="1614198"/>
            <a:ext cx="10889796" cy="43178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8" name="Google Shape;28;p4"/>
          <p:cNvSpPr/>
          <p:nvPr/>
        </p:nvSpPr>
        <p:spPr>
          <a:xfrm>
            <a:off x="10551278" y="4665388"/>
            <a:ext cx="603952" cy="681742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10524774" y="5146146"/>
            <a:ext cx="1667226" cy="1711855"/>
          </a:xfrm>
          <a:custGeom>
            <a:avLst/>
            <a:gdLst/>
            <a:ahLst/>
            <a:cxnLst/>
            <a:rect l="l" t="t" r="r" b="b"/>
            <a:pathLst>
              <a:path w="1667226" h="1711855" extrusionOk="0">
                <a:moveTo>
                  <a:pt x="998834" y="0"/>
                </a:moveTo>
                <a:lnTo>
                  <a:pt x="1667226" y="373790"/>
                </a:lnTo>
                <a:lnTo>
                  <a:pt x="1667226" y="1711855"/>
                </a:lnTo>
                <a:lnTo>
                  <a:pt x="48502" y="1711855"/>
                </a:lnTo>
                <a:lnTo>
                  <a:pt x="0" y="1684915"/>
                </a:lnTo>
                <a:lnTo>
                  <a:pt x="0" y="564300"/>
                </a:lnTo>
                <a:close/>
              </a:path>
            </a:pathLst>
          </a:custGeom>
          <a:noFill/>
          <a:ln w="1905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10177285" y="5347130"/>
            <a:ext cx="748554" cy="856361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ABE7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31" name="Google Shape;31;p4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ducción">
  <p:cSld name="Introducción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8"/>
          <p:cNvSpPr txBox="1">
            <a:spLocks noGrp="1"/>
          </p:cNvSpPr>
          <p:nvPr>
            <p:ph type="title"/>
          </p:nvPr>
        </p:nvSpPr>
        <p:spPr>
          <a:xfrm>
            <a:off x="509574" y="2096892"/>
            <a:ext cx="5117162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8"/>
          <p:cNvSpPr txBox="1">
            <a:spLocks noGrp="1"/>
          </p:cNvSpPr>
          <p:nvPr>
            <p:ph type="body" idx="1"/>
          </p:nvPr>
        </p:nvSpPr>
        <p:spPr>
          <a:xfrm>
            <a:off x="509574" y="3435546"/>
            <a:ext cx="4260180" cy="1294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500"/>
              <a:buNone/>
              <a:defRPr sz="15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8"/>
          <p:cNvSpPr>
            <a:spLocks noGrp="1"/>
          </p:cNvSpPr>
          <p:nvPr>
            <p:ph type="pic" idx="2"/>
          </p:nvPr>
        </p:nvSpPr>
        <p:spPr>
          <a:xfrm>
            <a:off x="5745001" y="0"/>
            <a:ext cx="6446999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94" name="Google Shape;94;p8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8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la sección">
  <p:cSld name="Encabezado de la sección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9"/>
          <p:cNvSpPr txBox="1"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9"/>
          <p:cNvSpPr/>
          <p:nvPr/>
        </p:nvSpPr>
        <p:spPr>
          <a:xfrm rot="5400000">
            <a:off x="1308232" y="2004972"/>
            <a:ext cx="3593592" cy="2880360"/>
          </a:xfrm>
          <a:prstGeom prst="hexagon">
            <a:avLst>
              <a:gd name="adj" fmla="val 31211"/>
              <a:gd name="vf" fmla="val 11547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9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2319235" y="2911781"/>
            <a:ext cx="1570612" cy="10708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13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cap="none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0" name="Google Shape;100;p9"/>
          <p:cNvSpPr>
            <a:spLocks noGrp="1"/>
          </p:cNvSpPr>
          <p:nvPr>
            <p:ph type="pic" idx="2"/>
          </p:nvPr>
        </p:nvSpPr>
        <p:spPr>
          <a:xfrm>
            <a:off x="581710" y="555648"/>
            <a:ext cx="5045662" cy="5783096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ta ">
  <p:cSld name="Cita 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0"/>
          <p:cNvSpPr txBox="1">
            <a:spLocks noGrp="1"/>
          </p:cNvSpPr>
          <p:nvPr>
            <p:ph type="title"/>
          </p:nvPr>
        </p:nvSpPr>
        <p:spPr>
          <a:xfrm>
            <a:off x="6099079" y="1856195"/>
            <a:ext cx="4518122" cy="16889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Arial"/>
              <a:buNone/>
              <a:defRPr sz="2700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10"/>
          <p:cNvSpPr txBox="1">
            <a:spLocks noGrp="1"/>
          </p:cNvSpPr>
          <p:nvPr>
            <p:ph type="body" idx="1"/>
          </p:nvPr>
        </p:nvSpPr>
        <p:spPr>
          <a:xfrm>
            <a:off x="6095999" y="3695015"/>
            <a:ext cx="4672693" cy="16889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 sz="1500" b="0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4" name="Google Shape;104;p10"/>
          <p:cNvSpPr/>
          <p:nvPr/>
        </p:nvSpPr>
        <p:spPr>
          <a:xfrm>
            <a:off x="3843559" y="722518"/>
            <a:ext cx="1244907" cy="1405252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ADC0D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0"/>
          <p:cNvSpPr/>
          <p:nvPr/>
        </p:nvSpPr>
        <p:spPr>
          <a:xfrm>
            <a:off x="1223929" y="1436914"/>
            <a:ext cx="2857005" cy="326977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CD3A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0"/>
          <p:cNvSpPr/>
          <p:nvPr/>
        </p:nvSpPr>
        <p:spPr>
          <a:xfrm>
            <a:off x="758702" y="3457554"/>
            <a:ext cx="1208037" cy="138175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10"/>
          <p:cNvSpPr/>
          <p:nvPr/>
        </p:nvSpPr>
        <p:spPr>
          <a:xfrm>
            <a:off x="2917915" y="4662164"/>
            <a:ext cx="663381" cy="758922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EE8C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08" name="Google Shape;108;p10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10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miembros del equipo">
  <p:cSld name="4 miembros del equipo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11"/>
          <p:cNvSpPr>
            <a:spLocks noGrp="1"/>
          </p:cNvSpPr>
          <p:nvPr>
            <p:ph type="pic" idx="2"/>
          </p:nvPr>
        </p:nvSpPr>
        <p:spPr>
          <a:xfrm>
            <a:off x="1114798" y="2560353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113" name="Google Shape;113;p11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1214003" y="4764289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4" name="Google Shape;114;p11"/>
          <p:cNvSpPr txBox="1">
            <a:spLocks noGrp="1"/>
          </p:cNvSpPr>
          <p:nvPr>
            <p:ph type="body" idx="3"/>
          </p:nvPr>
        </p:nvSpPr>
        <p:spPr>
          <a:xfrm>
            <a:off x="1214003" y="5295180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5" name="Google Shape;115;p11"/>
          <p:cNvSpPr>
            <a:spLocks noGrp="1"/>
          </p:cNvSpPr>
          <p:nvPr>
            <p:ph type="pic" idx="4"/>
          </p:nvPr>
        </p:nvSpPr>
        <p:spPr>
          <a:xfrm>
            <a:off x="3623536" y="1840730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116" name="Google Shape;116;p11" descr="Haga clic en el icono para agregar una imagen"/>
          <p:cNvSpPr txBox="1">
            <a:spLocks noGrp="1"/>
          </p:cNvSpPr>
          <p:nvPr>
            <p:ph type="body" idx="5"/>
          </p:nvPr>
        </p:nvSpPr>
        <p:spPr>
          <a:xfrm>
            <a:off x="3720440" y="4045832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7" name="Google Shape;117;p11"/>
          <p:cNvSpPr txBox="1">
            <a:spLocks noGrp="1"/>
          </p:cNvSpPr>
          <p:nvPr>
            <p:ph type="body" idx="6"/>
          </p:nvPr>
        </p:nvSpPr>
        <p:spPr>
          <a:xfrm>
            <a:off x="3720440" y="4576723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11"/>
          <p:cNvSpPr>
            <a:spLocks noGrp="1"/>
          </p:cNvSpPr>
          <p:nvPr>
            <p:ph type="pic" idx="7"/>
          </p:nvPr>
        </p:nvSpPr>
        <p:spPr>
          <a:xfrm>
            <a:off x="6113401" y="2560353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119" name="Google Shape;119;p11" descr="Haga clic en el icono para agregar una imagen"/>
          <p:cNvSpPr txBox="1">
            <a:spLocks noGrp="1"/>
          </p:cNvSpPr>
          <p:nvPr>
            <p:ph type="body" idx="8"/>
          </p:nvPr>
        </p:nvSpPr>
        <p:spPr>
          <a:xfrm>
            <a:off x="6218710" y="4764289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0" name="Google Shape;120;p11"/>
          <p:cNvSpPr txBox="1">
            <a:spLocks noGrp="1"/>
          </p:cNvSpPr>
          <p:nvPr>
            <p:ph type="body" idx="9"/>
          </p:nvPr>
        </p:nvSpPr>
        <p:spPr>
          <a:xfrm>
            <a:off x="6218710" y="5295180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1" name="Google Shape;121;p11"/>
          <p:cNvSpPr>
            <a:spLocks noGrp="1"/>
          </p:cNvSpPr>
          <p:nvPr>
            <p:ph type="pic" idx="13"/>
          </p:nvPr>
        </p:nvSpPr>
        <p:spPr>
          <a:xfrm>
            <a:off x="8500328" y="1836331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122" name="Google Shape;122;p11" descr="Haga clic en el icono para agregar una imagen"/>
          <p:cNvSpPr txBox="1">
            <a:spLocks noGrp="1"/>
          </p:cNvSpPr>
          <p:nvPr>
            <p:ph type="body" idx="14"/>
          </p:nvPr>
        </p:nvSpPr>
        <p:spPr>
          <a:xfrm>
            <a:off x="8635340" y="4045832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3" name="Google Shape;123;p11"/>
          <p:cNvSpPr txBox="1">
            <a:spLocks noGrp="1"/>
          </p:cNvSpPr>
          <p:nvPr>
            <p:ph type="body" idx="15"/>
          </p:nvPr>
        </p:nvSpPr>
        <p:spPr>
          <a:xfrm>
            <a:off x="8635340" y="4576723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4" name="Google Shape;124;p11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11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 miembros del equipo">
  <p:cSld name="8 miembros del equipo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2"/>
          <p:cNvSpPr txBox="1">
            <a:spLocks noGrp="1"/>
          </p:cNvSpPr>
          <p:nvPr>
            <p:ph type="title"/>
          </p:nvPr>
        </p:nvSpPr>
        <p:spPr>
          <a:xfrm>
            <a:off x="509574" y="2367293"/>
            <a:ext cx="3909993" cy="36297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12"/>
          <p:cNvSpPr>
            <a:spLocks noGrp="1"/>
          </p:cNvSpPr>
          <p:nvPr>
            <p:ph type="pic" idx="2"/>
          </p:nvPr>
        </p:nvSpPr>
        <p:spPr>
          <a:xfrm>
            <a:off x="4269796" y="436455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12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5520210" y="522515"/>
            <a:ext cx="2289842" cy="626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0" name="Google Shape;130;p12"/>
          <p:cNvSpPr txBox="1">
            <a:spLocks noGrp="1"/>
          </p:cNvSpPr>
          <p:nvPr>
            <p:ph type="body" idx="3"/>
          </p:nvPr>
        </p:nvSpPr>
        <p:spPr>
          <a:xfrm>
            <a:off x="5520211" y="1165881"/>
            <a:ext cx="2289842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1" name="Google Shape;131;p12"/>
          <p:cNvSpPr>
            <a:spLocks noGrp="1"/>
          </p:cNvSpPr>
          <p:nvPr>
            <p:ph type="pic" idx="4"/>
          </p:nvPr>
        </p:nvSpPr>
        <p:spPr>
          <a:xfrm>
            <a:off x="8059916" y="436455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32" name="Google Shape;132;p12" descr="Haga clic en el icono para agregar una imagen"/>
          <p:cNvSpPr txBox="1">
            <a:spLocks noGrp="1"/>
          </p:cNvSpPr>
          <p:nvPr>
            <p:ph type="body" idx="5"/>
          </p:nvPr>
        </p:nvSpPr>
        <p:spPr>
          <a:xfrm>
            <a:off x="9309889" y="642667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3" name="Google Shape;133;p12"/>
          <p:cNvSpPr txBox="1">
            <a:spLocks noGrp="1"/>
          </p:cNvSpPr>
          <p:nvPr>
            <p:ph type="body" idx="6"/>
          </p:nvPr>
        </p:nvSpPr>
        <p:spPr>
          <a:xfrm>
            <a:off x="9309891" y="1165881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4" name="Google Shape;134;p12"/>
          <p:cNvSpPr>
            <a:spLocks noGrp="1"/>
          </p:cNvSpPr>
          <p:nvPr>
            <p:ph type="pic" idx="7"/>
          </p:nvPr>
        </p:nvSpPr>
        <p:spPr>
          <a:xfrm>
            <a:off x="4269796" y="2004222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12" descr="Haga clic en el icono para agregar una imagen"/>
          <p:cNvSpPr txBox="1">
            <a:spLocks noGrp="1"/>
          </p:cNvSpPr>
          <p:nvPr>
            <p:ph type="body" idx="8"/>
          </p:nvPr>
        </p:nvSpPr>
        <p:spPr>
          <a:xfrm>
            <a:off x="5520210" y="2105171"/>
            <a:ext cx="2193021" cy="617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12"/>
          <p:cNvSpPr txBox="1">
            <a:spLocks noGrp="1"/>
          </p:cNvSpPr>
          <p:nvPr>
            <p:ph type="body" idx="9"/>
          </p:nvPr>
        </p:nvSpPr>
        <p:spPr>
          <a:xfrm>
            <a:off x="5520212" y="2739721"/>
            <a:ext cx="2193021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12"/>
          <p:cNvSpPr>
            <a:spLocks noGrp="1"/>
          </p:cNvSpPr>
          <p:nvPr>
            <p:ph type="pic" idx="13"/>
          </p:nvPr>
        </p:nvSpPr>
        <p:spPr>
          <a:xfrm>
            <a:off x="8059916" y="2004222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38" name="Google Shape;138;p12" descr="Haga clic en el icono para agregar una imagen"/>
          <p:cNvSpPr txBox="1">
            <a:spLocks noGrp="1"/>
          </p:cNvSpPr>
          <p:nvPr>
            <p:ph type="body" idx="14"/>
          </p:nvPr>
        </p:nvSpPr>
        <p:spPr>
          <a:xfrm>
            <a:off x="9309890" y="2032203"/>
            <a:ext cx="2098039" cy="7011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9" name="Google Shape;139;p12"/>
          <p:cNvSpPr txBox="1">
            <a:spLocks noGrp="1"/>
          </p:cNvSpPr>
          <p:nvPr>
            <p:ph type="body" idx="15"/>
          </p:nvPr>
        </p:nvSpPr>
        <p:spPr>
          <a:xfrm>
            <a:off x="9309890" y="2746407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0" name="Google Shape;140;p12"/>
          <p:cNvSpPr>
            <a:spLocks noGrp="1"/>
          </p:cNvSpPr>
          <p:nvPr>
            <p:ph type="pic" idx="16"/>
          </p:nvPr>
        </p:nvSpPr>
        <p:spPr>
          <a:xfrm>
            <a:off x="4269796" y="3571991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12" descr="Haga clic en el icono para agregar una imagen"/>
          <p:cNvSpPr txBox="1">
            <a:spLocks noGrp="1"/>
          </p:cNvSpPr>
          <p:nvPr>
            <p:ph type="body" idx="17"/>
          </p:nvPr>
        </p:nvSpPr>
        <p:spPr>
          <a:xfrm>
            <a:off x="5520210" y="3775516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2" name="Google Shape;142;p12"/>
          <p:cNvSpPr txBox="1">
            <a:spLocks noGrp="1"/>
          </p:cNvSpPr>
          <p:nvPr>
            <p:ph type="body" idx="18"/>
          </p:nvPr>
        </p:nvSpPr>
        <p:spPr>
          <a:xfrm>
            <a:off x="5520211" y="4312077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3" name="Google Shape;143;p12"/>
          <p:cNvSpPr>
            <a:spLocks noGrp="1"/>
          </p:cNvSpPr>
          <p:nvPr>
            <p:ph type="pic" idx="19"/>
          </p:nvPr>
        </p:nvSpPr>
        <p:spPr>
          <a:xfrm>
            <a:off x="8059916" y="3571991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44" name="Google Shape;144;p12" descr="Haga clic en el icono para agregar una imagen"/>
          <p:cNvSpPr txBox="1">
            <a:spLocks noGrp="1"/>
          </p:cNvSpPr>
          <p:nvPr>
            <p:ph type="body" idx="20"/>
          </p:nvPr>
        </p:nvSpPr>
        <p:spPr>
          <a:xfrm>
            <a:off x="9309889" y="3775516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5" name="Google Shape;145;p12"/>
          <p:cNvSpPr txBox="1">
            <a:spLocks noGrp="1"/>
          </p:cNvSpPr>
          <p:nvPr>
            <p:ph type="body" idx="21"/>
          </p:nvPr>
        </p:nvSpPr>
        <p:spPr>
          <a:xfrm>
            <a:off x="9309891" y="4312077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6" name="Google Shape;146;p12"/>
          <p:cNvSpPr>
            <a:spLocks noGrp="1"/>
          </p:cNvSpPr>
          <p:nvPr>
            <p:ph type="pic" idx="22"/>
          </p:nvPr>
        </p:nvSpPr>
        <p:spPr>
          <a:xfrm>
            <a:off x="4269796" y="5153614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47" name="Google Shape;147;p12" descr="Haga clic en el icono para agregar una imagen"/>
          <p:cNvSpPr txBox="1">
            <a:spLocks noGrp="1"/>
          </p:cNvSpPr>
          <p:nvPr>
            <p:ph type="body" idx="23"/>
          </p:nvPr>
        </p:nvSpPr>
        <p:spPr>
          <a:xfrm>
            <a:off x="5520210" y="5369449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12"/>
          <p:cNvSpPr txBox="1">
            <a:spLocks noGrp="1"/>
          </p:cNvSpPr>
          <p:nvPr>
            <p:ph type="body" idx="24"/>
          </p:nvPr>
        </p:nvSpPr>
        <p:spPr>
          <a:xfrm>
            <a:off x="5520211" y="5901594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9" name="Google Shape;149;p12"/>
          <p:cNvSpPr>
            <a:spLocks noGrp="1"/>
          </p:cNvSpPr>
          <p:nvPr>
            <p:ph type="pic" idx="25"/>
          </p:nvPr>
        </p:nvSpPr>
        <p:spPr>
          <a:xfrm>
            <a:off x="8059916" y="5153614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50" name="Google Shape;150;p12" descr="Haga clic en el icono para agregar una imagen"/>
          <p:cNvSpPr txBox="1">
            <a:spLocks noGrp="1"/>
          </p:cNvSpPr>
          <p:nvPr>
            <p:ph type="body" idx="26"/>
          </p:nvPr>
        </p:nvSpPr>
        <p:spPr>
          <a:xfrm>
            <a:off x="9313612" y="5369449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1" name="Google Shape;151;p12"/>
          <p:cNvSpPr txBox="1">
            <a:spLocks noGrp="1"/>
          </p:cNvSpPr>
          <p:nvPr>
            <p:ph type="body" idx="27"/>
          </p:nvPr>
        </p:nvSpPr>
        <p:spPr>
          <a:xfrm>
            <a:off x="9309891" y="5901594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2" name="Google Shape;152;p12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12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r>
              <a:rPr lang="es-ES"/>
              <a:t> de 11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scala de tiempo">
  <p:cSld name="Escala de tiempo"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3"/>
          <p:cNvSpPr/>
          <p:nvPr/>
        </p:nvSpPr>
        <p:spPr>
          <a:xfrm>
            <a:off x="1295508" y="3039919"/>
            <a:ext cx="2375255" cy="273493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56" name="Google Shape;156;p13"/>
          <p:cNvSpPr/>
          <p:nvPr/>
        </p:nvSpPr>
        <p:spPr>
          <a:xfrm>
            <a:off x="3670763" y="1677046"/>
            <a:ext cx="2375255" cy="273493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57" name="Google Shape;157;p13"/>
          <p:cNvSpPr/>
          <p:nvPr/>
        </p:nvSpPr>
        <p:spPr>
          <a:xfrm>
            <a:off x="4865676" y="3722308"/>
            <a:ext cx="2375255" cy="273493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58" name="Google Shape;158;p13"/>
          <p:cNvSpPr/>
          <p:nvPr/>
        </p:nvSpPr>
        <p:spPr>
          <a:xfrm>
            <a:off x="7245668" y="3725411"/>
            <a:ext cx="2375255" cy="273493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59" name="Google Shape;159;p13"/>
          <p:cNvSpPr/>
          <p:nvPr/>
        </p:nvSpPr>
        <p:spPr>
          <a:xfrm>
            <a:off x="8440729" y="1677046"/>
            <a:ext cx="2375255" cy="273493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0" name="Google Shape;160;p13"/>
          <p:cNvSpPr/>
          <p:nvPr/>
        </p:nvSpPr>
        <p:spPr>
          <a:xfrm>
            <a:off x="1274779" y="1667026"/>
            <a:ext cx="7152768" cy="2736950"/>
          </a:xfrm>
          <a:custGeom>
            <a:avLst/>
            <a:gdLst/>
            <a:ahLst/>
            <a:cxnLst/>
            <a:rect l="l" t="t" r="r" b="b"/>
            <a:pathLst>
              <a:path w="7152768" h="2736950" extrusionOk="0">
                <a:moveTo>
                  <a:pt x="0" y="2063113"/>
                </a:moveTo>
                <a:cubicBezTo>
                  <a:pt x="405781" y="1831271"/>
                  <a:pt x="752967" y="1616359"/>
                  <a:pt x="1197659" y="1371385"/>
                </a:cubicBezTo>
                <a:lnTo>
                  <a:pt x="2393620" y="2055218"/>
                </a:lnTo>
                <a:cubicBezTo>
                  <a:pt x="2396863" y="1599639"/>
                  <a:pt x="2385767" y="1153198"/>
                  <a:pt x="2389010" y="697619"/>
                </a:cubicBezTo>
                <a:lnTo>
                  <a:pt x="3577170" y="0"/>
                </a:lnTo>
                <a:lnTo>
                  <a:pt x="4773889" y="698321"/>
                </a:lnTo>
                <a:cubicBezTo>
                  <a:pt x="4772268" y="1155521"/>
                  <a:pt x="4762088" y="1590256"/>
                  <a:pt x="4760467" y="2047456"/>
                </a:cubicBezTo>
                <a:lnTo>
                  <a:pt x="5972264" y="2736950"/>
                </a:lnTo>
                <a:lnTo>
                  <a:pt x="7152768" y="2052536"/>
                </a:lnTo>
              </a:path>
            </a:pathLst>
          </a:custGeom>
          <a:noFill/>
          <a:ln w="38100" cap="flat" cmpd="sng">
            <a:solidFill>
              <a:srgbClr val="D9E5F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1" name="Google Shape;161;p13"/>
          <p:cNvSpPr/>
          <p:nvPr/>
        </p:nvSpPr>
        <p:spPr>
          <a:xfrm>
            <a:off x="8440979" y="1677475"/>
            <a:ext cx="2373549" cy="2062264"/>
          </a:xfrm>
          <a:custGeom>
            <a:avLst/>
            <a:gdLst/>
            <a:ahLst/>
            <a:cxnLst/>
            <a:rect l="l" t="t" r="r" b="b"/>
            <a:pathLst>
              <a:path w="2373549" h="2062264" extrusionOk="0">
                <a:moveTo>
                  <a:pt x="2373549" y="680936"/>
                </a:moveTo>
                <a:lnTo>
                  <a:pt x="1186774" y="0"/>
                </a:lnTo>
                <a:lnTo>
                  <a:pt x="0" y="690664"/>
                </a:lnTo>
                <a:lnTo>
                  <a:pt x="0" y="2062264"/>
                </a:lnTo>
              </a:path>
            </a:pathLst>
          </a:custGeom>
          <a:noFill/>
          <a:ln w="38100" cap="flat" cmpd="sng">
            <a:solidFill>
              <a:srgbClr val="D9E5F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2" name="Google Shape;162;p13"/>
          <p:cNvSpPr/>
          <p:nvPr/>
        </p:nvSpPr>
        <p:spPr>
          <a:xfrm flipH="1">
            <a:off x="10715501" y="2243467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3" name="Google Shape;163;p13"/>
          <p:cNvSpPr/>
          <p:nvPr/>
        </p:nvSpPr>
        <p:spPr>
          <a:xfrm flipH="1">
            <a:off x="9534557" y="1571099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4" name="Google Shape;164;p13"/>
          <p:cNvSpPr/>
          <p:nvPr/>
        </p:nvSpPr>
        <p:spPr>
          <a:xfrm flipH="1">
            <a:off x="8328171" y="2258376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5" name="Google Shape;165;p13"/>
          <p:cNvSpPr/>
          <p:nvPr/>
        </p:nvSpPr>
        <p:spPr>
          <a:xfrm flipH="1">
            <a:off x="8333460" y="3610854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6" name="Google Shape;166;p13"/>
          <p:cNvSpPr/>
          <p:nvPr/>
        </p:nvSpPr>
        <p:spPr>
          <a:xfrm flipH="1">
            <a:off x="7146016" y="4290860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7" name="Google Shape;167;p13"/>
          <p:cNvSpPr/>
          <p:nvPr/>
        </p:nvSpPr>
        <p:spPr>
          <a:xfrm flipH="1">
            <a:off x="5937847" y="3613390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8" name="Google Shape;168;p13"/>
          <p:cNvSpPr/>
          <p:nvPr/>
        </p:nvSpPr>
        <p:spPr>
          <a:xfrm flipH="1">
            <a:off x="5951993" y="2251300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9" name="Google Shape;169;p13"/>
          <p:cNvSpPr/>
          <p:nvPr/>
        </p:nvSpPr>
        <p:spPr>
          <a:xfrm flipH="1">
            <a:off x="4778156" y="1565771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70" name="Google Shape;170;p13"/>
          <p:cNvSpPr/>
          <p:nvPr/>
        </p:nvSpPr>
        <p:spPr>
          <a:xfrm flipH="1">
            <a:off x="3565843" y="2247823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71" name="Google Shape;171;p13"/>
          <p:cNvSpPr/>
          <p:nvPr/>
        </p:nvSpPr>
        <p:spPr>
          <a:xfrm flipH="1">
            <a:off x="3565952" y="3613390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72" name="Google Shape;172;p13"/>
          <p:cNvSpPr/>
          <p:nvPr/>
        </p:nvSpPr>
        <p:spPr>
          <a:xfrm flipH="1">
            <a:off x="2386318" y="2962784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73" name="Google Shape;173;p13"/>
          <p:cNvSpPr/>
          <p:nvPr/>
        </p:nvSpPr>
        <p:spPr>
          <a:xfrm flipH="1">
            <a:off x="1190302" y="3612210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74" name="Google Shape;174;p13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1507136" y="3865003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5" name="Google Shape;175;p13"/>
          <p:cNvSpPr txBox="1">
            <a:spLocks noGrp="1"/>
          </p:cNvSpPr>
          <p:nvPr>
            <p:ph type="body" idx="2"/>
          </p:nvPr>
        </p:nvSpPr>
        <p:spPr>
          <a:xfrm>
            <a:off x="1507136" y="4447079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6" name="Google Shape;176;p13" descr="Haga clic en el icono para agregar una imagen"/>
          <p:cNvSpPr txBox="1">
            <a:spLocks noGrp="1"/>
          </p:cNvSpPr>
          <p:nvPr>
            <p:ph type="body" idx="3"/>
          </p:nvPr>
        </p:nvSpPr>
        <p:spPr>
          <a:xfrm>
            <a:off x="3889942" y="2355643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7" name="Google Shape;177;p13"/>
          <p:cNvSpPr txBox="1">
            <a:spLocks noGrp="1"/>
          </p:cNvSpPr>
          <p:nvPr>
            <p:ph type="body" idx="4"/>
          </p:nvPr>
        </p:nvSpPr>
        <p:spPr>
          <a:xfrm>
            <a:off x="3889942" y="2937719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8" name="Google Shape;178;p13" descr="Haga clic en el icono para agregar una imagen"/>
          <p:cNvSpPr txBox="1">
            <a:spLocks noGrp="1"/>
          </p:cNvSpPr>
          <p:nvPr>
            <p:ph type="body" idx="5"/>
          </p:nvPr>
        </p:nvSpPr>
        <p:spPr>
          <a:xfrm>
            <a:off x="5107230" y="4469081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13"/>
          <p:cNvSpPr txBox="1">
            <a:spLocks noGrp="1"/>
          </p:cNvSpPr>
          <p:nvPr>
            <p:ph type="body" idx="6"/>
          </p:nvPr>
        </p:nvSpPr>
        <p:spPr>
          <a:xfrm>
            <a:off x="5107230" y="5051157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0" name="Google Shape;180;p13" descr="Haga clic en el icono para agregar una imagen"/>
          <p:cNvSpPr txBox="1">
            <a:spLocks noGrp="1"/>
          </p:cNvSpPr>
          <p:nvPr>
            <p:ph type="body" idx="7"/>
          </p:nvPr>
        </p:nvSpPr>
        <p:spPr>
          <a:xfrm>
            <a:off x="7501941" y="4469081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1" name="Google Shape;181;p13"/>
          <p:cNvSpPr txBox="1">
            <a:spLocks noGrp="1"/>
          </p:cNvSpPr>
          <p:nvPr>
            <p:ph type="body" idx="8"/>
          </p:nvPr>
        </p:nvSpPr>
        <p:spPr>
          <a:xfrm>
            <a:off x="7501941" y="5051157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2" name="Google Shape;182;p13" descr="Haga clic en el icono para agregar una imagen"/>
          <p:cNvSpPr txBox="1">
            <a:spLocks noGrp="1"/>
          </p:cNvSpPr>
          <p:nvPr>
            <p:ph type="body" idx="9"/>
          </p:nvPr>
        </p:nvSpPr>
        <p:spPr>
          <a:xfrm>
            <a:off x="8734718" y="2355643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3" name="Google Shape;183;p13"/>
          <p:cNvSpPr txBox="1">
            <a:spLocks noGrp="1"/>
          </p:cNvSpPr>
          <p:nvPr>
            <p:ph type="body" idx="13"/>
          </p:nvPr>
        </p:nvSpPr>
        <p:spPr>
          <a:xfrm>
            <a:off x="8734718" y="2937719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4" name="Google Shape;184;p13"/>
          <p:cNvSpPr txBox="1">
            <a:spLocks noGrp="1"/>
          </p:cNvSpPr>
          <p:nvPr>
            <p:ph type="title"/>
          </p:nvPr>
        </p:nvSpPr>
        <p:spPr>
          <a:xfrm>
            <a:off x="578914" y="726705"/>
            <a:ext cx="10515600" cy="1205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5" name="Google Shape;185;p13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6" name="Google Shape;186;p13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sumen">
  <p:cSld name="Resumen"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6"/>
          <p:cNvSpPr>
            <a:spLocks noGrp="1"/>
          </p:cNvSpPr>
          <p:nvPr>
            <p:ph type="pic" idx="2"/>
          </p:nvPr>
        </p:nvSpPr>
        <p:spPr>
          <a:xfrm>
            <a:off x="7493157" y="529148"/>
            <a:ext cx="4248873" cy="4731130"/>
          </a:xfrm>
          <a:prstGeom prst="rect">
            <a:avLst/>
          </a:prstGeom>
          <a:noFill/>
          <a:ln>
            <a:noFill/>
          </a:ln>
        </p:spPr>
      </p:sp>
      <p:sp>
        <p:nvSpPr>
          <p:cNvPr id="215" name="Google Shape;215;p16"/>
          <p:cNvSpPr txBox="1">
            <a:spLocks noGrp="1"/>
          </p:cNvSpPr>
          <p:nvPr>
            <p:ph type="body" idx="1"/>
          </p:nvPr>
        </p:nvSpPr>
        <p:spPr>
          <a:xfrm>
            <a:off x="517427" y="3253120"/>
            <a:ext cx="4959822" cy="20071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500"/>
              <a:buNone/>
              <a:defRPr sz="15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6" name="Google Shape;216;p16"/>
          <p:cNvSpPr/>
          <p:nvPr/>
        </p:nvSpPr>
        <p:spPr>
          <a:xfrm flipH="1">
            <a:off x="7400972" y="4508725"/>
            <a:ext cx="1347680" cy="1581179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rgbClr val="FABE7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16"/>
          <p:cNvSpPr/>
          <p:nvPr/>
        </p:nvSpPr>
        <p:spPr>
          <a:xfrm>
            <a:off x="6521016" y="4772906"/>
            <a:ext cx="663381" cy="758922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218" name="Google Shape;218;p16"/>
          <p:cNvSpPr txBox="1">
            <a:spLocks noGrp="1"/>
          </p:cNvSpPr>
          <p:nvPr>
            <p:ph type="title"/>
          </p:nvPr>
        </p:nvSpPr>
        <p:spPr>
          <a:xfrm>
            <a:off x="517427" y="2497488"/>
            <a:ext cx="982399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9" name="Google Shape;219;p16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0" name="Google Shape;220;p16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cias">
  <p:cSld name="Gracia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/>
          <p:cNvSpPr/>
          <p:nvPr/>
        </p:nvSpPr>
        <p:spPr>
          <a:xfrm>
            <a:off x="410352" y="12435"/>
            <a:ext cx="1455521" cy="1019127"/>
          </a:xfrm>
          <a:custGeom>
            <a:avLst/>
            <a:gdLst/>
            <a:ahLst/>
            <a:cxnLst/>
            <a:rect l="l" t="t" r="r" b="b"/>
            <a:pathLst>
              <a:path w="1455521" h="1019127" extrusionOk="0">
                <a:moveTo>
                  <a:pt x="219223" y="0"/>
                </a:moveTo>
                <a:lnTo>
                  <a:pt x="1236298" y="0"/>
                </a:lnTo>
                <a:lnTo>
                  <a:pt x="1455521" y="385779"/>
                </a:lnTo>
                <a:lnTo>
                  <a:pt x="1095615" y="1019127"/>
                </a:lnTo>
                <a:lnTo>
                  <a:pt x="359906" y="1019127"/>
                </a:lnTo>
                <a:lnTo>
                  <a:pt x="0" y="385779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17"/>
          <p:cNvSpPr/>
          <p:nvPr/>
        </p:nvSpPr>
        <p:spPr>
          <a:xfrm>
            <a:off x="1579486" y="45000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rgbClr val="FABE7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17"/>
          <p:cNvSpPr/>
          <p:nvPr/>
        </p:nvSpPr>
        <p:spPr>
          <a:xfrm>
            <a:off x="412218" y="113647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7"/>
          <p:cNvSpPr/>
          <p:nvPr/>
        </p:nvSpPr>
        <p:spPr>
          <a:xfrm>
            <a:off x="1580070" y="1812437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7"/>
          <p:cNvSpPr/>
          <p:nvPr/>
        </p:nvSpPr>
        <p:spPr>
          <a:xfrm>
            <a:off x="3953772" y="4582171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rgbClr val="FABE7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17"/>
          <p:cNvSpPr/>
          <p:nvPr/>
        </p:nvSpPr>
        <p:spPr>
          <a:xfrm>
            <a:off x="3955762" y="5952136"/>
            <a:ext cx="1455521" cy="932559"/>
          </a:xfrm>
          <a:custGeom>
            <a:avLst/>
            <a:gdLst/>
            <a:ahLst/>
            <a:cxnLst/>
            <a:rect l="l" t="t" r="r" b="b"/>
            <a:pathLst>
              <a:path w="1455521" h="932559" extrusionOk="0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285492" y="932559"/>
                </a:lnTo>
                <a:lnTo>
                  <a:pt x="170030" y="932559"/>
                </a:lnTo>
                <a:lnTo>
                  <a:pt x="0" y="633348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17"/>
          <p:cNvSpPr/>
          <p:nvPr/>
        </p:nvSpPr>
        <p:spPr>
          <a:xfrm>
            <a:off x="2783996" y="524544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17"/>
          <p:cNvSpPr/>
          <p:nvPr/>
        </p:nvSpPr>
        <p:spPr>
          <a:xfrm>
            <a:off x="2767144" y="388062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rgbClr val="334C6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17"/>
          <p:cNvSpPr/>
          <p:nvPr/>
        </p:nvSpPr>
        <p:spPr>
          <a:xfrm>
            <a:off x="3702" y="448131"/>
            <a:ext cx="678871" cy="1266696"/>
          </a:xfrm>
          <a:custGeom>
            <a:avLst/>
            <a:gdLst/>
            <a:ahLst/>
            <a:cxnLst/>
            <a:rect l="l" t="t" r="r" b="b"/>
            <a:pathLst>
              <a:path w="678871" h="1266696" extrusionOk="0">
                <a:moveTo>
                  <a:pt x="0" y="0"/>
                </a:moveTo>
                <a:lnTo>
                  <a:pt x="318965" y="0"/>
                </a:lnTo>
                <a:lnTo>
                  <a:pt x="678871" y="633348"/>
                </a:lnTo>
                <a:lnTo>
                  <a:pt x="318965" y="1266696"/>
                </a:lnTo>
                <a:lnTo>
                  <a:pt x="0" y="1266696"/>
                </a:lnTo>
                <a:close/>
              </a:path>
            </a:pathLst>
          </a:custGeom>
          <a:noFill/>
          <a:ln w="1905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17"/>
          <p:cNvSpPr/>
          <p:nvPr/>
        </p:nvSpPr>
        <p:spPr>
          <a:xfrm>
            <a:off x="1580353" y="318279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 cap="flat" cmpd="sng">
            <a:solidFill>
              <a:srgbClr val="FABE7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17"/>
          <p:cNvSpPr/>
          <p:nvPr/>
        </p:nvSpPr>
        <p:spPr>
          <a:xfrm>
            <a:off x="6334981" y="5962237"/>
            <a:ext cx="1455521" cy="901561"/>
          </a:xfrm>
          <a:custGeom>
            <a:avLst/>
            <a:gdLst/>
            <a:ahLst/>
            <a:cxnLst/>
            <a:rect l="l" t="t" r="r" b="b"/>
            <a:pathLst>
              <a:path w="1455521" h="901561" extrusionOk="0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303107" y="901561"/>
                </a:lnTo>
                <a:lnTo>
                  <a:pt x="152415" y="901561"/>
                </a:lnTo>
                <a:lnTo>
                  <a:pt x="0" y="633348"/>
                </a:lnTo>
                <a:close/>
              </a:path>
            </a:pathLst>
          </a:custGeom>
          <a:noFill/>
          <a:ln w="1905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17"/>
          <p:cNvSpPr>
            <a:spLocks noGrp="1"/>
          </p:cNvSpPr>
          <p:nvPr>
            <p:ph type="pic" idx="2"/>
          </p:nvPr>
        </p:nvSpPr>
        <p:spPr>
          <a:xfrm>
            <a:off x="2754948" y="2502098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234" name="Google Shape;234;p17"/>
          <p:cNvSpPr>
            <a:spLocks noGrp="1"/>
          </p:cNvSpPr>
          <p:nvPr>
            <p:ph type="pic" idx="3"/>
          </p:nvPr>
        </p:nvSpPr>
        <p:spPr>
          <a:xfrm>
            <a:off x="391110" y="2493385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235" name="Google Shape;235;p17"/>
          <p:cNvSpPr>
            <a:spLocks noGrp="1"/>
          </p:cNvSpPr>
          <p:nvPr>
            <p:ph type="pic" idx="4"/>
          </p:nvPr>
        </p:nvSpPr>
        <p:spPr>
          <a:xfrm>
            <a:off x="5151412" y="5238680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236" name="Google Shape;236;p17"/>
          <p:cNvSpPr>
            <a:spLocks noGrp="1"/>
          </p:cNvSpPr>
          <p:nvPr>
            <p:ph type="pic" idx="5"/>
          </p:nvPr>
        </p:nvSpPr>
        <p:spPr>
          <a:xfrm>
            <a:off x="3948599" y="3194928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237" name="Google Shape;237;p17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6096000" y="3093990"/>
            <a:ext cx="3034145" cy="187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0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8" name="Google Shape;238;p17"/>
          <p:cNvSpPr txBox="1">
            <a:spLocks noGrp="1"/>
          </p:cNvSpPr>
          <p:nvPr>
            <p:ph type="title"/>
          </p:nvPr>
        </p:nvSpPr>
        <p:spPr>
          <a:xfrm>
            <a:off x="6096000" y="1703538"/>
            <a:ext cx="505569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9" name="Google Shape;239;p17"/>
          <p:cNvSpPr/>
          <p:nvPr/>
        </p:nvSpPr>
        <p:spPr>
          <a:xfrm>
            <a:off x="-6538" y="1815084"/>
            <a:ext cx="697438" cy="1266696"/>
          </a:xfrm>
          <a:custGeom>
            <a:avLst/>
            <a:gdLst/>
            <a:ahLst/>
            <a:cxnLst/>
            <a:rect l="l" t="t" r="r" b="b"/>
            <a:pathLst>
              <a:path w="697438" h="1266696" extrusionOk="0">
                <a:moveTo>
                  <a:pt x="8792" y="8793"/>
                </a:moveTo>
                <a:lnTo>
                  <a:pt x="337532" y="0"/>
                </a:lnTo>
                <a:lnTo>
                  <a:pt x="697438" y="633348"/>
                </a:lnTo>
                <a:lnTo>
                  <a:pt x="337532" y="1266696"/>
                </a:lnTo>
                <a:lnTo>
                  <a:pt x="0" y="1266696"/>
                </a:lnTo>
                <a:cubicBezTo>
                  <a:pt x="0" y="844464"/>
                  <a:pt x="8792" y="431025"/>
                  <a:pt x="8792" y="8793"/>
                </a:cubicBezTo>
                <a:close/>
              </a:path>
            </a:pathLst>
          </a:custGeom>
          <a:noFill/>
          <a:ln w="19050" cap="flat" cmpd="sng">
            <a:solidFill>
              <a:srgbClr val="D5DFE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lumna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Marcador de posición del contenido 47">
            <a:extLst>
              <a:ext uri="{FF2B5EF4-FFF2-40B4-BE49-F238E27FC236}">
                <a16:creationId xmlns:a16="http://schemas.microsoft.com/office/drawing/2014/main" id="{67FF6BA4-2B1B-4B51-9FE3-A67E3DCC318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200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0" name="Marcador de posición del contenido 47">
            <a:extLst>
              <a:ext uri="{FF2B5EF4-FFF2-40B4-BE49-F238E27FC236}">
                <a16:creationId xmlns:a16="http://schemas.microsoft.com/office/drawing/2014/main" id="{88E2377A-ED6B-4D69-A9DC-647CB22A5204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3000303" y="2929823"/>
            <a:ext cx="1867186" cy="2471878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1" name="Marcador de posición del contenido 47">
            <a:extLst>
              <a:ext uri="{FF2B5EF4-FFF2-40B4-BE49-F238E27FC236}">
                <a16:creationId xmlns:a16="http://schemas.microsoft.com/office/drawing/2014/main" id="{ECC27D7D-FA65-E93F-3C7E-AADBF7E0CC2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64216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3" name="Marcador de posición del contenido 47">
            <a:extLst>
              <a:ext uri="{FF2B5EF4-FFF2-40B4-BE49-F238E27FC236}">
                <a16:creationId xmlns:a16="http://schemas.microsoft.com/office/drawing/2014/main" id="{DF5280E4-E86B-9E17-04A1-072A8148C3B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7326319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7" name="Marcador de posición del contenido 47">
            <a:extLst>
              <a:ext uri="{FF2B5EF4-FFF2-40B4-BE49-F238E27FC236}">
                <a16:creationId xmlns:a16="http://schemas.microsoft.com/office/drawing/2014/main" id="{42F4F0D3-AF64-7F92-FF1C-F5D1DC62A38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9488424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27" name="Marcador de posición del contenido 47">
            <a:extLst>
              <a:ext uri="{FF2B5EF4-FFF2-40B4-BE49-F238E27FC236}">
                <a16:creationId xmlns:a16="http://schemas.microsoft.com/office/drawing/2014/main" id="{43D089D6-48B5-43AB-A887-EEF910BA916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38200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24" name="Marcador de título 4">
            <a:extLst>
              <a:ext uri="{FF2B5EF4-FFF2-40B4-BE49-F238E27FC236}">
                <a16:creationId xmlns:a16="http://schemas.microsoft.com/office/drawing/2014/main" id="{69ABDED2-7EB3-3ABE-90D0-E6C00F806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para modificar el estilo de título del patrón</a:t>
            </a:r>
            <a:endParaRPr lang="es-ES" dirty="0"/>
          </a:p>
        </p:txBody>
      </p:sp>
      <p:sp>
        <p:nvSpPr>
          <p:cNvPr id="25" name="Marcador de posición del contenido 47">
            <a:extLst>
              <a:ext uri="{FF2B5EF4-FFF2-40B4-BE49-F238E27FC236}">
                <a16:creationId xmlns:a16="http://schemas.microsoft.com/office/drawing/2014/main" id="{476A31DC-7395-007C-8BA1-C38E5B289CF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000756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26" name="Marcador de posición del contenido 47">
            <a:extLst>
              <a:ext uri="{FF2B5EF4-FFF2-40B4-BE49-F238E27FC236}">
                <a16:creationId xmlns:a16="http://schemas.microsoft.com/office/drawing/2014/main" id="{35CE0786-D87B-DD89-C418-C53C1B7E610B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163312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28" name="Marcador de posición del contenido 47">
            <a:extLst>
              <a:ext uri="{FF2B5EF4-FFF2-40B4-BE49-F238E27FC236}">
                <a16:creationId xmlns:a16="http://schemas.microsoft.com/office/drawing/2014/main" id="{7C7F2E6C-1DCD-3C6A-4830-5BF230A3AAB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325868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29" name="Marcador de posición del contenido 47">
            <a:extLst>
              <a:ext uri="{FF2B5EF4-FFF2-40B4-BE49-F238E27FC236}">
                <a16:creationId xmlns:a16="http://schemas.microsoft.com/office/drawing/2014/main" id="{56A87F6E-D6C5-8903-BC20-313810046034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488424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11" name="Marcador de pie de página 10">
            <a:extLst>
              <a:ext uri="{FF2B5EF4-FFF2-40B4-BE49-F238E27FC236}">
                <a16:creationId xmlns:a16="http://schemas.microsoft.com/office/drawing/2014/main" id="{7218367E-FDD8-A1F8-8E0F-A365771B85F7}"/>
              </a:ext>
            </a:extLst>
          </p:cNvPr>
          <p:cNvSpPr>
            <a:spLocks noGrp="1"/>
          </p:cNvSpPr>
          <p:nvPr>
            <p:ph type="ftr" sz="quarter" idx="54"/>
          </p:nvPr>
        </p:nvSpPr>
        <p:spPr/>
        <p:txBody>
          <a:bodyPr rtlCol="0">
            <a:noAutofit/>
          </a:bodyPr>
          <a:lstStyle>
            <a:defPPr>
              <a:defRPr lang="es-ES"/>
            </a:defPPr>
          </a:lstStyle>
          <a:p>
            <a:pPr rtl="0"/>
            <a:r>
              <a:rPr lang="es-ES" noProof="0"/>
              <a:t>Título de la presentación</a:t>
            </a:r>
            <a:endParaRPr lang="es-ES" noProof="0" dirty="0"/>
          </a:p>
        </p:txBody>
      </p:sp>
      <p:sp>
        <p:nvSpPr>
          <p:cNvPr id="12" name="Marcador de número de diapositiva 11">
            <a:extLst>
              <a:ext uri="{FF2B5EF4-FFF2-40B4-BE49-F238E27FC236}">
                <a16:creationId xmlns:a16="http://schemas.microsoft.com/office/drawing/2014/main" id="{77ECE300-0AB8-85A0-D4D3-B948DDA7B00F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 rtlCol="0">
            <a:noAutofit/>
          </a:bodyPr>
          <a:lstStyle>
            <a:defPPr>
              <a:defRPr lang="es-ES"/>
            </a:defPPr>
          </a:lstStyle>
          <a:p>
            <a:pPr rtl="0"/>
            <a:fld id="{47FEACEE-25B4-4A2D-B147-27296E36371D}" type="slidenum">
              <a:rPr lang="es-ES" altLang="zh-CN" noProof="0" smtClean="0"/>
              <a:pPr rtl="0"/>
              <a:t>‹Nº›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41513823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 columnas con icon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rma libre: Forma 6">
            <a:extLst>
              <a:ext uri="{FF2B5EF4-FFF2-40B4-BE49-F238E27FC236}">
                <a16:creationId xmlns:a16="http://schemas.microsoft.com/office/drawing/2014/main" id="{A533F602-EEC9-45F6-8223-8C8F4914919D}"/>
              </a:ext>
            </a:extLst>
          </p:cNvPr>
          <p:cNvSpPr/>
          <p:nvPr userDrawn="1"/>
        </p:nvSpPr>
        <p:spPr>
          <a:xfrm>
            <a:off x="2121636" y="2070606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5" name="Forma libre: Forma 7">
            <a:extLst>
              <a:ext uri="{FF2B5EF4-FFF2-40B4-BE49-F238E27FC236}">
                <a16:creationId xmlns:a16="http://schemas.microsoft.com/office/drawing/2014/main" id="{08F73F8C-5CF8-4470-AE2B-8E6D7952FF3E}"/>
              </a:ext>
            </a:extLst>
          </p:cNvPr>
          <p:cNvSpPr/>
          <p:nvPr userDrawn="1"/>
        </p:nvSpPr>
        <p:spPr>
          <a:xfrm>
            <a:off x="4174867" y="207344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6" name="Forma libre: Forma 8">
            <a:extLst>
              <a:ext uri="{FF2B5EF4-FFF2-40B4-BE49-F238E27FC236}">
                <a16:creationId xmlns:a16="http://schemas.microsoft.com/office/drawing/2014/main" id="{1299AD72-44AB-4D37-ABBB-9E295508DDB5}"/>
              </a:ext>
            </a:extLst>
          </p:cNvPr>
          <p:cNvSpPr/>
          <p:nvPr userDrawn="1"/>
        </p:nvSpPr>
        <p:spPr>
          <a:xfrm>
            <a:off x="6308379" y="206452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7" name="Forma libre: Forma 9">
            <a:extLst>
              <a:ext uri="{FF2B5EF4-FFF2-40B4-BE49-F238E27FC236}">
                <a16:creationId xmlns:a16="http://schemas.microsoft.com/office/drawing/2014/main" id="{834981F1-A16D-4CA2-8001-0D2A65539268}"/>
              </a:ext>
            </a:extLst>
          </p:cNvPr>
          <p:cNvSpPr/>
          <p:nvPr userDrawn="1"/>
        </p:nvSpPr>
        <p:spPr>
          <a:xfrm>
            <a:off x="8407152" y="206898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31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7AA46292-B7E4-4DB5-85D0-C4F19D66F86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21770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2" name="Marcador de posición del contenido 47">
            <a:extLst>
              <a:ext uri="{FF2B5EF4-FFF2-40B4-BE49-F238E27FC236}">
                <a16:creationId xmlns:a16="http://schemas.microsoft.com/office/drawing/2014/main" id="{382E7D57-1A1A-432F-AEA9-9730DEE157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12627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33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E51F0384-440E-45B9-91E7-78CA13DE0B98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888314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4" name="Marcador de posición del contenido 47">
            <a:extLst>
              <a:ext uri="{FF2B5EF4-FFF2-40B4-BE49-F238E27FC236}">
                <a16:creationId xmlns:a16="http://schemas.microsoft.com/office/drawing/2014/main" id="{35EAE525-3692-40E8-894E-B19171FF64F6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2979171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35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847DC539-F391-4470-96EB-486AB02DADB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073898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6" name="Marcador de posición del contenido 47">
            <a:extLst>
              <a:ext uri="{FF2B5EF4-FFF2-40B4-BE49-F238E27FC236}">
                <a16:creationId xmlns:a16="http://schemas.microsoft.com/office/drawing/2014/main" id="{50988645-D146-4AFE-B87D-27927957717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164755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37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6712E8AC-14E0-42CC-8037-7C1D0E044B61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259482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8" name="Marcador de posición del contenido 47">
            <a:extLst>
              <a:ext uri="{FF2B5EF4-FFF2-40B4-BE49-F238E27FC236}">
                <a16:creationId xmlns:a16="http://schemas.microsoft.com/office/drawing/2014/main" id="{C68DF822-6F14-4839-BD33-6874C8136EE0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7350339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39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2D1F75C7-DA21-4400-B066-F38190B4F52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9445066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40" name="Marcador de posición del contenido 47">
            <a:extLst>
              <a:ext uri="{FF2B5EF4-FFF2-40B4-BE49-F238E27FC236}">
                <a16:creationId xmlns:a16="http://schemas.microsoft.com/office/drawing/2014/main" id="{F7CF6BF0-A40D-4F18-B9DF-D9C4106065D2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9535923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41" name="Marcador de posición del contenido 47">
            <a:extLst>
              <a:ext uri="{FF2B5EF4-FFF2-40B4-BE49-F238E27FC236}">
                <a16:creationId xmlns:a16="http://schemas.microsoft.com/office/drawing/2014/main" id="{95C6B2A2-937E-4C7D-92E3-8A105DD43A98}"/>
              </a:ext>
            </a:extLst>
          </p:cNvPr>
          <p:cNvSpPr>
            <a:spLocks noGrp="1"/>
          </p:cNvSpPr>
          <p:nvPr>
            <p:ph type="pic" sz="quarter" idx="57"/>
          </p:nvPr>
        </p:nvSpPr>
        <p:spPr>
          <a:xfrm>
            <a:off x="983282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altLang="en-US"/>
          </a:p>
        </p:txBody>
      </p:sp>
      <p:sp>
        <p:nvSpPr>
          <p:cNvPr id="42" name="Marcador de posición del contenido 47">
            <a:extLst>
              <a:ext uri="{FF2B5EF4-FFF2-40B4-BE49-F238E27FC236}">
                <a16:creationId xmlns:a16="http://schemas.microsoft.com/office/drawing/2014/main" id="{A9ECEF10-95EB-4F03-B3B1-8FC0E421618E}"/>
              </a:ext>
            </a:extLst>
          </p:cNvPr>
          <p:cNvSpPr>
            <a:spLocks noGrp="1"/>
          </p:cNvSpPr>
          <p:nvPr>
            <p:ph type="pic" sz="quarter" idx="58"/>
          </p:nvPr>
        </p:nvSpPr>
        <p:spPr>
          <a:xfrm>
            <a:off x="3109346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altLang="en-US"/>
          </a:p>
        </p:txBody>
      </p:sp>
      <p:sp>
        <p:nvSpPr>
          <p:cNvPr id="43" name="Marcador de posición del contenido 47">
            <a:extLst>
              <a:ext uri="{FF2B5EF4-FFF2-40B4-BE49-F238E27FC236}">
                <a16:creationId xmlns:a16="http://schemas.microsoft.com/office/drawing/2014/main" id="{12D92FE1-9874-49B8-8FDC-F903A4843015}"/>
              </a:ext>
            </a:extLst>
          </p:cNvPr>
          <p:cNvSpPr>
            <a:spLocks noGrp="1"/>
          </p:cNvSpPr>
          <p:nvPr>
            <p:ph type="pic" sz="quarter" idx="59"/>
          </p:nvPr>
        </p:nvSpPr>
        <p:spPr>
          <a:xfrm>
            <a:off x="5235410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altLang="en-US"/>
          </a:p>
        </p:txBody>
      </p:sp>
      <p:sp>
        <p:nvSpPr>
          <p:cNvPr id="44" name="Marcador de posición del contenido 47">
            <a:extLst>
              <a:ext uri="{FF2B5EF4-FFF2-40B4-BE49-F238E27FC236}">
                <a16:creationId xmlns:a16="http://schemas.microsoft.com/office/drawing/2014/main" id="{12070F52-AB91-476E-9FE0-5403568A11DD}"/>
              </a:ext>
            </a:extLst>
          </p:cNvPr>
          <p:cNvSpPr>
            <a:spLocks noGrp="1"/>
          </p:cNvSpPr>
          <p:nvPr>
            <p:ph type="pic" sz="quarter" idx="60"/>
          </p:nvPr>
        </p:nvSpPr>
        <p:spPr>
          <a:xfrm>
            <a:off x="7361474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altLang="en-US"/>
          </a:p>
        </p:txBody>
      </p:sp>
      <p:sp>
        <p:nvSpPr>
          <p:cNvPr id="45" name="Marcador de posición del contenido 47">
            <a:extLst>
              <a:ext uri="{FF2B5EF4-FFF2-40B4-BE49-F238E27FC236}">
                <a16:creationId xmlns:a16="http://schemas.microsoft.com/office/drawing/2014/main" id="{13AE459B-26D7-43FC-BE0B-EF7B119D7D40}"/>
              </a:ext>
            </a:extLst>
          </p:cNvPr>
          <p:cNvSpPr>
            <a:spLocks noGrp="1"/>
          </p:cNvSpPr>
          <p:nvPr>
            <p:ph type="pic" sz="quarter" idx="61"/>
          </p:nvPr>
        </p:nvSpPr>
        <p:spPr>
          <a:xfrm>
            <a:off x="9487536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altLang="en-US"/>
          </a:p>
        </p:txBody>
      </p:sp>
      <p:sp>
        <p:nvSpPr>
          <p:cNvPr id="25" name="Marcador de título 4">
            <a:extLst>
              <a:ext uri="{FF2B5EF4-FFF2-40B4-BE49-F238E27FC236}">
                <a16:creationId xmlns:a16="http://schemas.microsoft.com/office/drawing/2014/main" id="{C8ECEE37-7B17-4FD7-2612-FBD357E10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para modificar el estilo de título del patrón</a:t>
            </a:r>
            <a:endParaRPr lang="es-ES" dirty="0"/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F7F2CD23-FF0B-8184-9F40-957043412F1C}"/>
              </a:ext>
            </a:extLst>
          </p:cNvPr>
          <p:cNvSpPr>
            <a:spLocks noGrp="1"/>
          </p:cNvSpPr>
          <p:nvPr>
            <p:ph type="ftr" sz="quarter" idx="62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876D293-58F2-B8E9-6576-2676F210D7CF}"/>
              </a:ext>
            </a:extLst>
          </p:cNvPr>
          <p:cNvSpPr>
            <a:spLocks noGrp="1"/>
          </p:cNvSpPr>
          <p:nvPr>
            <p:ph type="sldNum" sz="quarter" idx="63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fld id="{47FEACEE-25B4-4A2D-B147-27296E36371D}" type="slidenum">
              <a:rPr lang="es-ES" altLang="zh-CN" smtClean="0"/>
              <a:pPr rtl="0"/>
              <a:t>‹Nº›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16474610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alpha val="20000"/>
          </a:schemeClr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2" r:id="rId10"/>
    <p:sldLayoutId id="2147483663" r:id="rId11"/>
    <p:sldLayoutId id="2147483665" r:id="rId12"/>
    <p:sldLayoutId id="2147483666" r:id="rId1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>
          <p15:clr>
            <a:srgbClr val="F26B43"/>
          </p15:clr>
        </p15:guide>
        <p15:guide id="2" pos="3840">
          <p15:clr>
            <a:srgbClr val="F26B43"/>
          </p15:clr>
        </p15:guide>
        <p15:guide id="3" pos="5640">
          <p15:clr>
            <a:srgbClr val="F26B43"/>
          </p15:clr>
        </p15:guide>
        <p15:guide id="4" pos="1656">
          <p15:clr>
            <a:srgbClr val="F26B43"/>
          </p15:clr>
        </p15:guide>
        <p15:guide id="5" pos="520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8"/>
          <p:cNvSpPr txBox="1">
            <a:spLocks noGrp="1"/>
          </p:cNvSpPr>
          <p:nvPr>
            <p:ph type="title"/>
          </p:nvPr>
        </p:nvSpPr>
        <p:spPr>
          <a:xfrm>
            <a:off x="368968" y="1967271"/>
            <a:ext cx="5521299" cy="2057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Font typeface="Arial Black"/>
              <a:buNone/>
            </a:pPr>
            <a:r>
              <a:rPr lang="es-ES" sz="30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Factores Predominantes en Hogares con Pobreza Multidimensional en la Región de Los Ríos (2017–2024)</a:t>
            </a:r>
            <a:endParaRPr/>
          </a:p>
        </p:txBody>
      </p:sp>
      <p:sp>
        <p:nvSpPr>
          <p:cNvPr id="246" name="Google Shape;246;p18"/>
          <p:cNvSpPr txBox="1">
            <a:spLocks noGrp="1"/>
          </p:cNvSpPr>
          <p:nvPr>
            <p:ph type="body" idx="1"/>
          </p:nvPr>
        </p:nvSpPr>
        <p:spPr>
          <a:xfrm>
            <a:off x="1524529" y="4113817"/>
            <a:ext cx="2469956" cy="2057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r>
              <a:rPr lang="es-ES"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Cristóbal Espinoza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r>
              <a:rPr lang="es-ES"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Vicente Paredes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r>
              <a:rPr lang="es-ES"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Javier Ramírez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r>
              <a:rPr lang="es-ES"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Fabián Reyes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r>
              <a:rPr lang="es-ES"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Profesor: Luis Veas C.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18"/>
          <p:cNvSpPr/>
          <p:nvPr/>
        </p:nvSpPr>
        <p:spPr>
          <a:xfrm>
            <a:off x="9857505" y="838985"/>
            <a:ext cx="1637958" cy="1873859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rgbClr val="4D8CD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248" name="Google Shape;248;p18"/>
          <p:cNvSpPr/>
          <p:nvPr/>
        </p:nvSpPr>
        <p:spPr>
          <a:xfrm>
            <a:off x="5974436" y="3694919"/>
            <a:ext cx="1637958" cy="1873859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ABE77">
              <a:alpha val="50196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Mate"/>
              <a:ea typeface="Mate"/>
              <a:cs typeface="Mate"/>
              <a:sym typeface="Mate"/>
            </a:endParaRPr>
          </a:p>
        </p:txBody>
      </p:sp>
      <p:pic>
        <p:nvPicPr>
          <p:cNvPr id="249" name="Google Shape;249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4758" y="1289222"/>
            <a:ext cx="4956737" cy="4235757"/>
          </a:xfrm>
          <a:prstGeom prst="rect">
            <a:avLst/>
          </a:prstGeom>
          <a:noFill/>
          <a:ln>
            <a:noFill/>
          </a:ln>
          <a:effectLst>
            <a:outerShdw blurRad="190500" algn="tl" rotWithShape="0">
              <a:srgbClr val="000000">
                <a:alpha val="70196"/>
              </a:srgbClr>
            </a:outerShdw>
          </a:effectLst>
        </p:spPr>
      </p:pic>
      <p:sp>
        <p:nvSpPr>
          <p:cNvPr id="250" name="Google Shape;250;p18"/>
          <p:cNvSpPr txBox="1"/>
          <p:nvPr/>
        </p:nvSpPr>
        <p:spPr>
          <a:xfrm>
            <a:off x="368968" y="1601167"/>
            <a:ext cx="266580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Arial"/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Computación Científica con Python</a:t>
            </a:r>
            <a:endParaRPr/>
          </a:p>
        </p:txBody>
      </p:sp>
      <p:pic>
        <p:nvPicPr>
          <p:cNvPr id="251" name="Google Shape;251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53453" y="632901"/>
            <a:ext cx="2665805" cy="615809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DD041C-5B36-F4A0-4653-228349736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Índice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85FCD2C-441B-A85A-4957-2BC3AA2AF5D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2 de 18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E85760A-3F20-4554-A4CA-D69C0A163C21}"/>
              </a:ext>
            </a:extLst>
          </p:cNvPr>
          <p:cNvSpPr txBox="1"/>
          <p:nvPr/>
        </p:nvSpPr>
        <p:spPr>
          <a:xfrm>
            <a:off x="482600" y="6217920"/>
            <a:ext cx="4064000" cy="36576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" sz="1200">
                <a:solidFill>
                  <a:srgbClr val="0F253E"/>
                </a:solidFill>
              </a:rPr>
              <a:t>PMD en la Región de Los Ríos</a:t>
            </a:r>
            <a:endParaRPr lang="es-CL" sz="1200">
              <a:solidFill>
                <a:srgbClr val="0F253E"/>
              </a:solidFill>
            </a:endParaRP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CA9E3293-402F-4F6B-A06C-3B1E5CCAFF91}"/>
              </a:ext>
            </a:extLst>
          </p:cNvPr>
          <p:cNvSpPr/>
          <p:nvPr/>
        </p:nvSpPr>
        <p:spPr>
          <a:xfrm>
            <a:off x="889000" y="19050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ED6C7CB-3BA2-4AE5-B0D6-EE9A892961D3}"/>
              </a:ext>
            </a:extLst>
          </p:cNvPr>
          <p:cNvSpPr txBox="1"/>
          <p:nvPr/>
        </p:nvSpPr>
        <p:spPr>
          <a:xfrm>
            <a:off x="1549400" y="19050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Introducción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757255DD-81C3-455A-9404-F0CCF3192498}"/>
              </a:ext>
            </a:extLst>
          </p:cNvPr>
          <p:cNvSpPr/>
          <p:nvPr/>
        </p:nvSpPr>
        <p:spPr>
          <a:xfrm>
            <a:off x="889000" y="27813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3853D881-61EE-410C-87A5-DA56A8852894}"/>
              </a:ext>
            </a:extLst>
          </p:cNvPr>
          <p:cNvSpPr txBox="1"/>
          <p:nvPr/>
        </p:nvSpPr>
        <p:spPr>
          <a:xfrm>
            <a:off x="1549400" y="27813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Preguntas de investigación</a:t>
            </a: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CB754CBF-F586-4DAD-98C5-9EA204774644}"/>
              </a:ext>
            </a:extLst>
          </p:cNvPr>
          <p:cNvSpPr/>
          <p:nvPr/>
        </p:nvSpPr>
        <p:spPr>
          <a:xfrm>
            <a:off x="889000" y="36576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6DE692FE-20F6-4E8F-9061-899BEBA5A4C5}"/>
              </a:ext>
            </a:extLst>
          </p:cNvPr>
          <p:cNvSpPr txBox="1"/>
          <p:nvPr/>
        </p:nvSpPr>
        <p:spPr>
          <a:xfrm>
            <a:off x="1549400" y="36576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Solución propuesta</a:t>
            </a: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22A63100-AF75-4E96-9993-2003F2E7B3A2}"/>
              </a:ext>
            </a:extLst>
          </p:cNvPr>
          <p:cNvSpPr/>
          <p:nvPr/>
        </p:nvSpPr>
        <p:spPr>
          <a:xfrm>
            <a:off x="889000" y="45339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B862E5E-B306-4D5B-BC47-1E1C760DA44A}"/>
              </a:ext>
            </a:extLst>
          </p:cNvPr>
          <p:cNvSpPr txBox="1"/>
          <p:nvPr/>
        </p:nvSpPr>
        <p:spPr>
          <a:xfrm>
            <a:off x="1549400" y="45339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Metodología aplicada</a:t>
            </a:r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1772EF00-7EE8-48B9-AC32-71DB18504997}"/>
              </a:ext>
            </a:extLst>
          </p:cNvPr>
          <p:cNvSpPr/>
          <p:nvPr/>
        </p:nvSpPr>
        <p:spPr>
          <a:xfrm>
            <a:off x="889000" y="54102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 dirty="0">
                <a:solidFill>
                  <a:srgbClr val="FFFFFF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13F2CE8-58BD-4B3E-B455-F65472A9EBBD}"/>
              </a:ext>
            </a:extLst>
          </p:cNvPr>
          <p:cNvSpPr txBox="1"/>
          <p:nvPr/>
        </p:nvSpPr>
        <p:spPr>
          <a:xfrm>
            <a:off x="1549400" y="54102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Análisis general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B2BB0B4D-444C-42A2-B511-871D08F8B2E0}"/>
              </a:ext>
            </a:extLst>
          </p:cNvPr>
          <p:cNvSpPr/>
          <p:nvPr/>
        </p:nvSpPr>
        <p:spPr>
          <a:xfrm>
            <a:off x="6604000" y="19050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 dirty="0">
                <a:solidFill>
                  <a:srgbClr val="FFFFFF"/>
                </a:solidFill>
                <a:latin typeface="Arial"/>
                <a:cs typeface="Arial"/>
              </a:rPr>
              <a:t>6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D34E59E7-26F0-46AC-A418-CE5442787085}"/>
              </a:ext>
            </a:extLst>
          </p:cNvPr>
          <p:cNvSpPr txBox="1"/>
          <p:nvPr/>
        </p:nvSpPr>
        <p:spPr>
          <a:xfrm>
            <a:off x="7264400" y="19050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Análisis por dimensión</a:t>
            </a: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2459DAE1-543E-44B3-9E52-2F9A512991CC}"/>
              </a:ext>
            </a:extLst>
          </p:cNvPr>
          <p:cNvSpPr/>
          <p:nvPr/>
        </p:nvSpPr>
        <p:spPr>
          <a:xfrm>
            <a:off x="6604000" y="27813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>
                <a:solidFill>
                  <a:srgbClr val="FFFFFF"/>
                </a:solidFill>
                <a:latin typeface="Arial"/>
                <a:cs typeface="Arial"/>
              </a:rPr>
              <a:t>7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1E9591E8-1241-4C0B-9D34-15A718BFACDF}"/>
              </a:ext>
            </a:extLst>
          </p:cNvPr>
          <p:cNvSpPr txBox="1"/>
          <p:nvPr/>
        </p:nvSpPr>
        <p:spPr>
          <a:xfrm>
            <a:off x="7264400" y="27813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Muestra del dashboard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C947BAED-82ED-4375-9046-2354DA06AA8C}"/>
              </a:ext>
            </a:extLst>
          </p:cNvPr>
          <p:cNvSpPr/>
          <p:nvPr/>
        </p:nvSpPr>
        <p:spPr>
          <a:xfrm>
            <a:off x="6604000" y="36576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>
                <a:solidFill>
                  <a:srgbClr val="FFFFFF"/>
                </a:solidFill>
                <a:latin typeface="Arial"/>
                <a:cs typeface="Arial"/>
              </a:rPr>
              <a:t>8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5B462714-E670-4DB2-A3D7-E55702745736}"/>
              </a:ext>
            </a:extLst>
          </p:cNvPr>
          <p:cNvSpPr txBox="1"/>
          <p:nvPr/>
        </p:nvSpPr>
        <p:spPr>
          <a:xfrm>
            <a:off x="7264400" y="36576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Modelos de IA aplicados</a:t>
            </a:r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5AD65E4D-6E81-4426-96AC-34666875D0F4}"/>
              </a:ext>
            </a:extLst>
          </p:cNvPr>
          <p:cNvSpPr/>
          <p:nvPr/>
        </p:nvSpPr>
        <p:spPr>
          <a:xfrm>
            <a:off x="6604000" y="45339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>
                <a:solidFill>
                  <a:srgbClr val="FFFFFF"/>
                </a:solidFill>
                <a:latin typeface="Arial"/>
                <a:cs typeface="Arial"/>
              </a:rPr>
              <a:t>9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9F0BB7C5-0FD7-46B5-816F-C2B8FB62F5EB}"/>
              </a:ext>
            </a:extLst>
          </p:cNvPr>
          <p:cNvSpPr txBox="1"/>
          <p:nvPr/>
        </p:nvSpPr>
        <p:spPr>
          <a:xfrm>
            <a:off x="7264400" y="45339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Discusión de resultados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2D9A034B-DE3F-437B-8CD8-835238C90E9A}"/>
              </a:ext>
            </a:extLst>
          </p:cNvPr>
          <p:cNvSpPr/>
          <p:nvPr/>
        </p:nvSpPr>
        <p:spPr>
          <a:xfrm>
            <a:off x="6604000" y="54102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 dirty="0">
                <a:solidFill>
                  <a:srgbClr val="FFFFFF"/>
                </a:solidFill>
                <a:latin typeface="Arial"/>
                <a:cs typeface="Arial"/>
              </a:rPr>
              <a:t>10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A530DED-C39C-4C0B-AEC3-F0A1EEEB5BB2}"/>
              </a:ext>
            </a:extLst>
          </p:cNvPr>
          <p:cNvSpPr txBox="1"/>
          <p:nvPr/>
        </p:nvSpPr>
        <p:spPr>
          <a:xfrm>
            <a:off x="7264400" y="54102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Conclusiones</a:t>
            </a:r>
          </a:p>
        </p:txBody>
      </p:sp>
    </p:spTree>
    <p:extLst>
      <p:ext uri="{BB962C8B-B14F-4D97-AF65-F5344CB8AC3E}">
        <p14:creationId xmlns:p14="http://schemas.microsoft.com/office/powerpoint/2010/main" val="1725489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19"/>
          <p:cNvSpPr txBox="1">
            <a:spLocks noGrp="1"/>
          </p:cNvSpPr>
          <p:nvPr>
            <p:ph type="title"/>
          </p:nvPr>
        </p:nvSpPr>
        <p:spPr>
          <a:xfrm>
            <a:off x="587829" y="507076"/>
            <a:ext cx="10515600" cy="1115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/>
              <a:t>Introducción</a:t>
            </a:r>
            <a:endParaRPr/>
          </a:p>
        </p:txBody>
      </p:sp>
      <p:sp>
        <p:nvSpPr>
          <p:cNvPr id="257" name="Google Shape;257;p19"/>
          <p:cNvSpPr>
            <a:spLocks noGrp="1"/>
          </p:cNvSpPr>
          <p:nvPr>
            <p:ph type="chart" idx="2"/>
          </p:nvPr>
        </p:nvSpPr>
        <p:spPr>
          <a:xfrm>
            <a:off x="587829" y="1622510"/>
            <a:ext cx="10889796" cy="4155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</a:pPr>
            <a:r>
              <a:rPr lang="es-ES" sz="20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La pobreza va más allá del ingreso → el IPM (PNUD/OPHI, 2010) mide privaciones en educación, salud, trabajo y vivienda</a:t>
            </a:r>
            <a:endParaRPr sz="20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</a:pPr>
            <a:r>
              <a:rPr lang="es-ES" sz="20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Chile adoptó su IPM nacional en 2014, medido bianualmente vía CASEN</a:t>
            </a:r>
            <a:endParaRPr dirty="0"/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</a:pPr>
            <a:r>
              <a:rPr lang="es-ES" sz="20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Los Ríos muestra alta heterogeneidad: de 13,9% (Valdivia) a 35,4% (Lago Ranco) en 2022</a:t>
            </a:r>
            <a:endParaRPr dirty="0"/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</a:pPr>
            <a:r>
              <a:rPr lang="es-ES" sz="20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Este trabajo analiza los determinantes comunales usando CASEN, Censo 2017 y 2024</a:t>
            </a:r>
            <a:endParaRPr sz="20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19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</a:p>
        </p:txBody>
      </p:sp>
      <p:sp>
        <p:nvSpPr>
          <p:cNvPr id="259" name="Google Shape;259;p19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3 de 18</a:t>
            </a:r>
            <a:endParaRPr dirty="0"/>
          </a:p>
        </p:txBody>
      </p:sp>
      <p:pic>
        <p:nvPicPr>
          <p:cNvPr id="260" name="Google Shape;260;p19" descr="Observatorio Social - Ministerio de Desarrollo Social y Familia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9121" y="4611174"/>
            <a:ext cx="3140311" cy="624316"/>
          </a:xfrm>
          <a:prstGeom prst="rect">
            <a:avLst/>
          </a:prstGeom>
          <a:noFill/>
          <a:ln>
            <a:noFill/>
          </a:ln>
        </p:spPr>
      </p:pic>
      <p:pic>
        <p:nvPicPr>
          <p:cNvPr id="261" name="Google Shape;261;p19" descr="Censo 2024, la mejor encuesta geoestadística de planificación para un país  - Escuela de Salud Pública"/>
          <p:cNvPicPr preferRelativeResize="0"/>
          <p:nvPr/>
        </p:nvPicPr>
        <p:blipFill rotWithShape="1">
          <a:blip r:embed="rId4">
            <a:alphaModFix/>
          </a:blip>
          <a:srcRect b="30153"/>
          <a:stretch/>
        </p:blipFill>
        <p:spPr>
          <a:xfrm>
            <a:off x="5303384" y="4321238"/>
            <a:ext cx="2647950" cy="120418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123560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0"/>
          <p:cNvSpPr txBox="1">
            <a:spLocks noGrp="1"/>
          </p:cNvSpPr>
          <p:nvPr>
            <p:ph type="title"/>
          </p:nvPr>
        </p:nvSpPr>
        <p:spPr>
          <a:xfrm>
            <a:off x="587829" y="507076"/>
            <a:ext cx="10515600" cy="1115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Preguntas de investigación</a:t>
            </a:r>
            <a:endParaRPr/>
          </a:p>
        </p:txBody>
      </p:sp>
      <p:sp>
        <p:nvSpPr>
          <p:cNvPr id="268" name="Google Shape;268;p20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269" name="Google Shape;269;p20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4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20"/>
          <p:cNvSpPr>
            <a:spLocks noGrp="1"/>
          </p:cNvSpPr>
          <p:nvPr>
            <p:ph type="chart" idx="2"/>
          </p:nvPr>
        </p:nvSpPr>
        <p:spPr>
          <a:xfrm>
            <a:off x="571775" y="2273025"/>
            <a:ext cx="11115900" cy="3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4889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500"/>
              <a:buFont typeface="Mate"/>
              <a:buAutoNum type="arabicPeriod"/>
            </a:pPr>
            <a:r>
              <a:rPr lang="es-ES" sz="25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¿Qué dimensiones del IPM tienen mayor incidencia en la pobreza multidimensional de las comunas de la Región de Los Ríos en 2017 y 2024?</a:t>
            </a:r>
            <a:endParaRPr sz="25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500"/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500"/>
          </a:p>
          <a:p>
            <a:pPr marL="457200" marR="0" lvl="0" indent="-4889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500"/>
              <a:buFont typeface="Mate"/>
              <a:buAutoNum type="arabicPeriod"/>
            </a:pPr>
            <a:r>
              <a:rPr lang="es-ES" sz="25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¿Cómo ha evolucionado la incidencia de las carencias en educación, vivienda, composición de hogar y empleos e ingresos a nivel comunal entre 2017 y 2024?</a:t>
            </a:r>
            <a:endParaRPr sz="25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"/>
          <p:cNvSpPr txBox="1">
            <a:spLocks noGrp="1"/>
          </p:cNvSpPr>
          <p:nvPr>
            <p:ph type="title"/>
          </p:nvPr>
        </p:nvSpPr>
        <p:spPr>
          <a:xfrm>
            <a:off x="7678439" y="507076"/>
            <a:ext cx="4216782" cy="1115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Solución</a:t>
            </a:r>
            <a:endParaRPr/>
          </a:p>
        </p:txBody>
      </p:sp>
      <p:sp>
        <p:nvSpPr>
          <p:cNvPr id="277" name="Google Shape;277;p21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278" name="Google Shape;278;p21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5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21"/>
          <p:cNvSpPr>
            <a:spLocks noGrp="1"/>
          </p:cNvSpPr>
          <p:nvPr>
            <p:ph type="chart" idx="2"/>
          </p:nvPr>
        </p:nvSpPr>
        <p:spPr>
          <a:xfrm>
            <a:off x="7678439" y="1502193"/>
            <a:ext cx="3745026" cy="4155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-228600" algn="l">
              <a:lnSpc>
                <a:spcPct val="90000"/>
              </a:lnSpc>
              <a:spcBef>
                <a:spcPts val="0"/>
              </a:spcBef>
              <a:buClr>
                <a:schemeClr val="dk2"/>
              </a:buClr>
              <a:buFont typeface="Arial"/>
              <a:buChar char="•"/>
            </a:pPr>
            <a:r>
              <a:rPr lang="es-CL" sz="1600" b="1">
                <a:solidFill>
                  <a:schemeClr val="dk2"/>
                </a:solidFill>
                <a:latin typeface="Arial"/>
              </a:rPr>
              <a:t>Análisis comparativo a nivel comunal: 12 comunas, 2017 vs 2024</a:t>
            </a:r>
          </a:p>
          <a:p>
            <a:pPr marL="0" indent="0" algn="l">
              <a:lnSpc>
                <a:spcPct val="90000"/>
              </a:lnSpc>
              <a:spcBef>
                <a:spcPts val="800"/>
              </a:spcBef>
              <a:buNone/>
            </a:pPr>
            <a:r>
              <a:rPr lang="es-CL" sz="1600" b="1">
                <a:solidFill>
                  <a:schemeClr val="dk2"/>
                </a:solidFill>
                <a:latin typeface="Arial"/>
              </a:rPr>
              <a:t>5 dimensiones operacionalizadas:</a:t>
            </a:r>
          </a:p>
          <a:p>
            <a:pPr marL="228600" indent="-228600" algn="l">
              <a:lnSpc>
                <a:spcPct val="90000"/>
              </a:lnSpc>
              <a:spcBef>
                <a:spcPts val="300"/>
              </a:spcBef>
              <a:buClr>
                <a:schemeClr val="dk2"/>
              </a:buClr>
              <a:buFont typeface="Arial"/>
              <a:buChar char="•"/>
            </a:pPr>
            <a:r>
              <a:rPr lang="es-CL" sz="1500">
                <a:solidFill>
                  <a:schemeClr val="dk2"/>
                </a:solidFill>
                <a:latin typeface="Arial"/>
              </a:rPr>
              <a:t>Educación</a:t>
            </a:r>
          </a:p>
          <a:p>
            <a:pPr marL="228600" indent="-228600" algn="l">
              <a:lnSpc>
                <a:spcPct val="90000"/>
              </a:lnSpc>
              <a:spcBef>
                <a:spcPts val="300"/>
              </a:spcBef>
              <a:buClr>
                <a:schemeClr val="dk2"/>
              </a:buClr>
              <a:buFont typeface="Arial"/>
              <a:buChar char="•"/>
            </a:pPr>
            <a:r>
              <a:rPr lang="es-CL" sz="1500">
                <a:solidFill>
                  <a:schemeClr val="dk2"/>
                </a:solidFill>
                <a:latin typeface="Arial"/>
              </a:rPr>
              <a:t>Empleo e Ingresos</a:t>
            </a:r>
          </a:p>
          <a:p>
            <a:pPr marL="228600" indent="-228600" algn="l">
              <a:lnSpc>
                <a:spcPct val="90000"/>
              </a:lnSpc>
              <a:spcBef>
                <a:spcPts val="300"/>
              </a:spcBef>
              <a:buClr>
                <a:schemeClr val="dk2"/>
              </a:buClr>
              <a:buFont typeface="Arial"/>
              <a:buChar char="•"/>
            </a:pPr>
            <a:r>
              <a:rPr lang="es-CL" sz="1500">
                <a:solidFill>
                  <a:schemeClr val="dk2"/>
                </a:solidFill>
                <a:latin typeface="Arial"/>
              </a:rPr>
              <a:t>Vivienda y Habitabilidad</a:t>
            </a:r>
          </a:p>
          <a:p>
            <a:pPr marL="228600" indent="-228600" algn="l">
              <a:lnSpc>
                <a:spcPct val="90000"/>
              </a:lnSpc>
              <a:spcBef>
                <a:spcPts val="300"/>
              </a:spcBef>
              <a:buClr>
                <a:schemeClr val="dk2"/>
              </a:buClr>
              <a:buFont typeface="Arial"/>
              <a:buChar char="•"/>
            </a:pPr>
            <a:r>
              <a:rPr lang="es-CL" sz="1500">
                <a:solidFill>
                  <a:schemeClr val="dk2"/>
                </a:solidFill>
                <a:latin typeface="Arial"/>
              </a:rPr>
              <a:t>Composición del Hogar</a:t>
            </a:r>
          </a:p>
          <a:p>
            <a:pPr marL="228600" indent="-228600" algn="l">
              <a:lnSpc>
                <a:spcPct val="90000"/>
              </a:lnSpc>
              <a:spcBef>
                <a:spcPts val="300"/>
              </a:spcBef>
              <a:buClr>
                <a:schemeClr val="dk2"/>
              </a:buClr>
              <a:buFont typeface="Arial"/>
              <a:buChar char="•"/>
            </a:pPr>
            <a:r>
              <a:rPr lang="es-CL" sz="1500">
                <a:solidFill>
                  <a:schemeClr val="dk2"/>
                </a:solidFill>
                <a:latin typeface="Arial"/>
              </a:rPr>
              <a:t>Contexto Territorial y Temporal</a:t>
            </a:r>
          </a:p>
          <a:p>
            <a:pPr marL="0" indent="0" algn="l">
              <a:lnSpc>
                <a:spcPct val="90000"/>
              </a:lnSpc>
              <a:spcBef>
                <a:spcPts val="800"/>
              </a:spcBef>
              <a:buNone/>
            </a:pPr>
            <a:r>
              <a:rPr lang="es-CL" sz="1600" b="1">
                <a:solidFill>
                  <a:schemeClr val="dk2"/>
                </a:solidFill>
                <a:latin typeface="Arial"/>
              </a:rPr>
              <a:t>Fuentes:</a:t>
            </a:r>
          </a:p>
          <a:p>
            <a:pPr marL="228600" indent="-228600" algn="l">
              <a:lnSpc>
                <a:spcPct val="90000"/>
              </a:lnSpc>
              <a:spcBef>
                <a:spcPts val="300"/>
              </a:spcBef>
              <a:buClr>
                <a:schemeClr val="dk2"/>
              </a:buClr>
              <a:buFont typeface="Arial"/>
              <a:buChar char="•"/>
            </a:pPr>
            <a:r>
              <a:rPr lang="es-CL" sz="1500">
                <a:solidFill>
                  <a:schemeClr val="dk2"/>
                </a:solidFill>
                <a:latin typeface="Arial"/>
              </a:rPr>
              <a:t>CASEN, Censo, ENE, BCN e INE (2017 y 2024); portales inmobiliarios vía web scraping.</a:t>
            </a:r>
          </a:p>
        </p:txBody>
      </p:sp>
      <p:pic>
        <p:nvPicPr>
          <p:cNvPr id="280" name="Google Shape;280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3236" y="1338351"/>
            <a:ext cx="7425203" cy="418129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611716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40EA77-CFB2-4D24-FED0-64D87DA2A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Metodología aplicada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5F6C188-9583-13F0-3940-EDB779C842C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6 de 18</a:t>
            </a:r>
          </a:p>
        </p:txBody>
      </p:sp>
      <p:sp>
        <p:nvSpPr>
          <p:cNvPr id="101" name="Origenes"/>
          <p:cNvSpPr txBox="1"/>
          <p:nvPr/>
        </p:nvSpPr>
        <p:spPr>
          <a:xfrm>
            <a:off x="584200" y="1714500"/>
            <a:ext cx="3429000" cy="4445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Aft>
                <a:spcPts val="500"/>
              </a:spcAft>
              <a:buNone/>
            </a:pPr>
            <a:r>
              <a:rPr lang="es-CL" sz="2000" b="1" dirty="0">
                <a:solidFill>
                  <a:srgbClr val="B83803"/>
                </a:solidFill>
              </a:rPr>
              <a:t>Orígenes de los datos</a:t>
            </a:r>
            <a:br>
              <a:rPr lang="es-CL" sz="2000" b="1" dirty="0">
                <a:solidFill>
                  <a:srgbClr val="B83803"/>
                </a:solidFill>
              </a:rPr>
            </a:br>
            <a:endParaRPr lang="es-CL" sz="2000" b="1" dirty="0">
              <a:solidFill>
                <a:srgbClr val="B83803"/>
              </a:solidFill>
            </a:endParaRPr>
          </a:p>
          <a:p>
            <a:pPr marL="200025" indent="-200025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Encuesta CASEN 2017 y 2024 (microdatos, Región de Los Ríos)</a:t>
            </a:r>
            <a:br>
              <a:rPr lang="es-CL" sz="1800" dirty="0"/>
            </a:br>
            <a:endParaRPr lang="es-CL" sz="1800" dirty="0"/>
          </a:p>
          <a:p>
            <a:pPr marL="200025" indent="-200025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Censo de Población y Vivienda 2017 y 2024 (INE)</a:t>
            </a:r>
            <a:br>
              <a:rPr lang="es-CL" sz="1800" dirty="0"/>
            </a:br>
            <a:endParaRPr lang="es-CL" sz="1800" dirty="0"/>
          </a:p>
          <a:p>
            <a:pPr marL="200025" indent="-200025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Encuesta Nacional de Empleo (ENE) 2017 y 2024</a:t>
            </a:r>
            <a:br>
              <a:rPr lang="es-CL" sz="1800" dirty="0"/>
            </a:br>
            <a:endParaRPr lang="es-CL" sz="1800" dirty="0"/>
          </a:p>
          <a:p>
            <a:pPr marL="200025" indent="-200025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BCN: cartografía y servicios básicos (web </a:t>
            </a:r>
            <a:r>
              <a:rPr lang="es-CL" sz="1800" dirty="0" err="1"/>
              <a:t>scraping</a:t>
            </a:r>
            <a:r>
              <a:rPr lang="es-CL" sz="1800" dirty="0"/>
              <a:t>)</a:t>
            </a:r>
            <a:br>
              <a:rPr lang="es-CL" sz="1800" dirty="0"/>
            </a:br>
            <a:endParaRPr lang="es-CL" sz="1800" dirty="0"/>
          </a:p>
          <a:p>
            <a:pPr marL="200025" indent="-200025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Portal Inmobiliario: avisos de arriendo y venta (web scraping)</a:t>
            </a:r>
          </a:p>
        </p:txBody>
      </p:sp>
      <p:sp>
        <p:nvSpPr>
          <p:cNvPr id="102" name="Volumenes"/>
          <p:cNvSpPr txBox="1"/>
          <p:nvPr/>
        </p:nvSpPr>
        <p:spPr>
          <a:xfrm>
            <a:off x="4292600" y="1714500"/>
            <a:ext cx="3429000" cy="4445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Aft>
                <a:spcPts val="500"/>
              </a:spcAft>
              <a:buNone/>
            </a:pPr>
            <a:r>
              <a:rPr lang="es-CL" sz="2000" b="1" dirty="0">
                <a:solidFill>
                  <a:srgbClr val="B83803"/>
                </a:solidFill>
              </a:rPr>
              <a:t>Volúmenes de datos</a:t>
            </a:r>
          </a:p>
          <a:p>
            <a:pPr marL="200025" indent="-200025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19.300 registros CASEN de Los Ríos consolidados</a:t>
            </a:r>
            <a:br>
              <a:rPr lang="es-CL" sz="1800" dirty="0"/>
            </a:br>
            <a:endParaRPr lang="es-CL" sz="1800" dirty="0"/>
          </a:p>
          <a:p>
            <a:pPr marL="200025" indent="-200025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Dataset ML limpio: 6.800 hogares (6.608 modelados)</a:t>
            </a:r>
            <a:br>
              <a:rPr lang="es-CL" sz="1800" dirty="0"/>
            </a:br>
            <a:endParaRPr lang="es-CL" sz="1800" dirty="0"/>
          </a:p>
          <a:p>
            <a:pPr marL="200025" indent="-200025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Scraping BCN: 12 comunas por 2 años (24 páginas)</a:t>
            </a:r>
            <a:br>
              <a:rPr lang="es-CL" sz="1800" dirty="0"/>
            </a:br>
            <a:endParaRPr lang="es-CL" sz="1800" dirty="0"/>
          </a:p>
          <a:p>
            <a:pPr marL="200025" indent="-200025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Scraping inmobiliario: ~1.670 avisos de propiedades</a:t>
            </a:r>
            <a:br>
              <a:rPr lang="es-CL" sz="1800" dirty="0"/>
            </a:br>
            <a:endParaRPr lang="es-CL" sz="1800" dirty="0"/>
          </a:p>
          <a:p>
            <a:pPr marL="200025" indent="-200025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Censo: 35.000 registros de población y 7.700 de migración (2017)</a:t>
            </a:r>
          </a:p>
        </p:txBody>
      </p:sp>
      <p:sp>
        <p:nvSpPr>
          <p:cNvPr id="103" name="Operaciones"/>
          <p:cNvSpPr txBox="1"/>
          <p:nvPr/>
        </p:nvSpPr>
        <p:spPr>
          <a:xfrm>
            <a:off x="8001000" y="1714500"/>
            <a:ext cx="3606800" cy="4445000"/>
          </a:xfrm>
          <a:prstGeom prst="rect">
            <a:avLst/>
          </a:prstGeom>
        </p:spPr>
        <p:txBody>
          <a:bodyPr wrap="square" rtlCol="0">
            <a:normAutofit fontScale="85000" lnSpcReduction="10000"/>
          </a:bodyPr>
          <a:lstStyle/>
          <a:p>
            <a:pPr>
              <a:spcAft>
                <a:spcPts val="500"/>
              </a:spcAft>
              <a:buNone/>
            </a:pPr>
            <a:r>
              <a:rPr lang="es-CL" sz="2400" b="1" dirty="0">
                <a:solidFill>
                  <a:srgbClr val="B83803"/>
                </a:solidFill>
              </a:rPr>
              <a:t>Limpieza y enriquecimiento</a:t>
            </a:r>
          </a:p>
          <a:p>
            <a:pPr marL="200025" indent="-200025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Filtrado de microdatos por Región de Los Ríos (región 14)</a:t>
            </a:r>
            <a:br>
              <a:rPr lang="es-CL" sz="1800" dirty="0"/>
            </a:br>
            <a:endParaRPr lang="es-CL" sz="1800" dirty="0"/>
          </a:p>
          <a:p>
            <a:pPr marL="200025" indent="-200025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Agregación persona - hogar (jefe, tamaño, % menores, ingreso per cápita)</a:t>
            </a:r>
            <a:br>
              <a:rPr lang="es-CL" sz="1800" dirty="0"/>
            </a:br>
            <a:endParaRPr lang="es-CL" sz="1800" dirty="0"/>
          </a:p>
          <a:p>
            <a:pPr marL="200025" indent="-200025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Normalización de formatos del scraping y pivoteo a comuna-año</a:t>
            </a:r>
            <a:br>
              <a:rPr lang="es-CL" sz="1800" dirty="0"/>
            </a:br>
            <a:endParaRPr lang="es-CL" sz="1800" dirty="0"/>
          </a:p>
          <a:p>
            <a:pPr marL="200025" indent="-200025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Tratamiento de NaN y estandarización (</a:t>
            </a:r>
            <a:r>
              <a:rPr lang="es-CL" sz="1800" dirty="0" err="1"/>
              <a:t>StandardScaler</a:t>
            </a:r>
            <a:r>
              <a:rPr lang="es-CL" sz="1800" dirty="0"/>
              <a:t>)</a:t>
            </a:r>
            <a:br>
              <a:rPr lang="es-CL" sz="1800" dirty="0"/>
            </a:br>
            <a:endParaRPr lang="es-CL" sz="1800" dirty="0"/>
          </a:p>
          <a:p>
            <a:pPr marL="200025" indent="-200025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Índices por dimensión IPM (educación, vivienda, composición, ingresos), escala 0–1</a:t>
            </a:r>
            <a:br>
              <a:rPr lang="es-CL" sz="1800" dirty="0"/>
            </a:br>
            <a:endParaRPr lang="es-CL" sz="1800" dirty="0"/>
          </a:p>
          <a:p>
            <a:pPr marL="200025" indent="-200025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Índice de hacinamiento por tramos y unión geoespacial con GeoPandas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E0D8B54-8E96-4825-BDB0-956134DB24A1}"/>
              </a:ext>
            </a:extLst>
          </p:cNvPr>
          <p:cNvSpPr txBox="1"/>
          <p:nvPr/>
        </p:nvSpPr>
        <p:spPr>
          <a:xfrm>
            <a:off x="482600" y="6217920"/>
            <a:ext cx="4064000" cy="36576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" sz="1200">
                <a:solidFill>
                  <a:srgbClr val="0F253E"/>
                </a:solidFill>
              </a:rPr>
              <a:t>PMD en la Región de Los Ríos</a:t>
            </a:r>
            <a:endParaRPr lang="es-CL" sz="1200">
              <a:solidFill>
                <a:srgbClr val="0F253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06953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22"/>
          <p:cNvSpPr txBox="1">
            <a:spLocks noGrp="1"/>
          </p:cNvSpPr>
          <p:nvPr>
            <p:ph type="title"/>
          </p:nvPr>
        </p:nvSpPr>
        <p:spPr>
          <a:xfrm>
            <a:off x="581709" y="721538"/>
            <a:ext cx="10889796" cy="141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Educación</a:t>
            </a:r>
            <a:endParaRPr/>
          </a:p>
        </p:txBody>
      </p:sp>
      <p:sp>
        <p:nvSpPr>
          <p:cNvPr id="287" name="Google Shape;287;p22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288" name="Google Shape;288;p22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7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6B77CDC2-654B-83BF-A937-9FD0E7DE50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619" y="1470141"/>
            <a:ext cx="8999967" cy="466632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4"/>
          <p:cNvSpPr txBox="1">
            <a:spLocks noGrp="1"/>
          </p:cNvSpPr>
          <p:nvPr>
            <p:ph type="title"/>
          </p:nvPr>
        </p:nvSpPr>
        <p:spPr>
          <a:xfrm>
            <a:off x="3970421" y="618833"/>
            <a:ext cx="7639870" cy="141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Viviend</a:t>
            </a:r>
            <a:r>
              <a:rPr lang="es-ES" sz="4400" b="0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a y Habitabilidad</a:t>
            </a:r>
            <a:endParaRPr sz="4400" b="1" i="0" u="none" strike="noStrike" cap="none">
              <a:solidFill>
                <a:schemeClr val="accent6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305" name="Google Shape;305;p24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306" name="Google Shape;306;p24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dirty="0"/>
              <a:t>8</a:t>
            </a:r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7" name="Google Shape;307;p24"/>
          <p:cNvPicPr preferRelativeResize="0"/>
          <p:nvPr/>
        </p:nvPicPr>
        <p:blipFill rotWithShape="1">
          <a:blip r:embed="rId3">
            <a:alphaModFix/>
          </a:blip>
          <a:srcRect t="2169" b="-1"/>
          <a:stretch>
            <a:fillRect/>
          </a:stretch>
        </p:blipFill>
        <p:spPr>
          <a:xfrm>
            <a:off x="656151" y="1786466"/>
            <a:ext cx="5514291" cy="2307823"/>
          </a:xfrm>
          <a:prstGeom prst="rect">
            <a:avLst/>
          </a:prstGeom>
          <a:noFill/>
          <a:ln>
            <a:noFill/>
          </a:ln>
        </p:spPr>
      </p:pic>
      <p:pic>
        <p:nvPicPr>
          <p:cNvPr id="308" name="Google Shape;308;p2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41264" y="1654464"/>
            <a:ext cx="5194584" cy="295243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9" name="Google Shape;309;p2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6152" y="3920715"/>
            <a:ext cx="5514291" cy="448086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p24"/>
          <p:cNvSpPr txBox="1"/>
          <p:nvPr/>
        </p:nvSpPr>
        <p:spPr>
          <a:xfrm>
            <a:off x="1897177" y="3943209"/>
            <a:ext cx="303224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A = personas por dormitorio</a:t>
            </a:r>
            <a:endParaRPr sz="18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25"/>
          <p:cNvSpPr txBox="1">
            <a:spLocks noGrp="1"/>
          </p:cNvSpPr>
          <p:nvPr>
            <p:ph type="title"/>
          </p:nvPr>
        </p:nvSpPr>
        <p:spPr>
          <a:xfrm>
            <a:off x="3970421" y="618833"/>
            <a:ext cx="7639870" cy="141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Viviend</a:t>
            </a:r>
            <a:r>
              <a:rPr lang="es-ES" sz="4400" b="0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a y Habitabilidad</a:t>
            </a:r>
            <a:endParaRPr sz="4400" b="1" i="0" u="none" strike="noStrike" cap="none">
              <a:solidFill>
                <a:schemeClr val="accent6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317" name="Google Shape;317;p25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318" name="Google Shape;318;p25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dirty="0"/>
              <a:t>9</a:t>
            </a:r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77E96AD-AC4E-A38B-406C-5C8E0D813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1614198"/>
            <a:ext cx="5541275" cy="424282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0B1CABD6-7008-10C0-4DB0-03EB33D896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0534" y="1614198"/>
            <a:ext cx="5541275" cy="424282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26"/>
          <p:cNvSpPr txBox="1">
            <a:spLocks noGrp="1"/>
          </p:cNvSpPr>
          <p:nvPr>
            <p:ph type="title"/>
          </p:nvPr>
        </p:nvSpPr>
        <p:spPr>
          <a:xfrm>
            <a:off x="581709" y="721538"/>
            <a:ext cx="10889796" cy="141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Composición del Hogar</a:t>
            </a:r>
            <a:endParaRPr/>
          </a:p>
        </p:txBody>
      </p:sp>
      <p:sp>
        <p:nvSpPr>
          <p:cNvPr id="327" name="Google Shape;327;p26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328" name="Google Shape;328;p26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10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9" name="Google Shape;329;p26" title="mapa_comparacio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2200" y="1535125"/>
            <a:ext cx="10527601" cy="4682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27"/>
          <p:cNvSpPr txBox="1">
            <a:spLocks noGrp="1"/>
          </p:cNvSpPr>
          <p:nvPr>
            <p:ph type="title"/>
          </p:nvPr>
        </p:nvSpPr>
        <p:spPr>
          <a:xfrm>
            <a:off x="5354235" y="811736"/>
            <a:ext cx="6260249" cy="778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Empleos e Ingresos</a:t>
            </a:r>
            <a:endParaRPr/>
          </a:p>
        </p:txBody>
      </p:sp>
      <p:sp>
        <p:nvSpPr>
          <p:cNvPr id="336" name="Google Shape;336;p27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337" name="Google Shape;337;p27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11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27"/>
          <p:cNvSpPr>
            <a:spLocks noGrp="1"/>
          </p:cNvSpPr>
          <p:nvPr>
            <p:ph type="tbl" idx="2"/>
          </p:nvPr>
        </p:nvSpPr>
        <p:spPr>
          <a:xfrm>
            <a:off x="7654475" y="2548467"/>
            <a:ext cx="3960000" cy="23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just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Char char="-"/>
            </a:pPr>
            <a:r>
              <a:rPr lang="es-ES" sz="1600" dirty="0"/>
              <a:t>Asimetría en la distribución de ingresos en el mercado laboral reg.</a:t>
            </a:r>
          </a:p>
          <a:p>
            <a:pPr marL="114300" marR="0" lvl="0" indent="0" algn="just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</a:pPr>
            <a:endParaRPr sz="1600" dirty="0"/>
          </a:p>
          <a:p>
            <a:pPr marL="457200" marR="0" lvl="0" indent="-317500" algn="just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s-ES" sz="1600" dirty="0"/>
              <a:t>Mayor concentración femenina en el tramo más bajo.</a:t>
            </a:r>
          </a:p>
          <a:p>
            <a:pPr marL="139700" marR="0" lvl="0" indent="0" algn="just" rtl="0">
              <a:spcBef>
                <a:spcPts val="0"/>
              </a:spcBef>
              <a:spcAft>
                <a:spcPts val="0"/>
              </a:spcAft>
              <a:buSzPts val="1400"/>
            </a:pPr>
            <a:endParaRPr sz="1600" dirty="0"/>
          </a:p>
          <a:p>
            <a:pPr marL="457200" marR="0" lvl="0" indent="-317500" algn="just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s-ES" sz="1600" dirty="0"/>
              <a:t>Hombres poseen mayor participación en tramos medios y altos.</a:t>
            </a:r>
            <a:endParaRPr sz="1600" dirty="0"/>
          </a:p>
        </p:txBody>
      </p:sp>
      <p:pic>
        <p:nvPicPr>
          <p:cNvPr id="339" name="Google Shape;339;p27" title="histograma_sueldos.jpg"/>
          <p:cNvPicPr preferRelativeResize="0"/>
          <p:nvPr/>
        </p:nvPicPr>
        <p:blipFill rotWithShape="1">
          <a:blip r:embed="rId3">
            <a:alphaModFix/>
          </a:blip>
          <a:srcRect l="10790" r="-10790"/>
          <a:stretch/>
        </p:blipFill>
        <p:spPr>
          <a:xfrm>
            <a:off x="495299" y="1590125"/>
            <a:ext cx="8004859" cy="4627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28"/>
          <p:cNvSpPr txBox="1">
            <a:spLocks noGrp="1"/>
          </p:cNvSpPr>
          <p:nvPr>
            <p:ph type="title"/>
          </p:nvPr>
        </p:nvSpPr>
        <p:spPr>
          <a:xfrm>
            <a:off x="5354235" y="811736"/>
            <a:ext cx="6260100" cy="77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Empleos e Ingresos</a:t>
            </a:r>
            <a:endParaRPr/>
          </a:p>
        </p:txBody>
      </p:sp>
      <p:sp>
        <p:nvSpPr>
          <p:cNvPr id="346" name="Google Shape;346;p28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347" name="Google Shape;347;p28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28"/>
          <p:cNvSpPr>
            <a:spLocks noGrp="1"/>
          </p:cNvSpPr>
          <p:nvPr>
            <p:ph type="tbl" idx="2"/>
          </p:nvPr>
        </p:nvSpPr>
        <p:spPr>
          <a:xfrm>
            <a:off x="7600649" y="2734732"/>
            <a:ext cx="4168017" cy="2048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just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Char char="-"/>
            </a:pPr>
            <a:r>
              <a:rPr lang="es-ES" sz="1600" dirty="0"/>
              <a:t>Desplazamiento general hacia tramos superiores (inflación y reajustes del S.M.)</a:t>
            </a:r>
          </a:p>
          <a:p>
            <a:pPr marL="114300" marR="0" lvl="0" indent="0" algn="just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</a:pPr>
            <a:endParaRPr sz="1600" dirty="0"/>
          </a:p>
          <a:p>
            <a:pPr marL="457200" marR="0" lvl="0" indent="-317500" algn="just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s-ES" sz="1600" dirty="0"/>
              <a:t>Concentración femenina más alta en el tramo inferior ($0-$500k)</a:t>
            </a:r>
            <a:endParaRPr sz="1600" dirty="0"/>
          </a:p>
          <a:p>
            <a:pPr marL="45720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349" name="Google Shape;349;p28" title="evolucion_brecha_salarial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5300" y="1614200"/>
            <a:ext cx="7105357" cy="46037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F1B4FB-72D6-650A-A1B2-3C7B90360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Análisis general</a:t>
            </a:r>
          </a:p>
        </p:txBody>
      </p:sp>
      <p:sp>
        <p:nvSpPr>
          <p:cNvPr id="3" name="Marcador de gráfico 2">
            <a:extLst>
              <a:ext uri="{FF2B5EF4-FFF2-40B4-BE49-F238E27FC236}">
                <a16:creationId xmlns:a16="http://schemas.microsoft.com/office/drawing/2014/main" id="{017DD0BC-F0A9-3E94-0BD9-F8E32E4C656F}"/>
              </a:ext>
            </a:extLst>
          </p:cNvPr>
          <p:cNvSpPr>
            <a:spLocks noGrp="1"/>
          </p:cNvSpPr>
          <p:nvPr>
            <p:ph type="chart" idx="2"/>
          </p:nvPr>
        </p:nvSpPr>
        <p:spPr/>
        <p:txBody>
          <a:bodyPr/>
          <a:lstStyle/>
          <a:p>
            <a:pPr marL="285750" indent="-285750" algn="just">
              <a:lnSpc>
                <a:spcPts val="2000"/>
              </a:lnSpc>
              <a:spcAft>
                <a:spcPts val="900"/>
              </a:spcAft>
              <a:buFont typeface="Arial"/>
              <a:buChar char="•"/>
            </a:pPr>
            <a:r>
              <a:rPr lang="es-CL" sz="1800" b="1" dirty="0"/>
              <a:t>Heterogeneidad territorial: </a:t>
            </a:r>
            <a:r>
              <a:rPr lang="es-CL" sz="1800" dirty="0"/>
              <a:t>la pobreza multidimensional va de 13,9% en Valdivia a 35,4% en Lago Ranco (estimación IPM comunal 2022).</a:t>
            </a:r>
          </a:p>
          <a:p>
            <a:pPr marL="285750" indent="-285750" algn="just">
              <a:lnSpc>
                <a:spcPts val="2000"/>
              </a:lnSpc>
              <a:spcAft>
                <a:spcPts val="900"/>
              </a:spcAft>
              <a:buFont typeface="Arial"/>
              <a:buChar char="•"/>
            </a:pPr>
            <a:r>
              <a:rPr lang="es-CL" sz="1800" b="1" dirty="0"/>
              <a:t>Educación: </a:t>
            </a:r>
            <a:r>
              <a:rPr lang="es-CL" sz="1800" dirty="0"/>
              <a:t>sube la educación superior y cae la básica entre 2017 y 2024, pero persiste el rezago en comunas rurales.</a:t>
            </a:r>
          </a:p>
          <a:p>
            <a:pPr marL="285750" indent="-285750" algn="just">
              <a:lnSpc>
                <a:spcPts val="2000"/>
              </a:lnSpc>
              <a:spcAft>
                <a:spcPts val="900"/>
              </a:spcAft>
              <a:buFont typeface="Arial"/>
              <a:buChar char="•"/>
            </a:pPr>
            <a:r>
              <a:rPr lang="es-CL" sz="1800" b="1" dirty="0"/>
              <a:t>Vivienda: </a:t>
            </a:r>
            <a:r>
              <a:rPr lang="es-CL" sz="1800" dirty="0"/>
              <a:t>la carencia de servicios básicos mantiene su orden territorial (Corral y Panguipulli más altos, Valdivia el más bajo); la mayoría de comunas mejoró entre 6 y 10 puntos.</a:t>
            </a:r>
          </a:p>
          <a:p>
            <a:pPr marL="285750" indent="-285750" algn="just">
              <a:lnSpc>
                <a:spcPts val="2000"/>
              </a:lnSpc>
              <a:spcAft>
                <a:spcPts val="900"/>
              </a:spcAft>
              <a:buFont typeface="Arial"/>
              <a:buChar char="•"/>
            </a:pPr>
            <a:r>
              <a:rPr lang="es-CL" sz="1800" b="1" dirty="0"/>
              <a:t>Ingresos: </a:t>
            </a:r>
            <a:r>
              <a:rPr lang="es-CL" sz="1800" dirty="0"/>
              <a:t>persiste la brecha de género, con las mujeres concentradas en el tramo más bajo ($0 a $500.000).</a:t>
            </a:r>
          </a:p>
          <a:p>
            <a:pPr marL="285750" indent="-285750" algn="just">
              <a:lnSpc>
                <a:spcPts val="2000"/>
              </a:lnSpc>
              <a:spcAft>
                <a:spcPts val="900"/>
              </a:spcAft>
              <a:buFont typeface="Arial"/>
              <a:buChar char="•"/>
            </a:pPr>
            <a:r>
              <a:rPr lang="es-CL" sz="1800" b="1" dirty="0"/>
              <a:t>Migración: </a:t>
            </a:r>
            <a:r>
              <a:rPr lang="es-CL" sz="1800" dirty="0"/>
              <a:t>aumento generalizado de la inmigración internacional en 2024, especialmente en Valdivia.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7ECD4F0-65C6-8F56-D928-E9E4F8D64C6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13 de 18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ACE2201-748B-45CB-B8E9-D56BAB8B3062}"/>
              </a:ext>
            </a:extLst>
          </p:cNvPr>
          <p:cNvSpPr txBox="1"/>
          <p:nvPr/>
        </p:nvSpPr>
        <p:spPr>
          <a:xfrm>
            <a:off x="482600" y="6217920"/>
            <a:ext cx="4064000" cy="36576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" sz="1200">
                <a:solidFill>
                  <a:srgbClr val="0F253E"/>
                </a:solidFill>
              </a:rPr>
              <a:t>PMD en la Región de Los Ríos</a:t>
            </a:r>
            <a:endParaRPr lang="es-CL" sz="1200">
              <a:solidFill>
                <a:srgbClr val="0F253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19413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730D8E-2A8E-EF59-24B5-7E447CC3E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Muestra del dashboard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5170DBE-3F8F-CC29-A71A-977097E5B74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14 de 18</a:t>
            </a:r>
          </a:p>
        </p:txBody>
      </p:sp>
      <p:sp>
        <p:nvSpPr>
          <p:cNvPr id="120" name="DashTexto"/>
          <p:cNvSpPr txBox="1"/>
          <p:nvPr/>
        </p:nvSpPr>
        <p:spPr>
          <a:xfrm>
            <a:off x="584200" y="1947334"/>
            <a:ext cx="4292600" cy="36322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 algn="just">
              <a:lnSpc>
                <a:spcPts val="2000"/>
              </a:lnSpc>
              <a:spcAft>
                <a:spcPts val="1000"/>
              </a:spcAft>
              <a:buFont typeface="Arial"/>
              <a:buChar char="•"/>
            </a:pPr>
            <a:r>
              <a:rPr lang="es-CL" sz="1600" dirty="0"/>
              <a:t>Dashboard interactivo construido con ipywidgets y matplotlib sobre datos CASEN 2017–2024.</a:t>
            </a:r>
          </a:p>
          <a:p>
            <a:pPr marL="285750" indent="-285750" algn="just">
              <a:lnSpc>
                <a:spcPts val="2000"/>
              </a:lnSpc>
              <a:spcAft>
                <a:spcPts val="1000"/>
              </a:spcAft>
              <a:buFont typeface="Arial"/>
              <a:buChar char="•"/>
            </a:pPr>
            <a:r>
              <a:rPr lang="es-CL" sz="1600" dirty="0"/>
              <a:t>Organizado en pestañas: Educación, Vivienda y Habitabilidad, Empleo e Ingresos y Composición del Hogar, más dos pestañas de modelos de IA (Random Forest y Clustering Jerárquico).</a:t>
            </a:r>
          </a:p>
          <a:p>
            <a:pPr marL="285750" indent="-285750" algn="just">
              <a:lnSpc>
                <a:spcPts val="2000"/>
              </a:lnSpc>
              <a:spcAft>
                <a:spcPts val="1000"/>
              </a:spcAft>
              <a:buFont typeface="Arial"/>
              <a:buChar char="•"/>
            </a:pPr>
            <a:r>
              <a:rPr lang="es-CL" sz="1600" dirty="0"/>
              <a:t>Integra los principales indicadores por dimensión, mapas coropléticos por comuna, gráficos comparativos 2017 vs 2024 y los modelos de IA aplicados.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2CC9148-844E-4C97-99DE-F09CA25B79F2}"/>
              </a:ext>
            </a:extLst>
          </p:cNvPr>
          <p:cNvSpPr txBox="1"/>
          <p:nvPr/>
        </p:nvSpPr>
        <p:spPr>
          <a:xfrm>
            <a:off x="482600" y="6217920"/>
            <a:ext cx="4064000" cy="36576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" sz="1200">
                <a:solidFill>
                  <a:srgbClr val="0F253E"/>
                </a:solidFill>
              </a:rPr>
              <a:t>PMD en la Región de Los Ríos</a:t>
            </a:r>
            <a:endParaRPr lang="es-CL" sz="1200">
              <a:solidFill>
                <a:srgbClr val="0F253E"/>
              </a:solidFill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3D80BA80-B851-1CB2-3464-D631A79190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8717" y="1524000"/>
            <a:ext cx="5437581" cy="461246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1805110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385AF8-C1A9-618E-27A2-C5A0515C1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Modelos de IA: Random Forest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24C9E3D-28F2-E1CE-6356-D793988AB42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15 de 18</a:t>
            </a:r>
          </a:p>
        </p:txBody>
      </p:sp>
      <p:sp>
        <p:nvSpPr>
          <p:cNvPr id="120" name="RFTexto"/>
          <p:cNvSpPr txBox="1"/>
          <p:nvPr/>
        </p:nvSpPr>
        <p:spPr>
          <a:xfrm>
            <a:off x="584200" y="1994916"/>
            <a:ext cx="5207000" cy="3674364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s-CL" sz="1500" b="1" i="1" dirty="0">
                <a:solidFill>
                  <a:srgbClr val="B83803"/>
                </a:solidFill>
              </a:rPr>
              <a:t>Clasificación supervisada</a:t>
            </a:r>
          </a:p>
          <a:p>
            <a:pPr marL="228600" indent="-228600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Objetivo: </a:t>
            </a:r>
            <a:r>
              <a:rPr lang="es-CL" sz="1400" dirty="0"/>
              <a:t>predecir si un hogar está en situación de pobreza multidimensional.</a:t>
            </a:r>
          </a:p>
          <a:p>
            <a:pPr marL="228600" indent="-228600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Datos: </a:t>
            </a:r>
            <a:r>
              <a:rPr lang="es-CL" sz="1400" dirty="0"/>
              <a:t>6.608 hogares, 39 variables, partición train/test 80/20.</a:t>
            </a:r>
          </a:p>
          <a:p>
            <a:pPr marL="228600" indent="-228600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Modelo completo: </a:t>
            </a:r>
            <a:r>
              <a:rPr lang="es-CL" sz="1400" dirty="0"/>
              <a:t>Accuracy 82,5% · F1 52,5% · AUC-ROC 0,857.</a:t>
            </a:r>
          </a:p>
          <a:p>
            <a:pPr marL="228600" indent="-228600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4 dimensiones IPM: </a:t>
            </a:r>
            <a:r>
              <a:rPr lang="es-CL" sz="1400" dirty="0"/>
              <a:t>Accuracy 79,1% · F1 43,7% · AUC 0,788.</a:t>
            </a:r>
          </a:p>
          <a:p>
            <a:pPr marL="228600" indent="-228600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Factores predominantes: </a:t>
            </a:r>
            <a:r>
              <a:rPr lang="es-CL" sz="1400" dirty="0"/>
              <a:t>Vivienda 32,3% · Educación 27,7% · Ingresos 26,5% · Composición 13,6%.</a:t>
            </a:r>
          </a:p>
          <a:p>
            <a:pPr marL="228600" indent="-228600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Por comuna: </a:t>
            </a:r>
            <a:r>
              <a:rPr lang="es-CL" sz="1400" dirty="0"/>
              <a:t>mayor probabilidad en Corral y Lago Ranco; menor en Valdivia.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F63D3CA-D962-4934-9152-044CAE2E90C4}"/>
              </a:ext>
            </a:extLst>
          </p:cNvPr>
          <p:cNvSpPr txBox="1"/>
          <p:nvPr/>
        </p:nvSpPr>
        <p:spPr>
          <a:xfrm>
            <a:off x="482600" y="6217920"/>
            <a:ext cx="4064000" cy="36576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" sz="1200">
                <a:solidFill>
                  <a:srgbClr val="0F253E"/>
                </a:solidFill>
              </a:rPr>
              <a:t>PMD en la Región de Los Ríos</a:t>
            </a:r>
            <a:endParaRPr lang="es-CL" sz="1200">
              <a:solidFill>
                <a:srgbClr val="0F253E"/>
              </a:solidFill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0D193F3-D86E-DD4C-3403-F322A610AE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3221" y="2514123"/>
            <a:ext cx="5806978" cy="2274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9734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45FBF9-FC76-51B3-8740-AA6027321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Modelos de IA: Clustering Jerárquico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B9E1656-2033-69A2-B334-7EC61B9F547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16 de 18</a:t>
            </a:r>
          </a:p>
        </p:txBody>
      </p:sp>
      <p:sp>
        <p:nvSpPr>
          <p:cNvPr id="120" name="ClTexto"/>
          <p:cNvSpPr txBox="1"/>
          <p:nvPr/>
        </p:nvSpPr>
        <p:spPr>
          <a:xfrm>
            <a:off x="584200" y="2104644"/>
            <a:ext cx="5207000" cy="3625596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s-CL" sz="1500" b="1" i="1" dirty="0">
                <a:solidFill>
                  <a:srgbClr val="B83803"/>
                </a:solidFill>
              </a:rPr>
              <a:t>Aprendizaje no supervisado</a:t>
            </a:r>
          </a:p>
          <a:p>
            <a:pPr marL="228600" indent="-228600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Método: </a:t>
            </a:r>
            <a:r>
              <a:rPr lang="es-CL" sz="1400" dirty="0"/>
              <a:t>Ward, distancia euclidiana, 4 índices IPM estandarizados.</a:t>
            </a:r>
          </a:p>
          <a:p>
            <a:pPr marL="228600" indent="-228600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K óptimo = 4 clusters: </a:t>
            </a:r>
            <a:r>
              <a:rPr lang="es-CL" sz="1400" dirty="0"/>
              <a:t>Silhouette 0,254; validado con Calinski-Harabasz y Davies-Bouldin.</a:t>
            </a:r>
          </a:p>
          <a:p>
            <a:pPr marL="228600" indent="-228600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Cluster 1: </a:t>
            </a:r>
            <a:r>
              <a:rPr lang="es-CL" sz="1400" dirty="0"/>
              <a:t>2.013 hogares (30,5%) · 9% pobres · carencia Ingresos.</a:t>
            </a:r>
          </a:p>
          <a:p>
            <a:pPr marL="228600" indent="-228600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Cluster 2: </a:t>
            </a:r>
            <a:r>
              <a:rPr lang="es-CL" sz="1400" dirty="0"/>
              <a:t>2.270 hogares (34,4%) · 15% pobres · carencia Educación.</a:t>
            </a:r>
          </a:p>
          <a:p>
            <a:pPr marL="228600" indent="-228600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>
                <a:solidFill>
                  <a:srgbClr val="B83803"/>
                </a:solidFill>
              </a:rPr>
              <a:t>Cluster 3: </a:t>
            </a:r>
            <a:r>
              <a:rPr lang="es-CL" sz="1400" dirty="0">
                <a:solidFill>
                  <a:srgbClr val="B83803"/>
                </a:solidFill>
              </a:rPr>
              <a:t>412 hogares (6,2%) · 51% pobres · perfil más vulnerable.</a:t>
            </a:r>
          </a:p>
          <a:p>
            <a:pPr marL="228600" indent="-228600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Cluster 4: </a:t>
            </a:r>
            <a:r>
              <a:rPr lang="es-CL" sz="1400" dirty="0"/>
              <a:t>1.913 hogares (28,9%) · 17% pobres · carencia Ingresos.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9EFD0FC-0817-4C03-9749-1A19576DCE72}"/>
              </a:ext>
            </a:extLst>
          </p:cNvPr>
          <p:cNvSpPr txBox="1"/>
          <p:nvPr/>
        </p:nvSpPr>
        <p:spPr>
          <a:xfrm>
            <a:off x="482600" y="6217920"/>
            <a:ext cx="4064000" cy="36576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" sz="1200">
                <a:solidFill>
                  <a:srgbClr val="0F253E"/>
                </a:solidFill>
              </a:rPr>
              <a:t>PMD en la Región de Los Ríos</a:t>
            </a:r>
            <a:endParaRPr lang="es-CL" sz="1200">
              <a:solidFill>
                <a:srgbClr val="0F253E"/>
              </a:solidFill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9A07F3A-5DDC-2755-9E05-BFE9DF78DE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2596" y="1764453"/>
            <a:ext cx="5004823" cy="3965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5144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ítulo 37">
            <a:extLst>
              <a:ext uri="{FF2B5EF4-FFF2-40B4-BE49-F238E27FC236}">
                <a16:creationId xmlns:a16="http://schemas.microsoft.com/office/drawing/2014/main" id="{478CB64C-71AF-6B72-8069-000DD2505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2695"/>
            <a:ext cx="10515600" cy="1325563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Discusión</a:t>
            </a:r>
          </a:p>
        </p:txBody>
      </p:sp>
      <p:sp>
        <p:nvSpPr>
          <p:cNvPr id="40" name="Marcador de texto 39">
            <a:extLst>
              <a:ext uri="{FF2B5EF4-FFF2-40B4-BE49-F238E27FC236}">
                <a16:creationId xmlns:a16="http://schemas.microsoft.com/office/drawing/2014/main" id="{FA2F9A05-8E79-46FF-1ABA-927EF2D69BC5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913022" y="1461393"/>
            <a:ext cx="1865376" cy="866219"/>
          </a:xfrm>
        </p:spPr>
        <p:txBody>
          <a:bodyPr rtlCol="0"/>
          <a:lstStyle>
            <a:defPPr>
              <a:defRPr lang="es-ES"/>
            </a:defPPr>
          </a:lstStyle>
          <a:p>
            <a:r>
              <a:rPr lang="es-ES" dirty="0"/>
              <a:t>Educación</a:t>
            </a:r>
          </a:p>
        </p:txBody>
      </p:sp>
      <p:sp>
        <p:nvSpPr>
          <p:cNvPr id="50" name="Marcador de texto 49">
            <a:extLst>
              <a:ext uri="{FF2B5EF4-FFF2-40B4-BE49-F238E27FC236}">
                <a16:creationId xmlns:a16="http://schemas.microsoft.com/office/drawing/2014/main" id="{0532F467-8DBE-D445-0CF7-D5D242DAD663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913022" y="2324073"/>
            <a:ext cx="1865376" cy="2706774"/>
          </a:xfrm>
        </p:spPr>
        <p:txBody>
          <a:bodyPr rtlCol="0"/>
          <a:lstStyle>
            <a:defPPr>
              <a:defRPr lang="es-ES"/>
            </a:defPPr>
          </a:lstStyle>
          <a:p>
            <a:pPr lvl="0"/>
            <a:r>
              <a:rPr lang="es-ES" dirty="0"/>
              <a:t>La mejora educacional podría relacionarse con una reducción parcial de vulnerabilidad social, aunque las diferencias territoriales siguen presentes.</a:t>
            </a:r>
          </a:p>
        </p:txBody>
      </p:sp>
      <p:sp>
        <p:nvSpPr>
          <p:cNvPr id="42" name="Marcador de texto 41">
            <a:extLst>
              <a:ext uri="{FF2B5EF4-FFF2-40B4-BE49-F238E27FC236}">
                <a16:creationId xmlns:a16="http://schemas.microsoft.com/office/drawing/2014/main" id="{48BF8F22-E288-84B0-03E9-82D678051D45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4075578" y="1461393"/>
            <a:ext cx="1865376" cy="86621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Vivienda</a:t>
            </a:r>
          </a:p>
        </p:txBody>
      </p:sp>
      <p:sp>
        <p:nvSpPr>
          <p:cNvPr id="52" name="Marcador de texto 51">
            <a:extLst>
              <a:ext uri="{FF2B5EF4-FFF2-40B4-BE49-F238E27FC236}">
                <a16:creationId xmlns:a16="http://schemas.microsoft.com/office/drawing/2014/main" id="{BACB9342-C47E-6729-46BE-F10DBB78182A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075125" y="2324073"/>
            <a:ext cx="1867186" cy="2706774"/>
          </a:xfrm>
        </p:spPr>
        <p:txBody>
          <a:bodyPr rtlCol="0"/>
          <a:lstStyle>
            <a:defPPr>
              <a:defRPr lang="es-ES"/>
            </a:defPPr>
          </a:lstStyle>
          <a:p>
            <a:r>
              <a:rPr lang="es-ES" dirty="0"/>
              <a:t>La persistencia de carencias sugiere que los problemas de infraestructura son más difíciles de revertir en períodos cortos.</a:t>
            </a:r>
          </a:p>
        </p:txBody>
      </p:sp>
      <p:sp>
        <p:nvSpPr>
          <p:cNvPr id="44" name="Marcador de texto 43">
            <a:extLst>
              <a:ext uri="{FF2B5EF4-FFF2-40B4-BE49-F238E27FC236}">
                <a16:creationId xmlns:a16="http://schemas.microsoft.com/office/drawing/2014/main" id="{D0C47E92-8875-E555-5480-8A9BAEE853A7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6238134" y="1461393"/>
            <a:ext cx="1865376" cy="86621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Empleo</a:t>
            </a:r>
          </a:p>
        </p:txBody>
      </p:sp>
      <p:sp>
        <p:nvSpPr>
          <p:cNvPr id="54" name="Marcador de texto 53">
            <a:extLst>
              <a:ext uri="{FF2B5EF4-FFF2-40B4-BE49-F238E27FC236}">
                <a16:creationId xmlns:a16="http://schemas.microsoft.com/office/drawing/2014/main" id="{DDCD388C-8374-D810-DCE5-554B7E05F55A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239038" y="2324073"/>
            <a:ext cx="1865376" cy="2706773"/>
          </a:xfrm>
        </p:spPr>
        <p:txBody>
          <a:bodyPr rtlCol="0"/>
          <a:lstStyle>
            <a:defPPr>
              <a:defRPr lang="es-ES"/>
            </a:defPPr>
          </a:lstStyle>
          <a:p>
            <a:pPr lvl="0"/>
            <a:r>
              <a:rPr lang="es-CL" dirty="0"/>
              <a:t>La brecha salarial evidencia desigualdades económicas que afectan especialmente a hogares con jefatura femenina.</a:t>
            </a:r>
            <a:endParaRPr lang="es-ES" dirty="0"/>
          </a:p>
        </p:txBody>
      </p:sp>
      <p:sp>
        <p:nvSpPr>
          <p:cNvPr id="46" name="Marcador de texto 45">
            <a:extLst>
              <a:ext uri="{FF2B5EF4-FFF2-40B4-BE49-F238E27FC236}">
                <a16:creationId xmlns:a16="http://schemas.microsoft.com/office/drawing/2014/main" id="{B87AFF1A-EF07-5FBF-C582-29AE302A47D5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8400690" y="1461393"/>
            <a:ext cx="1865376" cy="86621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Territorio</a:t>
            </a:r>
          </a:p>
        </p:txBody>
      </p:sp>
      <p:sp>
        <p:nvSpPr>
          <p:cNvPr id="56" name="Marcador de texto 55">
            <a:extLst>
              <a:ext uri="{FF2B5EF4-FFF2-40B4-BE49-F238E27FC236}">
                <a16:creationId xmlns:a16="http://schemas.microsoft.com/office/drawing/2014/main" id="{E62055F1-67DB-9D6D-ABE2-20C3B2514A43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8401141" y="2324073"/>
            <a:ext cx="1865376" cy="2706772"/>
          </a:xfrm>
        </p:spPr>
        <p:txBody>
          <a:bodyPr rtlCol="0"/>
          <a:lstStyle>
            <a:defPPr>
              <a:defRPr lang="es-ES"/>
            </a:defPPr>
          </a:lstStyle>
          <a:p>
            <a:pPr lvl="0"/>
            <a:r>
              <a:rPr lang="es-ES" dirty="0"/>
              <a:t>Las comunas rurales continúan concentrando mayores niveles de pobreza multidimensional.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285177ED-2E57-8FF5-AFD8-AA79A7B24B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920214" y="1460875"/>
            <a:ext cx="8345852" cy="859536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latin typeface="+mn-lt"/>
            </a:endParaRP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EFD68CE-EF5C-4046-41F5-3763D028DAE5}"/>
              </a:ext>
            </a:extLst>
          </p:cNvPr>
          <p:cNvSpPr>
            <a:spLocks noGrp="1"/>
          </p:cNvSpPr>
          <p:nvPr>
            <p:ph type="ftr" sz="quarter" idx="54"/>
          </p:nvPr>
        </p:nvSpPr>
        <p:spPr/>
        <p:txBody>
          <a:bodyPr rtlCol="0"/>
          <a:lstStyle>
            <a:defPPr>
              <a:defRPr lang="es-ES"/>
            </a:defPPr>
          </a:lstStyle>
          <a:p>
            <a:r>
              <a:rPr lang="es-ES" dirty="0"/>
              <a:t>PMD en la Región de Los Ríos 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4FC7183-3EBB-B8D1-A66D-964D3C3A7DA8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 rtlCol="0"/>
          <a:lstStyle>
            <a:defPPr>
              <a:defRPr lang="es-ES"/>
            </a:defPPr>
          </a:lstStyle>
          <a:p>
            <a:r>
              <a:rPr lang="es-ES" altLang="zh-CN" noProof="0" dirty="0"/>
              <a:t>17 de 18</a:t>
            </a:r>
          </a:p>
        </p:txBody>
      </p:sp>
      <p:sp>
        <p:nvSpPr>
          <p:cNvPr id="200" name="IA Vinculo"/>
          <p:cNvSpPr/>
          <p:nvPr/>
        </p:nvSpPr>
        <p:spPr>
          <a:xfrm>
            <a:off x="838200" y="5227320"/>
            <a:ext cx="10515600" cy="7366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>
            <a:noFill/>
          </a:ln>
        </p:spPr>
        <p:txBody>
          <a:bodyPr wrap="square" lIns="109728" tIns="45720" rIns="109728" bIns="4572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s-CL" sz="1400" b="1" dirty="0">
                <a:solidFill>
                  <a:schemeClr val="dk2"/>
                </a:solidFill>
              </a:rPr>
              <a:t>Vínculo con los modelos de IA: </a:t>
            </a:r>
            <a:r>
              <a:rPr lang="es-CL" sz="1400" dirty="0">
                <a:solidFill>
                  <a:schemeClr val="dk2"/>
                </a:solidFill>
              </a:rPr>
              <a:t>el Random Forest confirma a Vivienda y Educación como los factores de mayor peso predictivo, y el Clustering detecta un segmento crítico (Cluster 3: ~6% de los hogares con 51% de pobreza).</a:t>
            </a:r>
          </a:p>
        </p:txBody>
      </p:sp>
    </p:spTree>
    <p:extLst>
      <p:ext uri="{BB962C8B-B14F-4D97-AF65-F5344CB8AC3E}">
        <p14:creationId xmlns:p14="http://schemas.microsoft.com/office/powerpoint/2010/main" val="20308363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85">
            <a:extLst>
              <a:ext uri="{FF2B5EF4-FFF2-40B4-BE49-F238E27FC236}">
                <a16:creationId xmlns:a16="http://schemas.microsoft.com/office/drawing/2014/main" id="{1E3F7726-AC85-55B8-BDED-51E7BA85CD1C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rtlCol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s-ES"/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dirty="0"/>
              <a:t>Conclusiones</a:t>
            </a:r>
          </a:p>
        </p:txBody>
      </p:sp>
      <p:sp>
        <p:nvSpPr>
          <p:cNvPr id="18" name="Marcador de pie de página 3">
            <a:extLst>
              <a:ext uri="{FF2B5EF4-FFF2-40B4-BE49-F238E27FC236}">
                <a16:creationId xmlns:a16="http://schemas.microsoft.com/office/drawing/2014/main" id="{695DA9C9-8185-D0AB-3C76-BC1CABABA354}"/>
              </a:ext>
            </a:extLst>
          </p:cNvPr>
          <p:cNvSpPr txBox="1">
            <a:spLocks/>
          </p:cNvSpPr>
          <p:nvPr/>
        </p:nvSpPr>
        <p:spPr>
          <a:xfrm>
            <a:off x="484632" y="6217920"/>
            <a:ext cx="4114800" cy="365125"/>
          </a:xfrm>
          <a:prstGeom prst="rect">
            <a:avLst/>
          </a:prstGeom>
        </p:spPr>
        <p:txBody>
          <a:bodyPr rtlCol="0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s-ES"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/>
              <a:t>PMD en la Región de Los Ríos </a:t>
            </a:r>
            <a:endParaRPr lang="es-ES" dirty="0"/>
          </a:p>
        </p:txBody>
      </p:sp>
      <p:sp>
        <p:nvSpPr>
          <p:cNvPr id="21" name="Hdr Trabajo"/>
          <p:cNvSpPr/>
          <p:nvPr/>
        </p:nvSpPr>
        <p:spPr>
          <a:xfrm>
            <a:off x="584200" y="1905000"/>
            <a:ext cx="5334000" cy="558800"/>
          </a:xfrm>
          <a:prstGeom prst="roundRect">
            <a:avLst>
              <a:gd name="adj" fmla="val 12000"/>
            </a:avLst>
          </a:prstGeom>
          <a:solidFill>
            <a:schemeClr val="dk2"/>
          </a:solidFill>
          <a:ln>
            <a:noFill/>
          </a:ln>
        </p:spPr>
        <p:txBody>
          <a:bodyPr lIns="91440" tIns="27432" rIns="91440" bIns="27432" anchor="ctr"/>
          <a:lstStyle/>
          <a:p>
            <a:pPr algn="l"/>
            <a:r>
              <a:rPr lang="es-CL" sz="1800" b="1" dirty="0">
                <a:solidFill>
                  <a:schemeClr val="lt1"/>
                </a:solidFill>
              </a:rPr>
              <a:t>Conclusiones del trabajo</a:t>
            </a:r>
          </a:p>
        </p:txBody>
      </p:sp>
      <p:sp>
        <p:nvSpPr>
          <p:cNvPr id="22" name="Hdr Asignatura"/>
          <p:cNvSpPr/>
          <p:nvPr/>
        </p:nvSpPr>
        <p:spPr>
          <a:xfrm>
            <a:off x="6273800" y="1905000"/>
            <a:ext cx="5334000" cy="558800"/>
          </a:xfrm>
          <a:prstGeom prst="roundRect">
            <a:avLst>
              <a:gd name="adj" fmla="val 12000"/>
            </a:avLst>
          </a:prstGeom>
          <a:solidFill>
            <a:schemeClr val="dk2"/>
          </a:solidFill>
          <a:ln>
            <a:noFill/>
          </a:ln>
        </p:spPr>
        <p:txBody>
          <a:bodyPr lIns="91440" tIns="27432" rIns="91440" bIns="27432" anchor="ctr"/>
          <a:lstStyle/>
          <a:p>
            <a:pPr algn="l"/>
            <a:r>
              <a:rPr lang="es-CL" sz="1800" b="1" dirty="0">
                <a:solidFill>
                  <a:schemeClr val="lt1"/>
                </a:solidFill>
              </a:rPr>
              <a:t>Conclusiones de la asignatura</a:t>
            </a:r>
          </a:p>
        </p:txBody>
      </p:sp>
      <p:sp>
        <p:nvSpPr>
          <p:cNvPr id="23" name="Body Trabajo"/>
          <p:cNvSpPr/>
          <p:nvPr/>
        </p:nvSpPr>
        <p:spPr>
          <a:xfrm>
            <a:off x="584200" y="2603500"/>
            <a:ext cx="5334000" cy="3492500"/>
          </a:xfrm>
          <a:prstGeom prst="rect">
            <a:avLst/>
          </a:prstGeom>
        </p:spPr>
        <p:txBody>
          <a:bodyPr wrap="square" lIns="45720" tIns="45720" rIns="45720" bIns="45720">
            <a:normAutofit/>
          </a:bodyPr>
          <a:lstStyle/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La pobreza multidimensional presenta fuertes diferencias territoriales en Los Ríos.</a:t>
            </a:r>
          </a:p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La educación muestra avances entre 2017 y 2024, mientras las carencias de vivienda permanecen estables.</a:t>
            </a:r>
          </a:p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La brecha salarial de género persiste.</a:t>
            </a:r>
          </a:p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Los modelos de IA identifican a Vivienda y Educación como factores predominantes y detectan perfiles de hogares vulnerables.</a:t>
            </a:r>
          </a:p>
        </p:txBody>
      </p:sp>
      <p:sp>
        <p:nvSpPr>
          <p:cNvPr id="24" name="Body Asignatura"/>
          <p:cNvSpPr/>
          <p:nvPr/>
        </p:nvSpPr>
        <p:spPr>
          <a:xfrm>
            <a:off x="6273800" y="2595033"/>
            <a:ext cx="5334000" cy="3492500"/>
          </a:xfrm>
          <a:prstGeom prst="rect">
            <a:avLst/>
          </a:prstGeom>
        </p:spPr>
        <p:txBody>
          <a:bodyPr wrap="square" lIns="45720" tIns="45720" rIns="45720" bIns="45720">
            <a:normAutofit/>
          </a:bodyPr>
          <a:lstStyle/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Aplicamos el flujo completo de Computación Científica con Python: obtención (scraping y microdatos), limpieza, enriquecimiento, visualización y modelos de machine learning.</a:t>
            </a:r>
          </a:p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Integramos pandas, GeoPandas, matplotlib, seaborn, scikit-learn e ipywidgets en un proyecto reproducible (entorno virtual, requirements.txt y repositorio en GitHub).</a:t>
            </a:r>
          </a:p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El trabajo colaborativo con control de versiones permitió dividir el análisis por dimensiones y consolidarlo en un dashboard único.</a:t>
            </a:r>
          </a:p>
        </p:txBody>
      </p:sp>
      <p:sp>
        <p:nvSpPr>
          <p:cNvPr id="25" name="Marcador de número de diapositiva 4">
            <a:extLst>
              <a:ext uri="{FF2B5EF4-FFF2-40B4-BE49-F238E27FC236}">
                <a16:creationId xmlns:a16="http://schemas.microsoft.com/office/drawing/2014/main" id="{68272546-6424-41C4-1077-F47E03FF5689}"/>
              </a:ext>
            </a:extLst>
          </p:cNvPr>
          <p:cNvSpPr txBox="1">
            <a:spLocks/>
          </p:cNvSpPr>
          <p:nvPr/>
        </p:nvSpPr>
        <p:spPr>
          <a:xfrm>
            <a:off x="11235266" y="6260256"/>
            <a:ext cx="838200" cy="274955"/>
          </a:xfrm>
          <a:prstGeom prst="rect">
            <a:avLst/>
          </a:prstGeom>
        </p:spPr>
        <p:txBody>
          <a:bodyPr rtlCol="0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s-ES"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altLang="zh-CN" sz="1200" dirty="0"/>
              <a:t>18 de 18</a:t>
            </a:r>
          </a:p>
        </p:txBody>
      </p:sp>
    </p:spTree>
    <p:extLst>
      <p:ext uri="{BB962C8B-B14F-4D97-AF65-F5344CB8AC3E}">
        <p14:creationId xmlns:p14="http://schemas.microsoft.com/office/powerpoint/2010/main" val="3695016811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ar​">
  <a:themeElements>
    <a:clrScheme name="Custom 9">
      <a:dk1>
        <a:srgbClr val="000000"/>
      </a:dk1>
      <a:lt1>
        <a:srgbClr val="FFFFFF"/>
      </a:lt1>
      <a:dk2>
        <a:srgbClr val="0F253E"/>
      </a:dk2>
      <a:lt2>
        <a:srgbClr val="E7E6E6"/>
      </a:lt2>
      <a:accent1>
        <a:srgbClr val="4472C4"/>
      </a:accent1>
      <a:accent2>
        <a:srgbClr val="B83803"/>
      </a:accent2>
      <a:accent3>
        <a:srgbClr val="DCD3CC"/>
      </a:accent3>
      <a:accent4>
        <a:srgbClr val="F79320"/>
      </a:accent4>
      <a:accent5>
        <a:srgbClr val="44668D"/>
      </a:accent5>
      <a:accent6>
        <a:srgbClr val="0F253E"/>
      </a:accent6>
      <a:hlink>
        <a:srgbClr val="AEC0D9"/>
      </a:hlink>
      <a:folHlink>
        <a:srgbClr val="B8390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659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6657802-EE7C-4486-8CE0-1329EE26792A}">
  <we:reference id="wa200010725" version="1.0.0.1" store="en-US" storeType="OMEX"/>
  <we:alternateReferences>
    <we:reference id="wa200010725" version="1.0.0.1" store="en-US" storeType="OMEX"/>
  </we:alternateReferences>
  <we:properties>
    <we:property name="claude.fileId" value="&quot;7ad3e2b9-775c-46bb-b06c-29a1f07e7a7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1600</Words>
  <Application>Microsoft Office PowerPoint</Application>
  <PresentationFormat>Panorámica</PresentationFormat>
  <Paragraphs>191</Paragraphs>
  <Slides>18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3" baseType="lpstr">
      <vt:lpstr>Mate</vt:lpstr>
      <vt:lpstr>Arial</vt:lpstr>
      <vt:lpstr>Arial Black</vt:lpstr>
      <vt:lpstr>Calibri</vt:lpstr>
      <vt:lpstr>Personalizar​</vt:lpstr>
      <vt:lpstr>Factores Predominantes en Hogares con Pobreza Multidimensional en la Región de Los Ríos (2017–2024)</vt:lpstr>
      <vt:lpstr>Índice</vt:lpstr>
      <vt:lpstr>Introducción</vt:lpstr>
      <vt:lpstr>Preguntas de investigación</vt:lpstr>
      <vt:lpstr>Solución</vt:lpstr>
      <vt:lpstr>Metodología aplicada</vt:lpstr>
      <vt:lpstr>Educación</vt:lpstr>
      <vt:lpstr>Vivienda y Habitabilidad</vt:lpstr>
      <vt:lpstr>Vivienda y Habitabilidad</vt:lpstr>
      <vt:lpstr>Composición del Hogar</vt:lpstr>
      <vt:lpstr>Empleos e Ingresos</vt:lpstr>
      <vt:lpstr>Empleos e Ingresos</vt:lpstr>
      <vt:lpstr>Análisis general</vt:lpstr>
      <vt:lpstr>Muestra del dashboard</vt:lpstr>
      <vt:lpstr>Modelos de IA: Random Forest</vt:lpstr>
      <vt:lpstr>Modelos de IA: Clustering Jerárquico</vt:lpstr>
      <vt:lpstr>Discusión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Fabián Reyes Tapia</dc:creator>
  <cp:lastModifiedBy>Javier Ramírez</cp:lastModifiedBy>
  <cp:revision>3</cp:revision>
  <dcterms:modified xsi:type="dcterms:W3CDTF">2026-06-29T15:06:43Z</dcterms:modified>
</cp:coreProperties>
</file>