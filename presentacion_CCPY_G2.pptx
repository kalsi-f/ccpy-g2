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2"/>
  </p:notesMasterIdLst>
  <p:sldIdLst>
    <p:sldId id="256" r:id="rId2"/>
    <p:sldId id="287" r:id="rId3"/>
    <p:sldId id="306" r:id="rId4"/>
    <p:sldId id="258" r:id="rId5"/>
    <p:sldId id="303" r:id="rId6"/>
    <p:sldId id="290" r:id="rId7"/>
    <p:sldId id="293" r:id="rId8"/>
    <p:sldId id="296" r:id="rId9"/>
    <p:sldId id="304" r:id="rId10"/>
    <p:sldId id="305" r:id="rId11"/>
  </p:sldIdLst>
  <p:sldSz cx="12192000" cy="6858000"/>
  <p:notesSz cx="6858000" cy="9144000"/>
  <p:embeddedFontLst>
    <p:embeddedFont>
      <p:font typeface="Arial Black" panose="020B0A04020102020204" pitchFamily="34" charset="0"/>
      <p:regular r:id="rId13"/>
      <p:bold r:id="rId14"/>
    </p:embeddedFont>
    <p:embeddedFont>
      <p:font typeface="Mate" panose="020B0604020202020204" charset="0"/>
      <p:regular r:id="rId15"/>
      <p: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pos="3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77" y="480"/>
      </p:cViewPr>
      <p:guideLst>
        <p:guide orient="horz" pos="1536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" name="Google Shape;5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 xmlns:p15="http://schemas.microsoft.com/office/powerpoint/2012/main">
        <p15:guide id="1" orient="horz" pos="2880">
          <p15:clr>
            <a:srgbClr val="F26B43"/>
          </p15:clr>
        </p15:guide>
        <p15:guide id="2" pos="2160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9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484497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10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20645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 con imagen">
  <p:cSld name="Diapositiva de título con imagen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" name="Google Shape;16;p2"/>
          <p:cNvCxnSpPr/>
          <p:nvPr/>
        </p:nvCxnSpPr>
        <p:spPr>
          <a:xfrm>
            <a:off x="1509005" y="4172084"/>
            <a:ext cx="0" cy="760288"/>
          </a:xfrm>
          <a:prstGeom prst="straightConnector1">
            <a:avLst/>
          </a:prstGeom>
          <a:noFill/>
          <a:ln w="19050" cap="flat" cmpd="sng">
            <a:solidFill>
              <a:srgbClr val="D844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" name="Google Shape;17;p2" descr="Haga clic en el icono para agregar una imagen"/>
          <p:cNvSpPr txBox="1">
            <a:spLocks noGrp="1"/>
          </p:cNvSpPr>
          <p:nvPr>
            <p:ph type="body" idx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0"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>
            <a:spLocks noGrp="1"/>
          </p:cNvSpPr>
          <p:nvPr>
            <p:ph type="pic" idx="2"/>
          </p:nvPr>
        </p:nvSpPr>
        <p:spPr>
          <a:xfrm>
            <a:off x="6742557" y="821836"/>
            <a:ext cx="4405503" cy="506634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9" name="Google Shape;19;p2"/>
          <p:cNvSpPr/>
          <p:nvPr/>
        </p:nvSpPr>
        <p:spPr>
          <a:xfrm>
            <a:off x="7441324" y="5568778"/>
            <a:ext cx="829927" cy="949454"/>
          </a:xfrm>
          <a:custGeom>
            <a:avLst/>
            <a:gdLst/>
            <a:ahLst/>
            <a:cxnLst/>
            <a:rect l="l" t="t" r="r" b="b"/>
            <a:pathLst>
              <a:path w="4398682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ontenido">
  <p:cSld name="Título y contenido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>
            <a:spLocks noGrp="1"/>
          </p:cNvSpPr>
          <p:nvPr>
            <p:ph type="chart" idx="2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ontenido con imagen">
  <p:cSld name="Título y contenido con imagen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>
            <a:spLocks noGrp="1"/>
          </p:cNvSpPr>
          <p:nvPr>
            <p:ph type="tbl" idx="2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10551278" y="4665388"/>
            <a:ext cx="603952" cy="681742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0524774" y="5146146"/>
            <a:ext cx="1667226" cy="1711855"/>
          </a:xfrm>
          <a:custGeom>
            <a:avLst/>
            <a:gdLst/>
            <a:ahLst/>
            <a:cxnLst/>
            <a:rect l="l" t="t" r="r" b="b"/>
            <a:pathLst>
              <a:path w="1667226" h="1711855" extrusionOk="0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0177285" y="5347130"/>
            <a:ext cx="748554" cy="856361"/>
          </a:xfrm>
          <a:custGeom>
            <a:avLst/>
            <a:gdLst/>
            <a:ahLst/>
            <a:cxnLst/>
            <a:rect l="l" t="t" r="r" b="b"/>
            <a:pathLst>
              <a:path w="4398682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FABE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ción">
  <p:cSld name="Introducció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8"/>
          <p:cNvSpPr txBox="1">
            <a:spLocks noGrp="1"/>
          </p:cNvSpPr>
          <p:nvPr>
            <p:ph type="body" idx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8"/>
          <p:cNvSpPr>
            <a:spLocks noGrp="1"/>
          </p:cNvSpPr>
          <p:nvPr>
            <p:ph type="pic" idx="2"/>
          </p:nvPr>
        </p:nvSpPr>
        <p:spPr>
          <a:xfrm>
            <a:off x="5745001" y="0"/>
            <a:ext cx="6446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8"/>
          <p:cNvSpPr txBox="1">
            <a:spLocks noGrp="1"/>
          </p:cNvSpPr>
          <p:nvPr>
            <p:ph type="ftr" idx="11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8"/>
          <p:cNvSpPr txBox="1"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la sección">
  <p:cSld name="Encabezado de la secció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 txBox="1"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/>
          <p:nvPr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 descr="Haga clic en el icono para agregar una imagen"/>
          <p:cNvSpPr txBox="1">
            <a:spLocks noGrp="1"/>
          </p:cNvSpPr>
          <p:nvPr>
            <p:ph type="body" idx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9"/>
          <p:cNvSpPr>
            <a:spLocks noGrp="1"/>
          </p:cNvSpPr>
          <p:nvPr>
            <p:ph type="pic" idx="2"/>
          </p:nvPr>
        </p:nvSpPr>
        <p:spPr>
          <a:xfrm>
            <a:off x="581710" y="555648"/>
            <a:ext cx="5045662" cy="578309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 ">
  <p:cSld name="Cita 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>
            <a:spLocks noGrp="1"/>
          </p:cNvSpPr>
          <p:nvPr>
            <p:ph type="title"/>
          </p:nvPr>
        </p:nvSpPr>
        <p:spPr>
          <a:xfrm>
            <a:off x="6099079" y="1856195"/>
            <a:ext cx="4518122" cy="1688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 sz="1500" b="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3843559" y="722518"/>
            <a:ext cx="1244907" cy="1405252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ADC0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1223929" y="1436914"/>
            <a:ext cx="2857005" cy="3269776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FCD3A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758702" y="3457554"/>
            <a:ext cx="1208037" cy="1381756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2917915" y="4662164"/>
            <a:ext cx="663381" cy="758922"/>
          </a:xfrm>
          <a:custGeom>
            <a:avLst/>
            <a:gdLst/>
            <a:ahLst/>
            <a:cxnLst/>
            <a:rect l="l" t="t" r="r" b="b"/>
            <a:pathLst>
              <a:path w="4398682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FEE8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08" name="Google Shape;108;p10"/>
          <p:cNvSpPr txBox="1">
            <a:spLocks noGrp="1"/>
          </p:cNvSpPr>
          <p:nvPr>
            <p:ph type="ftr" idx="11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0"/>
          <p:cNvSpPr txBox="1"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miembros del equipo">
  <p:cSld name="4 miembros del equipo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1"/>
          <p:cNvSpPr>
            <a:spLocks noGrp="1"/>
          </p:cNvSpPr>
          <p:nvPr>
            <p:ph type="pic" idx="2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noFill/>
          <a:ln>
            <a:noFill/>
          </a:ln>
        </p:spPr>
      </p:sp>
      <p:sp>
        <p:nvSpPr>
          <p:cNvPr id="113" name="Google Shape;113;p11" descr="Haga clic en el icono para agregar una imagen"/>
          <p:cNvSpPr txBox="1">
            <a:spLocks noGrp="1"/>
          </p:cNvSpPr>
          <p:nvPr>
            <p:ph type="body" idx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body" idx="3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1"/>
          <p:cNvSpPr>
            <a:spLocks noGrp="1"/>
          </p:cNvSpPr>
          <p:nvPr>
            <p:ph type="pic" idx="4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noFill/>
          <a:ln>
            <a:noFill/>
          </a:ln>
        </p:spPr>
      </p:sp>
      <p:sp>
        <p:nvSpPr>
          <p:cNvPr id="116" name="Google Shape;116;p11" descr="Haga clic en el icono para agregar una imagen"/>
          <p:cNvSpPr txBox="1">
            <a:spLocks noGrp="1"/>
          </p:cNvSpPr>
          <p:nvPr>
            <p:ph type="body" idx="5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6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1"/>
          <p:cNvSpPr>
            <a:spLocks noGrp="1"/>
          </p:cNvSpPr>
          <p:nvPr>
            <p:ph type="pic" idx="7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noFill/>
          <a:ln>
            <a:noFill/>
          </a:ln>
        </p:spPr>
      </p:sp>
      <p:sp>
        <p:nvSpPr>
          <p:cNvPr id="119" name="Google Shape;119;p11" descr="Haga clic en el icono para agregar una imagen"/>
          <p:cNvSpPr txBox="1">
            <a:spLocks noGrp="1"/>
          </p:cNvSpPr>
          <p:nvPr>
            <p:ph type="body" idx="8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9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>
            <a:spLocks noGrp="1"/>
          </p:cNvSpPr>
          <p:nvPr>
            <p:ph type="pic" idx="13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noFill/>
          <a:ln>
            <a:noFill/>
          </a:ln>
        </p:spPr>
      </p:sp>
      <p:sp>
        <p:nvSpPr>
          <p:cNvPr id="122" name="Google Shape;122;p11" descr="Haga clic en el icono para agregar una imagen"/>
          <p:cNvSpPr txBox="1">
            <a:spLocks noGrp="1"/>
          </p:cNvSpPr>
          <p:nvPr>
            <p:ph type="body" idx="14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1"/>
          <p:cNvSpPr txBox="1">
            <a:spLocks noGrp="1"/>
          </p:cNvSpPr>
          <p:nvPr>
            <p:ph type="body" idx="15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1"/>
          <p:cNvSpPr txBox="1">
            <a:spLocks noGrp="1"/>
          </p:cNvSpPr>
          <p:nvPr>
            <p:ph type="ftr" idx="11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1"/>
          <p:cNvSpPr txBox="1"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miembros del equipo">
  <p:cSld name="8 miembros del equipo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/>
          <p:cNvSpPr txBox="1"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2"/>
          <p:cNvSpPr>
            <a:spLocks noGrp="1"/>
          </p:cNvSpPr>
          <p:nvPr>
            <p:ph type="pic" idx="2"/>
          </p:nvPr>
        </p:nvSpPr>
        <p:spPr>
          <a:xfrm>
            <a:off x="4269796" y="436455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12" descr="Haga clic en el icono para agregar una imagen"/>
          <p:cNvSpPr txBox="1">
            <a:spLocks noGrp="1"/>
          </p:cNvSpPr>
          <p:nvPr>
            <p:ph type="body" idx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2"/>
          <p:cNvSpPr txBox="1">
            <a:spLocks noGrp="1"/>
          </p:cNvSpPr>
          <p:nvPr>
            <p:ph type="body" idx="3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12"/>
          <p:cNvSpPr>
            <a:spLocks noGrp="1"/>
          </p:cNvSpPr>
          <p:nvPr>
            <p:ph type="pic" idx="4"/>
          </p:nvPr>
        </p:nvSpPr>
        <p:spPr>
          <a:xfrm>
            <a:off x="8059916" y="436455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12" descr="Haga clic en el icono para agregar una imagen"/>
          <p:cNvSpPr txBox="1">
            <a:spLocks noGrp="1"/>
          </p:cNvSpPr>
          <p:nvPr>
            <p:ph type="body" idx="5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2"/>
          <p:cNvSpPr txBox="1">
            <a:spLocks noGrp="1"/>
          </p:cNvSpPr>
          <p:nvPr>
            <p:ph type="body" idx="6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2"/>
          <p:cNvSpPr>
            <a:spLocks noGrp="1"/>
          </p:cNvSpPr>
          <p:nvPr>
            <p:ph type="pic" idx="7"/>
          </p:nvPr>
        </p:nvSpPr>
        <p:spPr>
          <a:xfrm>
            <a:off x="4269796" y="2004222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2" descr="Haga clic en el icono para agregar una imagen"/>
          <p:cNvSpPr txBox="1">
            <a:spLocks noGrp="1"/>
          </p:cNvSpPr>
          <p:nvPr>
            <p:ph type="body" idx="8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2"/>
          <p:cNvSpPr txBox="1">
            <a:spLocks noGrp="1"/>
          </p:cNvSpPr>
          <p:nvPr>
            <p:ph type="body" idx="9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12"/>
          <p:cNvSpPr>
            <a:spLocks noGrp="1"/>
          </p:cNvSpPr>
          <p:nvPr>
            <p:ph type="pic" idx="13"/>
          </p:nvPr>
        </p:nvSpPr>
        <p:spPr>
          <a:xfrm>
            <a:off x="8059916" y="2004222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2" descr="Haga clic en el icono para agregar una imagen"/>
          <p:cNvSpPr txBox="1">
            <a:spLocks noGrp="1"/>
          </p:cNvSpPr>
          <p:nvPr>
            <p:ph type="body" idx="14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12"/>
          <p:cNvSpPr txBox="1">
            <a:spLocks noGrp="1"/>
          </p:cNvSpPr>
          <p:nvPr>
            <p:ph type="body" idx="15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12"/>
          <p:cNvSpPr>
            <a:spLocks noGrp="1"/>
          </p:cNvSpPr>
          <p:nvPr>
            <p:ph type="pic" idx="16"/>
          </p:nvPr>
        </p:nvSpPr>
        <p:spPr>
          <a:xfrm>
            <a:off x="4269796" y="3571991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2" descr="Haga clic en el icono para agregar una imagen"/>
          <p:cNvSpPr txBox="1">
            <a:spLocks noGrp="1"/>
          </p:cNvSpPr>
          <p:nvPr>
            <p:ph type="body" idx="17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2"/>
          <p:cNvSpPr txBox="1">
            <a:spLocks noGrp="1"/>
          </p:cNvSpPr>
          <p:nvPr>
            <p:ph type="body" idx="18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2"/>
          <p:cNvSpPr>
            <a:spLocks noGrp="1"/>
          </p:cNvSpPr>
          <p:nvPr>
            <p:ph type="pic" idx="19"/>
          </p:nvPr>
        </p:nvSpPr>
        <p:spPr>
          <a:xfrm>
            <a:off x="8059916" y="3571991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12" descr="Haga clic en el icono para agregar una imagen"/>
          <p:cNvSpPr txBox="1">
            <a:spLocks noGrp="1"/>
          </p:cNvSpPr>
          <p:nvPr>
            <p:ph type="body" idx="20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2"/>
          <p:cNvSpPr txBox="1">
            <a:spLocks noGrp="1"/>
          </p:cNvSpPr>
          <p:nvPr>
            <p:ph type="body" idx="2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2"/>
          <p:cNvSpPr>
            <a:spLocks noGrp="1"/>
          </p:cNvSpPr>
          <p:nvPr>
            <p:ph type="pic" idx="22"/>
          </p:nvPr>
        </p:nvSpPr>
        <p:spPr>
          <a:xfrm>
            <a:off x="4269796" y="5153614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12" descr="Haga clic en el icono para agregar una imagen"/>
          <p:cNvSpPr txBox="1">
            <a:spLocks noGrp="1"/>
          </p:cNvSpPr>
          <p:nvPr>
            <p:ph type="body" idx="23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body" idx="24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2"/>
          <p:cNvSpPr>
            <a:spLocks noGrp="1"/>
          </p:cNvSpPr>
          <p:nvPr>
            <p:ph type="pic" idx="25"/>
          </p:nvPr>
        </p:nvSpPr>
        <p:spPr>
          <a:xfrm>
            <a:off x="8059916" y="5153614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12" descr="Haga clic en el icono para agregar una imagen"/>
          <p:cNvSpPr txBox="1">
            <a:spLocks noGrp="1"/>
          </p:cNvSpPr>
          <p:nvPr>
            <p:ph type="body" idx="26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2"/>
          <p:cNvSpPr txBox="1">
            <a:spLocks noGrp="1"/>
          </p:cNvSpPr>
          <p:nvPr>
            <p:ph type="body" idx="27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2"/>
          <p:cNvSpPr txBox="1">
            <a:spLocks noGrp="1"/>
          </p:cNvSpPr>
          <p:nvPr>
            <p:ph type="ftr" idx="11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2"/>
          <p:cNvSpPr txBox="1"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r>
              <a:rPr lang="es-ES"/>
              <a:t> de 11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scala de tiempo">
  <p:cSld name="Escala de tiempo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/>
          <p:nvPr/>
        </p:nvSpPr>
        <p:spPr>
          <a:xfrm>
            <a:off x="1295508" y="3039919"/>
            <a:ext cx="2375255" cy="2734936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3670763" y="1677046"/>
            <a:ext cx="2375255" cy="2734936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4865676" y="3722308"/>
            <a:ext cx="2375255" cy="2734936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7245668" y="3725411"/>
            <a:ext cx="2375255" cy="2734936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8440729" y="1677046"/>
            <a:ext cx="2375255" cy="2734936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1274779" y="1667026"/>
            <a:ext cx="7152768" cy="2736950"/>
          </a:xfrm>
          <a:custGeom>
            <a:avLst/>
            <a:gdLst/>
            <a:ahLst/>
            <a:cxnLst/>
            <a:rect l="l" t="t" r="r" b="b"/>
            <a:pathLst>
              <a:path w="7152768" h="2736950" extrusionOk="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>
            <a:solidFill>
              <a:srgbClr val="D9E5F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8440979" y="1677475"/>
            <a:ext cx="2373549" cy="2062264"/>
          </a:xfrm>
          <a:custGeom>
            <a:avLst/>
            <a:gdLst/>
            <a:ahLst/>
            <a:cxnLst/>
            <a:rect l="l" t="t" r="r" b="b"/>
            <a:pathLst>
              <a:path w="2373549" h="2062264" extrusionOk="0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>
            <a:solidFill>
              <a:srgbClr val="D9E5F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2" name="Google Shape;162;p13"/>
          <p:cNvSpPr/>
          <p:nvPr/>
        </p:nvSpPr>
        <p:spPr>
          <a:xfrm flipH="1">
            <a:off x="10715501" y="2243467"/>
            <a:ext cx="204312" cy="236468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3" name="Google Shape;163;p13"/>
          <p:cNvSpPr/>
          <p:nvPr/>
        </p:nvSpPr>
        <p:spPr>
          <a:xfrm flipH="1">
            <a:off x="9534557" y="1571099"/>
            <a:ext cx="204312" cy="236468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4" name="Google Shape;164;p13"/>
          <p:cNvSpPr/>
          <p:nvPr/>
        </p:nvSpPr>
        <p:spPr>
          <a:xfrm flipH="1">
            <a:off x="8328171" y="2258376"/>
            <a:ext cx="204312" cy="236468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5" name="Google Shape;165;p13"/>
          <p:cNvSpPr/>
          <p:nvPr/>
        </p:nvSpPr>
        <p:spPr>
          <a:xfrm flipH="1">
            <a:off x="8333460" y="3610854"/>
            <a:ext cx="204312" cy="236468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6" name="Google Shape;166;p13"/>
          <p:cNvSpPr/>
          <p:nvPr/>
        </p:nvSpPr>
        <p:spPr>
          <a:xfrm flipH="1">
            <a:off x="7146016" y="4290860"/>
            <a:ext cx="204312" cy="236468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7" name="Google Shape;167;p13"/>
          <p:cNvSpPr/>
          <p:nvPr/>
        </p:nvSpPr>
        <p:spPr>
          <a:xfrm flipH="1">
            <a:off x="5937847" y="3613390"/>
            <a:ext cx="204312" cy="236468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8" name="Google Shape;168;p13"/>
          <p:cNvSpPr/>
          <p:nvPr/>
        </p:nvSpPr>
        <p:spPr>
          <a:xfrm flipH="1">
            <a:off x="5951993" y="2251300"/>
            <a:ext cx="204312" cy="236468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9" name="Google Shape;169;p13"/>
          <p:cNvSpPr/>
          <p:nvPr/>
        </p:nvSpPr>
        <p:spPr>
          <a:xfrm flipH="1">
            <a:off x="4778156" y="1565771"/>
            <a:ext cx="204312" cy="236468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70" name="Google Shape;170;p13"/>
          <p:cNvSpPr/>
          <p:nvPr/>
        </p:nvSpPr>
        <p:spPr>
          <a:xfrm flipH="1">
            <a:off x="3565843" y="2247823"/>
            <a:ext cx="204312" cy="236468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71" name="Google Shape;171;p13"/>
          <p:cNvSpPr/>
          <p:nvPr/>
        </p:nvSpPr>
        <p:spPr>
          <a:xfrm flipH="1">
            <a:off x="3565952" y="3613390"/>
            <a:ext cx="204312" cy="236468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72" name="Google Shape;172;p13"/>
          <p:cNvSpPr/>
          <p:nvPr/>
        </p:nvSpPr>
        <p:spPr>
          <a:xfrm flipH="1">
            <a:off x="2386318" y="2962784"/>
            <a:ext cx="204312" cy="236468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73" name="Google Shape;173;p13"/>
          <p:cNvSpPr/>
          <p:nvPr/>
        </p:nvSpPr>
        <p:spPr>
          <a:xfrm flipH="1">
            <a:off x="1190302" y="3612210"/>
            <a:ext cx="204312" cy="236468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74" name="Google Shape;174;p13" descr="Haga clic en el icono para agregar una imagen"/>
          <p:cNvSpPr txBox="1">
            <a:spLocks noGrp="1"/>
          </p:cNvSpPr>
          <p:nvPr>
            <p:ph type="body" idx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body" idx="2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13" descr="Haga clic en el icono para agregar una imagen"/>
          <p:cNvSpPr txBox="1">
            <a:spLocks noGrp="1"/>
          </p:cNvSpPr>
          <p:nvPr>
            <p:ph type="body" idx="3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body" idx="4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13" descr="Haga clic en el icono para agregar una imagen"/>
          <p:cNvSpPr txBox="1">
            <a:spLocks noGrp="1"/>
          </p:cNvSpPr>
          <p:nvPr>
            <p:ph type="body" idx="5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body" idx="6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13" descr="Haga clic en el icono para agregar una imagen"/>
          <p:cNvSpPr txBox="1">
            <a:spLocks noGrp="1"/>
          </p:cNvSpPr>
          <p:nvPr>
            <p:ph type="body" idx="7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body" idx="8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13" descr="Haga clic en el icono para agregar una imagen"/>
          <p:cNvSpPr txBox="1">
            <a:spLocks noGrp="1"/>
          </p:cNvSpPr>
          <p:nvPr>
            <p:ph type="body" idx="9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13"/>
          <p:cNvSpPr txBox="1">
            <a:spLocks noGrp="1"/>
          </p:cNvSpPr>
          <p:nvPr>
            <p:ph type="body" idx="13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ftr" idx="11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umen">
  <p:cSld name="Resumen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>
            <a:spLocks noGrp="1"/>
          </p:cNvSpPr>
          <p:nvPr>
            <p:ph type="pic" idx="2"/>
          </p:nvPr>
        </p:nvSpPr>
        <p:spPr>
          <a:xfrm>
            <a:off x="7493157" y="529148"/>
            <a:ext cx="4248873" cy="473113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6"/>
          <p:cNvSpPr txBox="1">
            <a:spLocks noGrp="1"/>
          </p:cNvSpPr>
          <p:nvPr>
            <p:ph type="body" idx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16"/>
          <p:cNvSpPr/>
          <p:nvPr/>
        </p:nvSpPr>
        <p:spPr>
          <a:xfrm flipH="1">
            <a:off x="7400972" y="4508725"/>
            <a:ext cx="1347680" cy="1581179"/>
          </a:xfrm>
          <a:custGeom>
            <a:avLst/>
            <a:gdLst/>
            <a:ahLst/>
            <a:cxnLst/>
            <a:rect l="l" t="t" r="r" b="b"/>
            <a:pathLst>
              <a:path w="4387647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>
            <a:solidFill>
              <a:srgbClr val="FABE7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6521016" y="4772906"/>
            <a:ext cx="663381" cy="758922"/>
          </a:xfrm>
          <a:custGeom>
            <a:avLst/>
            <a:gdLst/>
            <a:ahLst/>
            <a:cxnLst/>
            <a:rect l="l" t="t" r="r" b="b"/>
            <a:pathLst>
              <a:path w="4398682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218" name="Google Shape;218;p16"/>
          <p:cNvSpPr txBox="1"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6"/>
          <p:cNvSpPr txBox="1">
            <a:spLocks noGrp="1"/>
          </p:cNvSpPr>
          <p:nvPr>
            <p:ph type="ftr" idx="11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6"/>
          <p:cNvSpPr txBox="1"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cias">
  <p:cSld name="Gracias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/>
          <p:nvPr/>
        </p:nvSpPr>
        <p:spPr>
          <a:xfrm>
            <a:off x="410352" y="12435"/>
            <a:ext cx="1455521" cy="1019127"/>
          </a:xfrm>
          <a:custGeom>
            <a:avLst/>
            <a:gdLst/>
            <a:ahLst/>
            <a:cxnLst/>
            <a:rect l="l" t="t" r="r" b="b"/>
            <a:pathLst>
              <a:path w="1455521" h="1019127" extrusionOk="0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rgbClr val="FABE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rgbClr val="FABE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3955762" y="5952136"/>
            <a:ext cx="1455521" cy="932559"/>
          </a:xfrm>
          <a:custGeom>
            <a:avLst/>
            <a:gdLst/>
            <a:ahLst/>
            <a:cxnLst/>
            <a:rect l="l" t="t" r="r" b="b"/>
            <a:pathLst>
              <a:path w="1455521" h="932559" extrusionOk="0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rgbClr val="334C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3702" y="448131"/>
            <a:ext cx="678871" cy="1266696"/>
          </a:xfrm>
          <a:custGeom>
            <a:avLst/>
            <a:gdLst/>
            <a:ahLst/>
            <a:cxnLst/>
            <a:rect l="l" t="t" r="r" b="b"/>
            <a:pathLst>
              <a:path w="678871" h="1266696" extrusionOk="0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 cap="flat" cmpd="sng">
            <a:solidFill>
              <a:srgbClr val="FABE7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6334981" y="5962237"/>
            <a:ext cx="1455521" cy="901561"/>
          </a:xfrm>
          <a:custGeom>
            <a:avLst/>
            <a:gdLst/>
            <a:ahLst/>
            <a:cxnLst/>
            <a:rect l="l" t="t" r="r" b="b"/>
            <a:pathLst>
              <a:path w="1455521" h="901561" extrusionOk="0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7"/>
          <p:cNvSpPr>
            <a:spLocks noGrp="1"/>
          </p:cNvSpPr>
          <p:nvPr>
            <p:ph type="pic" idx="2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noFill/>
          <a:ln>
            <a:noFill/>
          </a:ln>
        </p:spPr>
      </p:sp>
      <p:sp>
        <p:nvSpPr>
          <p:cNvPr id="234" name="Google Shape;234;p17"/>
          <p:cNvSpPr>
            <a:spLocks noGrp="1"/>
          </p:cNvSpPr>
          <p:nvPr>
            <p:ph type="pic" idx="3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noFill/>
          <a:ln>
            <a:noFill/>
          </a:ln>
        </p:spPr>
      </p:sp>
      <p:sp>
        <p:nvSpPr>
          <p:cNvPr id="235" name="Google Shape;235;p17"/>
          <p:cNvSpPr>
            <a:spLocks noGrp="1"/>
          </p:cNvSpPr>
          <p:nvPr>
            <p:ph type="pic" idx="4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noFill/>
          <a:ln>
            <a:noFill/>
          </a:ln>
        </p:spPr>
      </p:sp>
      <p:sp>
        <p:nvSpPr>
          <p:cNvPr id="236" name="Google Shape;236;p17"/>
          <p:cNvSpPr>
            <a:spLocks noGrp="1"/>
          </p:cNvSpPr>
          <p:nvPr>
            <p:ph type="pic" idx="5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noFill/>
          <a:ln>
            <a:noFill/>
          </a:ln>
        </p:spPr>
      </p:sp>
      <p:sp>
        <p:nvSpPr>
          <p:cNvPr id="237" name="Google Shape;237;p17" descr="Haga clic en el icono para agregar una imagen"/>
          <p:cNvSpPr txBox="1">
            <a:spLocks noGrp="1"/>
          </p:cNvSpPr>
          <p:nvPr>
            <p:ph type="body" idx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0"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marL="13716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4pPr>
            <a:lvl5pPr marL="2286000" lvl="4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•"/>
              <a:defRPr sz="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17"/>
          <p:cNvSpPr txBox="1"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-6538" y="1815084"/>
            <a:ext cx="697438" cy="1266696"/>
          </a:xfrm>
          <a:custGeom>
            <a:avLst/>
            <a:gdLst/>
            <a:ahLst/>
            <a:cxnLst/>
            <a:rect l="l" t="t" r="r" b="b"/>
            <a:pathLst>
              <a:path w="697438" h="1266696" extrusionOk="0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 cap="flat" cmpd="sng">
            <a:solidFill>
              <a:srgbClr val="D5DFE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lumn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arcador de posición del contenido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0" name="Marcador de posición del contenido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1" name="Marcador de posición del contenido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3" name="Marcador de posición del contenido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7" name="Marcador de posición del contenido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7" name="Marcador de posición del contenido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4" name="Marcador de título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5" name="Marcador de posición del contenido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6" name="Marcador de posición del contenido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8" name="Marcador de posición del contenido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9" name="Marcador de posición del contenido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  <a:endParaRPr lang="es-ES" noProof="0" dirty="0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51382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 columnas con ico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: Forma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5" name="Forma libre: Forma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6" name="Forma libre: Forma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7" name="Forma libre: Forma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3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2" name="Marcador de posición del contenido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4" name="Marcador de posición del contenido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6" name="Marcador de posición del contenido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8" name="Marcador de posición del contenido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0" name="Marcador de posición del contenido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41" name="Marcador de posición del contenido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2" name="Marcador de posición del contenido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3" name="Marcador de posición del contenido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4" name="Marcador de posición del contenido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5" name="Marcador de posición del contenido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25" name="Marcador de título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1647461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2" r:id="rId10"/>
    <p:sldLayoutId id="2147483663" r:id="rId11"/>
    <p:sldLayoutId id="2147483665" r:id="rId12"/>
    <p:sldLayoutId id="2147483666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2" pos="3840">
          <p15:clr>
            <a:srgbClr val="F26B43"/>
          </p15:clr>
        </p15:guide>
        <p15:guide id="3" pos="5640">
          <p15:clr>
            <a:srgbClr val="F26B43"/>
          </p15:clr>
        </p15:guide>
        <p15:guide id="4" pos="1656">
          <p15:clr>
            <a:srgbClr val="F26B43"/>
          </p15:clr>
        </p15:guide>
        <p15:guide id="5" pos="5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"/>
          <p:cNvSpPr txBox="1">
            <a:spLocks noGrp="1"/>
          </p:cNvSpPr>
          <p:nvPr>
            <p:ph type="title"/>
          </p:nvPr>
        </p:nvSpPr>
        <p:spPr>
          <a:xfrm>
            <a:off x="368968" y="1967271"/>
            <a:ext cx="5521299" cy="2057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rial Black"/>
              <a:buNone/>
            </a:pPr>
            <a:r>
              <a:rPr lang="es-ES" sz="30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Factores Predominantes en Hogares con Pobreza Multidimensional en la Región de Los Ríos (2017–2024)</a:t>
            </a:r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body" idx="1"/>
          </p:nvPr>
        </p:nvSpPr>
        <p:spPr>
          <a:xfrm>
            <a:off x="1524529" y="4113817"/>
            <a:ext cx="2469956" cy="205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Cristóbal Espinoza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Vicente Paredes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Javier Ramírez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Fabián Reyes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Profesor: Luis Veas C.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9857505" y="838985"/>
            <a:ext cx="1637958" cy="1873859"/>
          </a:xfrm>
          <a:custGeom>
            <a:avLst/>
            <a:gdLst/>
            <a:ahLst/>
            <a:cxnLst/>
            <a:rect l="l" t="t" r="r" b="b"/>
            <a:pathLst>
              <a:path w="4398682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>
            <a:solidFill>
              <a:srgbClr val="4D8C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5974436" y="3694919"/>
            <a:ext cx="1637958" cy="1873859"/>
          </a:xfrm>
          <a:custGeom>
            <a:avLst/>
            <a:gdLst/>
            <a:ahLst/>
            <a:cxnLst/>
            <a:rect l="l" t="t" r="r" b="b"/>
            <a:pathLst>
              <a:path w="4398682" h="5032188" extrusionOk="0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FABE7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pic>
        <p:nvPicPr>
          <p:cNvPr id="249" name="Google Shape;24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4758" y="1289222"/>
            <a:ext cx="4956737" cy="423575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196"/>
              </a:srgbClr>
            </a:outerShdw>
          </a:effectLst>
        </p:spPr>
      </p:pic>
      <p:sp>
        <p:nvSpPr>
          <p:cNvPr id="250" name="Google Shape;250;p18"/>
          <p:cNvSpPr txBox="1"/>
          <p:nvPr/>
        </p:nvSpPr>
        <p:spPr>
          <a:xfrm>
            <a:off x="368968" y="1601167"/>
            <a:ext cx="266580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Computación Científica con Python</a:t>
            </a:r>
            <a:endParaRPr/>
          </a:p>
        </p:txBody>
      </p:sp>
      <p:pic>
        <p:nvPicPr>
          <p:cNvPr id="251" name="Google Shape;2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453" y="632901"/>
            <a:ext cx="2665805" cy="61580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D041C-5B36-F4A0-4653-228349736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Índice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5FCD2C-441B-A85A-4957-2BC3AA2AF5D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 de 10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E85760A-3F20-4554-A4CA-D69C0A163C21}"/>
              </a:ext>
            </a:extLst>
          </p:cNvPr>
          <p:cNvSpPr txBox="1"/>
          <p:nvPr/>
        </p:nvSpPr>
        <p:spPr>
          <a:xfrm>
            <a:off x="482600" y="6217920"/>
            <a:ext cx="4064000" cy="36576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200">
                <a:solidFill>
                  <a:srgbClr val="0F253E"/>
                </a:solidFill>
              </a:rPr>
              <a:t>PMD en la Región de Los Ríos</a:t>
            </a:r>
            <a:endParaRPr lang="es-CL" sz="1200">
              <a:solidFill>
                <a:srgbClr val="0F253E"/>
              </a:solidFill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CA9E3293-402F-4F6B-A06C-3B1E5CCAFF91}"/>
              </a:ext>
            </a:extLst>
          </p:cNvPr>
          <p:cNvSpPr/>
          <p:nvPr/>
        </p:nvSpPr>
        <p:spPr>
          <a:xfrm>
            <a:off x="889000" y="1968500"/>
            <a:ext cx="508000" cy="444500"/>
          </a:xfrm>
          <a:prstGeom prst="ellipse">
            <a:avLst/>
          </a:prstGeom>
          <a:solidFill>
            <a:srgbClr val="B8380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just"/>
            <a:r>
              <a:rPr lang="es-CL" sz="18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AADDC32C-3A07-4D50-8E34-D2AB15F709A4}"/>
              </a:ext>
            </a:extLst>
          </p:cNvPr>
          <p:cNvSpPr/>
          <p:nvPr/>
        </p:nvSpPr>
        <p:spPr>
          <a:xfrm>
            <a:off x="889000" y="1968500"/>
            <a:ext cx="508000" cy="508000"/>
          </a:xfrm>
          <a:prstGeom prst="ellipse">
            <a:avLst/>
          </a:prstGeom>
          <a:solidFill>
            <a:srgbClr val="B8380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CL" sz="18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AF14E2F-60A4-4D91-B915-20884CBD95A0}"/>
              </a:ext>
            </a:extLst>
          </p:cNvPr>
          <p:cNvSpPr txBox="1"/>
          <p:nvPr/>
        </p:nvSpPr>
        <p:spPr>
          <a:xfrm>
            <a:off x="1549400" y="1968500"/>
            <a:ext cx="4445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L" sz="1700" b="1">
                <a:solidFill>
                  <a:srgbClr val="0F253E"/>
                </a:solidFill>
              </a:rPr>
              <a:t>Introducción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DFB4AD9A-B052-4DA2-9C60-C16523040E62}"/>
              </a:ext>
            </a:extLst>
          </p:cNvPr>
          <p:cNvSpPr/>
          <p:nvPr/>
        </p:nvSpPr>
        <p:spPr>
          <a:xfrm>
            <a:off x="889000" y="2984500"/>
            <a:ext cx="508000" cy="508000"/>
          </a:xfrm>
          <a:prstGeom prst="ellipse">
            <a:avLst/>
          </a:prstGeom>
          <a:solidFill>
            <a:srgbClr val="B8380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CL" sz="1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D24B2EE-C9C2-4BA6-955E-24F5C3672402}"/>
              </a:ext>
            </a:extLst>
          </p:cNvPr>
          <p:cNvSpPr txBox="1"/>
          <p:nvPr/>
        </p:nvSpPr>
        <p:spPr>
          <a:xfrm>
            <a:off x="1549400" y="2984500"/>
            <a:ext cx="4445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L" sz="1700" b="1">
                <a:solidFill>
                  <a:srgbClr val="0F253E"/>
                </a:solidFill>
              </a:rPr>
              <a:t>Preguntas de investigación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643A8002-A8E6-4DB5-8499-C90A5291A81F}"/>
              </a:ext>
            </a:extLst>
          </p:cNvPr>
          <p:cNvSpPr/>
          <p:nvPr/>
        </p:nvSpPr>
        <p:spPr>
          <a:xfrm>
            <a:off x="889000" y="4000500"/>
            <a:ext cx="508000" cy="508000"/>
          </a:xfrm>
          <a:prstGeom prst="ellipse">
            <a:avLst/>
          </a:prstGeom>
          <a:solidFill>
            <a:srgbClr val="B8380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CL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13BCAEE-C4EE-4068-9519-C8D5D09F5171}"/>
              </a:ext>
            </a:extLst>
          </p:cNvPr>
          <p:cNvSpPr txBox="1"/>
          <p:nvPr/>
        </p:nvSpPr>
        <p:spPr>
          <a:xfrm>
            <a:off x="1549400" y="4000500"/>
            <a:ext cx="4445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L" sz="1700" b="1">
                <a:solidFill>
                  <a:srgbClr val="0F253E"/>
                </a:solidFill>
              </a:rPr>
              <a:t>Solución propuesta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A76A3FA1-6FC5-4B40-BE1C-18E1A7066BD5}"/>
              </a:ext>
            </a:extLst>
          </p:cNvPr>
          <p:cNvSpPr/>
          <p:nvPr/>
        </p:nvSpPr>
        <p:spPr>
          <a:xfrm>
            <a:off x="889000" y="5016500"/>
            <a:ext cx="508000" cy="508000"/>
          </a:xfrm>
          <a:prstGeom prst="ellipse">
            <a:avLst/>
          </a:prstGeom>
          <a:solidFill>
            <a:srgbClr val="B8380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CL" sz="1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7CCD3D8-BFA2-4F04-B389-47CE507EB36D}"/>
              </a:ext>
            </a:extLst>
          </p:cNvPr>
          <p:cNvSpPr txBox="1"/>
          <p:nvPr/>
        </p:nvSpPr>
        <p:spPr>
          <a:xfrm>
            <a:off x="1549400" y="5016500"/>
            <a:ext cx="4445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L" sz="1700" b="1">
                <a:solidFill>
                  <a:srgbClr val="0F253E"/>
                </a:solidFill>
              </a:rPr>
              <a:t>Metodología aplicada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6E47C136-AF20-4076-A6ED-4D29EE649833}"/>
              </a:ext>
            </a:extLst>
          </p:cNvPr>
          <p:cNvSpPr/>
          <p:nvPr/>
        </p:nvSpPr>
        <p:spPr>
          <a:xfrm>
            <a:off x="6604000" y="1968500"/>
            <a:ext cx="508000" cy="508000"/>
          </a:xfrm>
          <a:prstGeom prst="ellipse">
            <a:avLst/>
          </a:prstGeom>
          <a:solidFill>
            <a:srgbClr val="B8380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CL" sz="18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CA86210-8385-47BB-9C4F-923630EBF351}"/>
              </a:ext>
            </a:extLst>
          </p:cNvPr>
          <p:cNvSpPr txBox="1"/>
          <p:nvPr/>
        </p:nvSpPr>
        <p:spPr>
          <a:xfrm>
            <a:off x="7264400" y="1968500"/>
            <a:ext cx="4445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L" sz="1700" b="1">
                <a:solidFill>
                  <a:srgbClr val="0F253E"/>
                </a:solidFill>
              </a:rPr>
              <a:t>Análisis general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F99B2B76-92DF-44AC-BA2F-695671A470D1}"/>
              </a:ext>
            </a:extLst>
          </p:cNvPr>
          <p:cNvSpPr/>
          <p:nvPr/>
        </p:nvSpPr>
        <p:spPr>
          <a:xfrm>
            <a:off x="6604000" y="2984500"/>
            <a:ext cx="508000" cy="508000"/>
          </a:xfrm>
          <a:prstGeom prst="ellipse">
            <a:avLst/>
          </a:prstGeom>
          <a:solidFill>
            <a:srgbClr val="B8380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CL" sz="1800" b="1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EFD97F9-8ABF-448B-BC41-6E7D129401D2}"/>
              </a:ext>
            </a:extLst>
          </p:cNvPr>
          <p:cNvSpPr txBox="1"/>
          <p:nvPr/>
        </p:nvSpPr>
        <p:spPr>
          <a:xfrm>
            <a:off x="7264400" y="2984500"/>
            <a:ext cx="4445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L" sz="1700" b="1">
                <a:solidFill>
                  <a:srgbClr val="0F253E"/>
                </a:solidFill>
              </a:rPr>
              <a:t>Muestra del dashboard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21E686C7-8A30-4C1B-AD15-E7C603FDE20A}"/>
              </a:ext>
            </a:extLst>
          </p:cNvPr>
          <p:cNvSpPr/>
          <p:nvPr/>
        </p:nvSpPr>
        <p:spPr>
          <a:xfrm>
            <a:off x="6604000" y="4000500"/>
            <a:ext cx="508000" cy="508000"/>
          </a:xfrm>
          <a:prstGeom prst="ellipse">
            <a:avLst/>
          </a:prstGeom>
          <a:solidFill>
            <a:srgbClr val="B8380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CL" sz="1800" b="1">
                <a:solidFill>
                  <a:srgbClr val="FFFFFF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53F3C7D3-1811-4947-B65A-885362F02468}"/>
              </a:ext>
            </a:extLst>
          </p:cNvPr>
          <p:cNvSpPr txBox="1"/>
          <p:nvPr/>
        </p:nvSpPr>
        <p:spPr>
          <a:xfrm>
            <a:off x="7264400" y="4000500"/>
            <a:ext cx="4445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L" sz="1700" b="1">
                <a:solidFill>
                  <a:srgbClr val="0F253E"/>
                </a:solidFill>
              </a:rPr>
              <a:t>Discusión de resultados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0994BA3B-3C8F-4050-AC4E-EF07691AB5EC}"/>
              </a:ext>
            </a:extLst>
          </p:cNvPr>
          <p:cNvSpPr/>
          <p:nvPr/>
        </p:nvSpPr>
        <p:spPr>
          <a:xfrm>
            <a:off x="6604000" y="5016500"/>
            <a:ext cx="508000" cy="508000"/>
          </a:xfrm>
          <a:prstGeom prst="ellipse">
            <a:avLst/>
          </a:prstGeom>
          <a:solidFill>
            <a:srgbClr val="B8380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CL" sz="1800" b="1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ECE9809-6711-4280-96BB-A24D16B99F82}"/>
              </a:ext>
            </a:extLst>
          </p:cNvPr>
          <p:cNvSpPr txBox="1"/>
          <p:nvPr/>
        </p:nvSpPr>
        <p:spPr>
          <a:xfrm>
            <a:off x="7264400" y="5016500"/>
            <a:ext cx="4445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L" sz="1700" b="1">
                <a:solidFill>
                  <a:srgbClr val="0F253E"/>
                </a:solidFill>
              </a:rPr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172548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 txBox="1"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s-ES"/>
              <a:t>Introducción</a:t>
            </a:r>
            <a:endParaRPr/>
          </a:p>
        </p:txBody>
      </p:sp>
      <p:sp>
        <p:nvSpPr>
          <p:cNvPr id="257" name="Google Shape;257;p19"/>
          <p:cNvSpPr>
            <a:spLocks noGrp="1"/>
          </p:cNvSpPr>
          <p:nvPr>
            <p:ph type="chart" idx="2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</a:pPr>
            <a:r>
              <a:rPr lang="es-ES" sz="20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La pobreza va más allá del ingreso: el IPM (PNUD/OPHI, 2010) mide privaciones en educación, salud, trabajo y vivienda.</a:t>
            </a:r>
            <a:endParaRPr sz="2000" b="0" i="0" u="none" strike="noStrike" cap="none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</a:pPr>
            <a:r>
              <a:rPr lang="es-ES" sz="20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Chile adoptó su IPM nacional en 2014, medido bianualmente vía CASEN.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</a:pPr>
            <a:r>
              <a:rPr lang="es-ES" sz="20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Los Ríos muestra alta heterogeneidad: de 13,9% (Valdivia) a 35,4% (Lago Ranco) en 2022.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</a:pPr>
            <a:r>
              <a:rPr lang="es-ES" sz="20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Este trabajo analiza los determinantes comunales usando CASEN, Censo 2017 y 2024.</a:t>
            </a:r>
            <a:endParaRPr sz="2000" b="0" i="0" u="none" strike="noStrike" cap="none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9"/>
          <p:cNvSpPr txBox="1">
            <a:spLocks noGrp="1"/>
          </p:cNvSpPr>
          <p:nvPr>
            <p:ph type="ftr" idx="11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PMD en la Región de Los Ríos </a:t>
            </a:r>
          </a:p>
        </p:txBody>
      </p:sp>
      <p:sp>
        <p:nvSpPr>
          <p:cNvPr id="259" name="Google Shape;259;p19"/>
          <p:cNvSpPr txBox="1"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3 de 10</a:t>
            </a:r>
            <a:endParaRPr dirty="0"/>
          </a:p>
        </p:txBody>
      </p:sp>
      <p:pic>
        <p:nvPicPr>
          <p:cNvPr id="260" name="Google Shape;260;p19" descr="Observatorio Social - Ministerio de Desarrollo Social y Famil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9121" y="4611174"/>
            <a:ext cx="3140311" cy="624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9" descr="Censo 2024, la mejor encuesta geoestadística de planificación para un país  - Escuela de Salud Pública"/>
          <p:cNvPicPr preferRelativeResize="0"/>
          <p:nvPr/>
        </p:nvPicPr>
        <p:blipFill rotWithShape="1">
          <a:blip r:embed="rId4">
            <a:alphaModFix/>
          </a:blip>
          <a:srcRect b="30153"/>
          <a:stretch/>
        </p:blipFill>
        <p:spPr>
          <a:xfrm>
            <a:off x="5303384" y="4321238"/>
            <a:ext cx="2647950" cy="12041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2356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s-ES" sz="44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Preguntas de investigación</a:t>
            </a:r>
            <a:endParaRPr/>
          </a:p>
        </p:txBody>
      </p:sp>
      <p:sp>
        <p:nvSpPr>
          <p:cNvPr id="268" name="Google Shape;268;p20"/>
          <p:cNvSpPr txBox="1">
            <a:spLocks noGrp="1"/>
          </p:cNvSpPr>
          <p:nvPr>
            <p:ph type="ftr" idx="11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PMD en la Región de Los Ríos </a:t>
            </a:r>
            <a:endParaRPr/>
          </a:p>
        </p:txBody>
      </p:sp>
      <p:sp>
        <p:nvSpPr>
          <p:cNvPr id="269" name="Google Shape;269;p20"/>
          <p:cNvSpPr txBox="1"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4 de 10</a:t>
            </a:r>
            <a:endParaRPr sz="1200" b="0" i="0" u="none" strike="noStrike" cap="none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0"/>
          <p:cNvSpPr>
            <a:spLocks noGrp="1"/>
          </p:cNvSpPr>
          <p:nvPr>
            <p:ph type="chart" idx="2"/>
          </p:nvPr>
        </p:nvSpPr>
        <p:spPr>
          <a:xfrm>
            <a:off x="571775" y="2273025"/>
            <a:ext cx="111159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889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Mate"/>
              <a:buAutoNum type="arabicPeriod"/>
            </a:pPr>
            <a:r>
              <a:rPr lang="es-ES" sz="25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¿Qué dimensiones del IPM tienen mayor incidencia en la pobreza multidimensional de las comunas de la Región de Los Ríos en 2017 y 2024?</a:t>
            </a:r>
            <a:endParaRPr sz="25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457200" marR="0" lvl="0" indent="-4889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Mate"/>
              <a:buAutoNum type="arabicPeriod"/>
            </a:pPr>
            <a:r>
              <a:rPr lang="es-ES" sz="25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¿Cómo ha evolucionado la incidencia de las carencias en educación, vivienda, composición de hogar y empleos e ingresos a nivel comunal entre 2017 y 2024?</a:t>
            </a:r>
            <a:endParaRPr sz="25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 txBox="1">
            <a:spLocks noGrp="1"/>
          </p:cNvSpPr>
          <p:nvPr>
            <p:ph type="title"/>
          </p:nvPr>
        </p:nvSpPr>
        <p:spPr>
          <a:xfrm>
            <a:off x="7678439" y="507076"/>
            <a:ext cx="4216782" cy="1115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s-ES" sz="44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Solución</a:t>
            </a:r>
            <a:endParaRPr/>
          </a:p>
        </p:txBody>
      </p:sp>
      <p:sp>
        <p:nvSpPr>
          <p:cNvPr id="277" name="Google Shape;277;p21"/>
          <p:cNvSpPr txBox="1">
            <a:spLocks noGrp="1"/>
          </p:cNvSpPr>
          <p:nvPr>
            <p:ph type="ftr" idx="11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PMD en la Región de Los Ríos </a:t>
            </a:r>
            <a:endParaRPr/>
          </a:p>
        </p:txBody>
      </p:sp>
      <p:sp>
        <p:nvSpPr>
          <p:cNvPr id="278" name="Google Shape;278;p21"/>
          <p:cNvSpPr txBox="1"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s-ES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5 de 10</a:t>
            </a:r>
            <a:endParaRPr sz="1200" b="0" i="0" u="none" strike="noStrike" cap="none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1"/>
          <p:cNvSpPr>
            <a:spLocks noGrp="1"/>
          </p:cNvSpPr>
          <p:nvPr>
            <p:ph type="chart" idx="2"/>
          </p:nvPr>
        </p:nvSpPr>
        <p:spPr>
          <a:xfrm>
            <a:off x="7678439" y="1502193"/>
            <a:ext cx="3745026" cy="415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0"/>
              </a:spcBef>
              <a:buClr>
                <a:schemeClr val="dk2"/>
              </a:buClr>
              <a:buFont typeface="Arial"/>
              <a:buChar char="•"/>
            </a:pPr>
            <a:r>
              <a:rPr lang="es-CL" sz="1600" b="1" dirty="0">
                <a:solidFill>
                  <a:schemeClr val="dk2"/>
                </a:solidFill>
                <a:latin typeface="Arial"/>
              </a:rPr>
              <a:t>Análisis comparativo a nivel comunal: 12 comunas, 2017 vs 2024</a:t>
            </a:r>
          </a:p>
          <a:p>
            <a:pPr marL="0" indent="0" algn="just">
              <a:lnSpc>
                <a:spcPct val="90000"/>
              </a:lnSpc>
              <a:spcBef>
                <a:spcPts val="800"/>
              </a:spcBef>
              <a:buNone/>
            </a:pPr>
            <a:r>
              <a:rPr lang="es-CL" sz="1600" b="1" dirty="0">
                <a:solidFill>
                  <a:schemeClr val="dk2"/>
                </a:solidFill>
                <a:latin typeface="Arial"/>
              </a:rPr>
              <a:t>5 dimensiones operacionalizadas:</a:t>
            </a:r>
          </a:p>
          <a:p>
            <a:pPr marL="228600" indent="-228600" algn="just">
              <a:lnSpc>
                <a:spcPct val="90000"/>
              </a:lnSpc>
              <a:spcBef>
                <a:spcPts val="300"/>
              </a:spcBef>
              <a:buClr>
                <a:schemeClr val="dk2"/>
              </a:buClr>
              <a:buFont typeface="Arial"/>
              <a:buChar char="•"/>
            </a:pPr>
            <a:r>
              <a:rPr lang="es-CL" sz="1500" dirty="0">
                <a:solidFill>
                  <a:schemeClr val="dk2"/>
                </a:solidFill>
                <a:latin typeface="Arial"/>
              </a:rPr>
              <a:t>Educación</a:t>
            </a:r>
          </a:p>
          <a:p>
            <a:pPr marL="228600" indent="-228600" algn="just">
              <a:lnSpc>
                <a:spcPct val="90000"/>
              </a:lnSpc>
              <a:spcBef>
                <a:spcPts val="300"/>
              </a:spcBef>
              <a:buClr>
                <a:schemeClr val="dk2"/>
              </a:buClr>
              <a:buFont typeface="Arial"/>
              <a:buChar char="•"/>
            </a:pPr>
            <a:r>
              <a:rPr lang="es-CL" sz="1500" dirty="0">
                <a:solidFill>
                  <a:schemeClr val="dk2"/>
                </a:solidFill>
                <a:latin typeface="Arial"/>
              </a:rPr>
              <a:t>Empleo e Ingresos</a:t>
            </a:r>
          </a:p>
          <a:p>
            <a:pPr marL="228600" indent="-228600" algn="just">
              <a:lnSpc>
                <a:spcPct val="90000"/>
              </a:lnSpc>
              <a:spcBef>
                <a:spcPts val="300"/>
              </a:spcBef>
              <a:buClr>
                <a:schemeClr val="dk2"/>
              </a:buClr>
              <a:buFont typeface="Arial"/>
              <a:buChar char="•"/>
            </a:pPr>
            <a:r>
              <a:rPr lang="es-CL" sz="1500" dirty="0">
                <a:solidFill>
                  <a:schemeClr val="dk2"/>
                </a:solidFill>
                <a:latin typeface="Arial"/>
              </a:rPr>
              <a:t>Vivienda y Habitabilidad</a:t>
            </a:r>
          </a:p>
          <a:p>
            <a:pPr marL="228600" indent="-228600" algn="just">
              <a:lnSpc>
                <a:spcPct val="90000"/>
              </a:lnSpc>
              <a:spcBef>
                <a:spcPts val="300"/>
              </a:spcBef>
              <a:buClr>
                <a:schemeClr val="dk2"/>
              </a:buClr>
              <a:buFont typeface="Arial"/>
              <a:buChar char="•"/>
            </a:pPr>
            <a:r>
              <a:rPr lang="es-CL" sz="1500" dirty="0">
                <a:solidFill>
                  <a:schemeClr val="dk2"/>
                </a:solidFill>
                <a:latin typeface="Arial"/>
              </a:rPr>
              <a:t>Composición del Hogar</a:t>
            </a:r>
          </a:p>
          <a:p>
            <a:pPr marL="228600" indent="-228600" algn="just">
              <a:lnSpc>
                <a:spcPct val="90000"/>
              </a:lnSpc>
              <a:spcBef>
                <a:spcPts val="300"/>
              </a:spcBef>
              <a:buClr>
                <a:schemeClr val="dk2"/>
              </a:buClr>
              <a:buFont typeface="Arial"/>
              <a:buChar char="•"/>
            </a:pPr>
            <a:r>
              <a:rPr lang="es-CL" sz="1500" dirty="0">
                <a:solidFill>
                  <a:schemeClr val="dk2"/>
                </a:solidFill>
                <a:latin typeface="Arial"/>
              </a:rPr>
              <a:t>Contexto Territorial y Temporal</a:t>
            </a:r>
          </a:p>
          <a:p>
            <a:pPr marL="0" indent="0" algn="just">
              <a:lnSpc>
                <a:spcPct val="90000"/>
              </a:lnSpc>
              <a:spcBef>
                <a:spcPts val="800"/>
              </a:spcBef>
              <a:buNone/>
            </a:pPr>
            <a:r>
              <a:rPr lang="es-CL" sz="1600" b="1" dirty="0">
                <a:solidFill>
                  <a:schemeClr val="dk2"/>
                </a:solidFill>
                <a:latin typeface="Arial"/>
              </a:rPr>
              <a:t>Fuentes:</a:t>
            </a:r>
          </a:p>
          <a:p>
            <a:pPr marL="228600" indent="-228600" algn="just">
              <a:lnSpc>
                <a:spcPct val="90000"/>
              </a:lnSpc>
              <a:spcBef>
                <a:spcPts val="300"/>
              </a:spcBef>
              <a:buClr>
                <a:schemeClr val="dk2"/>
              </a:buClr>
              <a:buFont typeface="Arial"/>
              <a:buChar char="•"/>
            </a:pPr>
            <a:r>
              <a:rPr lang="es-CL" sz="1500" dirty="0">
                <a:solidFill>
                  <a:schemeClr val="dk2"/>
                </a:solidFill>
                <a:latin typeface="Arial"/>
              </a:rPr>
              <a:t>CASEN, Censo, ENE, BCN e INE (2017 y 2024); portales inmobiliarios vía web </a:t>
            </a:r>
            <a:r>
              <a:rPr lang="es-CL" sz="1500" dirty="0" err="1">
                <a:solidFill>
                  <a:schemeClr val="dk2"/>
                </a:solidFill>
                <a:latin typeface="Arial"/>
              </a:rPr>
              <a:t>scrapping</a:t>
            </a:r>
            <a:r>
              <a:rPr lang="es-CL" sz="1500" dirty="0">
                <a:solidFill>
                  <a:schemeClr val="dk2"/>
                </a:solidFill>
                <a:latin typeface="Arial"/>
              </a:rPr>
              <a:t>.</a:t>
            </a:r>
          </a:p>
        </p:txBody>
      </p:sp>
      <p:pic>
        <p:nvPicPr>
          <p:cNvPr id="280" name="Google Shape;28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236" y="1338351"/>
            <a:ext cx="7425203" cy="41812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1171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0EA77-CFB2-4D24-FED0-64D87DA2A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Metodología aplicada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F6C188-9583-13F0-3940-EDB779C842C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6 de 10</a:t>
            </a:r>
            <a:endParaRPr lang="es-ES" dirty="0"/>
          </a:p>
        </p:txBody>
      </p:sp>
      <p:sp>
        <p:nvSpPr>
          <p:cNvPr id="101" name="Origenes"/>
          <p:cNvSpPr txBox="1"/>
          <p:nvPr/>
        </p:nvSpPr>
        <p:spPr>
          <a:xfrm>
            <a:off x="457201" y="1714500"/>
            <a:ext cx="3429000" cy="4445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just">
              <a:spcAft>
                <a:spcPts val="500"/>
              </a:spcAft>
              <a:buNone/>
            </a:pPr>
            <a:r>
              <a:rPr lang="es-CL" sz="2000" b="1" dirty="0">
                <a:solidFill>
                  <a:srgbClr val="B83803"/>
                </a:solidFill>
              </a:rPr>
              <a:t>Orígenes de los datos</a:t>
            </a:r>
            <a:br>
              <a:rPr lang="es-CL" sz="2000" b="1" dirty="0">
                <a:solidFill>
                  <a:srgbClr val="B83803"/>
                </a:solidFill>
              </a:rPr>
            </a:br>
            <a:endParaRPr lang="es-CL" sz="2000" b="1" dirty="0">
              <a:solidFill>
                <a:srgbClr val="B83803"/>
              </a:solidFill>
            </a:endParaRPr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1800" dirty="0"/>
              <a:t>Encuesta CASEN 2017 y 2024 (microdatos, Región de Los Ríos).</a:t>
            </a:r>
            <a:br>
              <a:rPr lang="es-CL" sz="1800" dirty="0"/>
            </a:br>
            <a:endParaRPr lang="es-CL" sz="1800" dirty="0"/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1800" dirty="0"/>
              <a:t>Censo de Población y Vivienda 2017 y 2024 (INE).</a:t>
            </a:r>
            <a:br>
              <a:rPr lang="es-CL" sz="1800" dirty="0"/>
            </a:br>
            <a:endParaRPr lang="es-CL" sz="1800" dirty="0"/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1800" dirty="0"/>
              <a:t>Encuesta Nacional de Empleo (ENE) 2017 y 2024.</a:t>
            </a:r>
            <a:br>
              <a:rPr lang="es-CL" sz="1800" dirty="0"/>
            </a:br>
            <a:endParaRPr lang="es-CL" sz="1800" dirty="0"/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1800" dirty="0"/>
              <a:t>BCN: cartografía y servicios básicos (web </a:t>
            </a:r>
            <a:r>
              <a:rPr lang="es-CL" sz="1800" dirty="0" err="1"/>
              <a:t>scraping</a:t>
            </a:r>
            <a:r>
              <a:rPr lang="es-CL" sz="1800" dirty="0"/>
              <a:t>).</a:t>
            </a:r>
            <a:br>
              <a:rPr lang="es-CL" sz="1800" dirty="0"/>
            </a:br>
            <a:endParaRPr lang="es-CL" sz="1800" dirty="0"/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1800" dirty="0"/>
              <a:t>Portal Inmobiliario: avisos de arriendo y venta (web </a:t>
            </a:r>
            <a:r>
              <a:rPr lang="es-CL" sz="1800" dirty="0" err="1"/>
              <a:t>scraping</a:t>
            </a:r>
            <a:r>
              <a:rPr lang="es-CL" sz="1800" dirty="0"/>
              <a:t>).</a:t>
            </a:r>
          </a:p>
        </p:txBody>
      </p:sp>
      <p:sp>
        <p:nvSpPr>
          <p:cNvPr id="102" name="Volumenes"/>
          <p:cNvSpPr txBox="1"/>
          <p:nvPr/>
        </p:nvSpPr>
        <p:spPr>
          <a:xfrm>
            <a:off x="4182533" y="1731434"/>
            <a:ext cx="3429000" cy="4445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just">
              <a:spcAft>
                <a:spcPts val="500"/>
              </a:spcAft>
              <a:buNone/>
            </a:pPr>
            <a:r>
              <a:rPr lang="es-CL" sz="2000" b="1" dirty="0">
                <a:solidFill>
                  <a:srgbClr val="B83803"/>
                </a:solidFill>
              </a:rPr>
              <a:t>Volúmenes de datos</a:t>
            </a:r>
          </a:p>
          <a:p>
            <a:pPr algn="just">
              <a:spcAft>
                <a:spcPts val="500"/>
              </a:spcAft>
              <a:buNone/>
            </a:pPr>
            <a:endParaRPr lang="es-CL" sz="2000" b="1" dirty="0">
              <a:solidFill>
                <a:srgbClr val="B83803"/>
              </a:solidFill>
            </a:endParaRPr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1800" dirty="0"/>
              <a:t>19.300 registros CASEN de Los Ríos consolidados.</a:t>
            </a:r>
            <a:br>
              <a:rPr lang="es-CL" sz="1800" dirty="0"/>
            </a:br>
            <a:endParaRPr lang="es-CL" sz="1800" dirty="0"/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1800" dirty="0"/>
              <a:t>Dataset ML limpio: 6.800 hogares (6.608 modelados).</a:t>
            </a:r>
            <a:br>
              <a:rPr lang="es-CL" sz="1800" dirty="0"/>
            </a:br>
            <a:endParaRPr lang="es-CL" sz="1800" dirty="0"/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1800" dirty="0"/>
              <a:t>Scraping BCN: 12 comunas por 2 años (24 páginas).</a:t>
            </a:r>
            <a:br>
              <a:rPr lang="es-CL" sz="1800" dirty="0"/>
            </a:br>
            <a:endParaRPr lang="es-CL" sz="1800" dirty="0"/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1800" dirty="0"/>
              <a:t>Scraping inmobiliario: ~1.670 avisos de propiedades.</a:t>
            </a:r>
            <a:br>
              <a:rPr lang="es-CL" sz="1800" dirty="0"/>
            </a:br>
            <a:endParaRPr lang="es-CL" sz="1800" dirty="0"/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1800" dirty="0"/>
              <a:t>Censo: 35.000 registros de población y 7.700 de migración (2017).</a:t>
            </a:r>
          </a:p>
        </p:txBody>
      </p:sp>
      <p:sp>
        <p:nvSpPr>
          <p:cNvPr id="103" name="Operaciones"/>
          <p:cNvSpPr txBox="1"/>
          <p:nvPr/>
        </p:nvSpPr>
        <p:spPr>
          <a:xfrm>
            <a:off x="7907862" y="1820335"/>
            <a:ext cx="3843867" cy="4114800"/>
          </a:xfrm>
          <a:prstGeom prst="rect">
            <a:avLst/>
          </a:prstGeom>
        </p:spPr>
        <p:txBody>
          <a:bodyPr wrap="square" rtlCol="0">
            <a:normAutofit fontScale="47500" lnSpcReduction="20000"/>
          </a:bodyPr>
          <a:lstStyle/>
          <a:p>
            <a:pPr algn="just">
              <a:spcAft>
                <a:spcPts val="500"/>
              </a:spcAft>
              <a:buNone/>
            </a:pPr>
            <a:r>
              <a:rPr lang="es-CL" sz="4200" b="1" dirty="0">
                <a:solidFill>
                  <a:srgbClr val="B83803"/>
                </a:solidFill>
              </a:rPr>
              <a:t>Limpieza y enriquecimiento</a:t>
            </a:r>
          </a:p>
          <a:p>
            <a:pPr algn="just">
              <a:spcAft>
                <a:spcPts val="500"/>
              </a:spcAft>
              <a:buNone/>
            </a:pPr>
            <a:endParaRPr lang="es-CL" sz="2400" b="1" dirty="0">
              <a:solidFill>
                <a:srgbClr val="B83803"/>
              </a:solidFill>
            </a:endParaRPr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2700" dirty="0"/>
              <a:t>Filtrado de microdatos por Región de Los Ríos (región 14).</a:t>
            </a:r>
            <a:br>
              <a:rPr lang="es-CL" sz="2700" dirty="0"/>
            </a:br>
            <a:endParaRPr lang="es-CL" sz="2700" dirty="0"/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2700" dirty="0"/>
              <a:t>Agregación persona - hogar (jefe, tamaño, % menores, ingreso per cápita).</a:t>
            </a:r>
            <a:br>
              <a:rPr lang="es-CL" sz="2700" dirty="0"/>
            </a:br>
            <a:endParaRPr lang="es-CL" sz="2700" dirty="0"/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2700" dirty="0"/>
              <a:t>Normalización de formatos del scraping y pivoteo a comuna-año.</a:t>
            </a:r>
            <a:br>
              <a:rPr lang="es-CL" sz="2700" dirty="0"/>
            </a:br>
            <a:endParaRPr lang="es-CL" sz="2700" dirty="0"/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2700" dirty="0"/>
              <a:t>Tratamiento de NaN y estandarización (</a:t>
            </a:r>
            <a:r>
              <a:rPr lang="es-CL" sz="2700" dirty="0" err="1"/>
              <a:t>StandardScaler</a:t>
            </a:r>
            <a:r>
              <a:rPr lang="es-CL" sz="2700" dirty="0"/>
              <a:t>).</a:t>
            </a:r>
            <a:br>
              <a:rPr lang="es-CL" sz="2700" dirty="0"/>
            </a:br>
            <a:endParaRPr lang="es-CL" sz="2700" dirty="0"/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2700" dirty="0"/>
              <a:t>Índices por dimensión IPM (educación, vivienda, composición, ingresos), escala 0-1.</a:t>
            </a:r>
            <a:br>
              <a:rPr lang="es-CL" sz="2700" dirty="0"/>
            </a:br>
            <a:endParaRPr lang="es-CL" sz="2700" dirty="0"/>
          </a:p>
          <a:p>
            <a:pPr marL="200025" indent="-200025" algn="just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es-CL" sz="2700" dirty="0"/>
              <a:t>Índice de hacinamiento por tramos y unión geoespacial con </a:t>
            </a:r>
            <a:r>
              <a:rPr lang="es-CL" sz="2700" dirty="0" err="1"/>
              <a:t>GeoPandas</a:t>
            </a:r>
            <a:r>
              <a:rPr lang="es-CL" sz="2700" dirty="0"/>
              <a:t>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E0D8B54-8E96-4825-BDB0-956134DB24A1}"/>
              </a:ext>
            </a:extLst>
          </p:cNvPr>
          <p:cNvSpPr txBox="1"/>
          <p:nvPr/>
        </p:nvSpPr>
        <p:spPr>
          <a:xfrm>
            <a:off x="482600" y="6217920"/>
            <a:ext cx="4064000" cy="36576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200">
                <a:solidFill>
                  <a:srgbClr val="0F253E"/>
                </a:solidFill>
              </a:rPr>
              <a:t>PMD en la Región de Los Ríos</a:t>
            </a:r>
            <a:endParaRPr lang="es-CL" sz="1200">
              <a:solidFill>
                <a:srgbClr val="0F25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695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F1B4FB-72D6-650A-A1B2-3C7B90360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Análisis general</a:t>
            </a:r>
          </a:p>
        </p:txBody>
      </p:sp>
      <p:sp>
        <p:nvSpPr>
          <p:cNvPr id="3" name="Marcador de gráfico 2">
            <a:extLst>
              <a:ext uri="{FF2B5EF4-FFF2-40B4-BE49-F238E27FC236}">
                <a16:creationId xmlns:a16="http://schemas.microsoft.com/office/drawing/2014/main" id="{017DD0BC-F0A9-3E94-0BD9-F8E32E4C656F}"/>
              </a:ext>
            </a:extLst>
          </p:cNvPr>
          <p:cNvSpPr>
            <a:spLocks noGrp="1"/>
          </p:cNvSpPr>
          <p:nvPr>
            <p:ph type="chart" idx="2"/>
          </p:nvPr>
        </p:nvSpPr>
        <p:spPr/>
        <p:txBody>
          <a:bodyPr/>
          <a:lstStyle/>
          <a:p>
            <a:pPr marL="285750" indent="-285750" algn="just">
              <a:lnSpc>
                <a:spcPts val="2000"/>
              </a:lnSpc>
              <a:spcAft>
                <a:spcPts val="900"/>
              </a:spcAft>
              <a:buFont typeface="Arial"/>
              <a:buChar char="•"/>
            </a:pPr>
            <a:r>
              <a:rPr lang="es-CL" sz="1800" b="1" dirty="0"/>
              <a:t>Heterogeneidad territorial: </a:t>
            </a:r>
            <a:r>
              <a:rPr lang="es-CL" sz="1800" dirty="0"/>
              <a:t>la pobreza multidimensional va de 13,9% en Valdivia a 35,4% en Lago Ranco (estimación IPM comunal 2022).</a:t>
            </a:r>
          </a:p>
          <a:p>
            <a:pPr marL="285750" indent="-285750" algn="just">
              <a:lnSpc>
                <a:spcPts val="2000"/>
              </a:lnSpc>
              <a:spcAft>
                <a:spcPts val="900"/>
              </a:spcAft>
              <a:buFont typeface="Arial"/>
              <a:buChar char="•"/>
            </a:pPr>
            <a:r>
              <a:rPr lang="es-CL" sz="1800" b="1" dirty="0"/>
              <a:t>Educación: </a:t>
            </a:r>
            <a:r>
              <a:rPr lang="es-CL" sz="1800" dirty="0"/>
              <a:t>sube la educación superior y cae la básica entre 2017 y 2024, pero persiste el rezago en comunas rurales.</a:t>
            </a:r>
          </a:p>
          <a:p>
            <a:pPr marL="285750" indent="-285750" algn="just">
              <a:lnSpc>
                <a:spcPts val="2000"/>
              </a:lnSpc>
              <a:spcAft>
                <a:spcPts val="900"/>
              </a:spcAft>
              <a:buFont typeface="Arial"/>
              <a:buChar char="•"/>
            </a:pPr>
            <a:r>
              <a:rPr lang="es-CL" sz="1800" b="1" dirty="0"/>
              <a:t>Vivienda: </a:t>
            </a:r>
            <a:r>
              <a:rPr lang="es-CL" sz="1800" dirty="0"/>
              <a:t>la carencia de servicios básicos mantiene su orden territorial (Corral y Panguipulli más altos, Valdivia el más bajo); la mayoría de comunas mejoró entre 6 y 10 puntos.</a:t>
            </a:r>
          </a:p>
          <a:p>
            <a:pPr marL="285750" indent="-285750" algn="just">
              <a:lnSpc>
                <a:spcPts val="2000"/>
              </a:lnSpc>
              <a:spcAft>
                <a:spcPts val="900"/>
              </a:spcAft>
              <a:buFont typeface="Arial"/>
              <a:buChar char="•"/>
            </a:pPr>
            <a:r>
              <a:rPr lang="es-CL" sz="1800" b="1" dirty="0"/>
              <a:t>Ingresos: </a:t>
            </a:r>
            <a:r>
              <a:rPr lang="es-CL" sz="1800" dirty="0"/>
              <a:t>persiste la brecha de género, con las mujeres concentradas en el tramo más bajo ($0 a $500.000).</a:t>
            </a:r>
          </a:p>
          <a:p>
            <a:pPr marL="285750" indent="-285750" algn="just">
              <a:lnSpc>
                <a:spcPts val="2000"/>
              </a:lnSpc>
              <a:spcAft>
                <a:spcPts val="900"/>
              </a:spcAft>
              <a:buFont typeface="Arial"/>
              <a:buChar char="•"/>
            </a:pPr>
            <a:r>
              <a:rPr lang="es-CL" sz="1800" b="1" dirty="0"/>
              <a:t>Migración: </a:t>
            </a:r>
            <a:r>
              <a:rPr lang="es-CL" sz="1800" dirty="0"/>
              <a:t>aumento generalizado de la inmigración internacional en 2024, especialmente en Valdivia.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ECD4F0-65C6-8F56-D928-E9E4F8D64C6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7 de 10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ACE2201-748B-45CB-B8E9-D56BAB8B3062}"/>
              </a:ext>
            </a:extLst>
          </p:cNvPr>
          <p:cNvSpPr txBox="1"/>
          <p:nvPr/>
        </p:nvSpPr>
        <p:spPr>
          <a:xfrm>
            <a:off x="482600" y="6217920"/>
            <a:ext cx="4064000" cy="36576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200">
                <a:solidFill>
                  <a:srgbClr val="0F253E"/>
                </a:solidFill>
              </a:rPr>
              <a:t>PMD en la Región de Los Ríos</a:t>
            </a:r>
            <a:endParaRPr lang="es-CL" sz="1200">
              <a:solidFill>
                <a:srgbClr val="0F25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941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30D8E-2A8E-EF59-24B5-7E447CC3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Muestra del dashboard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170DBE-3F8F-CC29-A71A-977097E5B74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4169" y="6217920"/>
            <a:ext cx="859286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8 de 10</a:t>
            </a:r>
            <a:endParaRPr lang="es-ES" dirty="0"/>
          </a:p>
        </p:txBody>
      </p:sp>
      <p:sp>
        <p:nvSpPr>
          <p:cNvPr id="120" name="DashTexto"/>
          <p:cNvSpPr txBox="1"/>
          <p:nvPr/>
        </p:nvSpPr>
        <p:spPr>
          <a:xfrm>
            <a:off x="584200" y="1947334"/>
            <a:ext cx="4292600" cy="36322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85750" indent="-285750" algn="just">
              <a:lnSpc>
                <a:spcPts val="2000"/>
              </a:lnSpc>
              <a:spcAft>
                <a:spcPts val="1000"/>
              </a:spcAft>
              <a:buFont typeface="Arial"/>
              <a:buChar char="•"/>
            </a:pPr>
            <a:r>
              <a:rPr lang="es-CL" sz="1600" dirty="0"/>
              <a:t>Dashboard interactivo construido con ipywidgets y matplotlib sobre datos CASEN 2017 - 2024.</a:t>
            </a:r>
          </a:p>
          <a:p>
            <a:pPr marL="285750" indent="-285750" algn="just">
              <a:lnSpc>
                <a:spcPts val="2000"/>
              </a:lnSpc>
              <a:spcAft>
                <a:spcPts val="1000"/>
              </a:spcAft>
              <a:buFont typeface="Arial"/>
              <a:buChar char="•"/>
            </a:pPr>
            <a:r>
              <a:rPr lang="es-CL" sz="1600" dirty="0"/>
              <a:t>Organizado en pestañas: Educación, Vivienda y Habitabilidad, Empleo e Ingresos y Composición del Hogar, más dos pestañas de modelos de IA (Random Forest y Clustering Jerárquico).</a:t>
            </a:r>
          </a:p>
          <a:p>
            <a:pPr marL="285750" indent="-285750" algn="just">
              <a:lnSpc>
                <a:spcPts val="2000"/>
              </a:lnSpc>
              <a:spcAft>
                <a:spcPts val="1000"/>
              </a:spcAft>
              <a:buFont typeface="Arial"/>
              <a:buChar char="•"/>
            </a:pPr>
            <a:r>
              <a:rPr lang="es-CL" sz="1600" dirty="0"/>
              <a:t>Integra los principales indicadores por dimensión, mapas coropléticos por comuna, gráficos comparativos 2017 vs 2024 y los modelos de IA aplicados.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2CC9148-844E-4C97-99DE-F09CA25B79F2}"/>
              </a:ext>
            </a:extLst>
          </p:cNvPr>
          <p:cNvSpPr txBox="1"/>
          <p:nvPr/>
        </p:nvSpPr>
        <p:spPr>
          <a:xfrm>
            <a:off x="482600" y="6217920"/>
            <a:ext cx="4064000" cy="36576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200">
                <a:solidFill>
                  <a:srgbClr val="0F253E"/>
                </a:solidFill>
              </a:rPr>
              <a:t>PMD en la Región de Los Ríos</a:t>
            </a:r>
            <a:endParaRPr lang="es-CL" sz="1200">
              <a:solidFill>
                <a:srgbClr val="0F253E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D80BA80-B851-1CB2-3464-D631A7919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717" y="1524000"/>
            <a:ext cx="5437581" cy="46124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80511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ítulo 37">
            <a:extLst>
              <a:ext uri="{FF2B5EF4-FFF2-40B4-BE49-F238E27FC236}">
                <a16:creationId xmlns:a16="http://schemas.microsoft.com/office/drawing/2014/main" id="{478CB64C-71AF-6B72-8069-000DD250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95"/>
            <a:ext cx="10515600" cy="132556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Discusión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FA2F9A05-8E79-46FF-1ABA-927EF2D69BC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13022" y="1461393"/>
            <a:ext cx="1865376" cy="866219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Educación</a:t>
            </a: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0532F467-8DBE-D445-0CF7-D5D242DAD66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913022" y="2324073"/>
            <a:ext cx="1865376" cy="2706774"/>
          </a:xfrm>
        </p:spPr>
        <p:txBody>
          <a:bodyPr rtlCol="0"/>
          <a:lstStyle>
            <a:defPPr>
              <a:defRPr lang="es-ES"/>
            </a:defPPr>
          </a:lstStyle>
          <a:p>
            <a:pPr lvl="0"/>
            <a:r>
              <a:rPr lang="es-ES" dirty="0"/>
              <a:t>La mejora educacional podría relacionarse con una reducción parcial de vulnerabilidad social, aunque las diferencias territoriales siguen presentes.</a:t>
            </a:r>
          </a:p>
        </p:txBody>
      </p:sp>
      <p:sp>
        <p:nvSpPr>
          <p:cNvPr id="42" name="Marcador de texto 41">
            <a:extLst>
              <a:ext uri="{FF2B5EF4-FFF2-40B4-BE49-F238E27FC236}">
                <a16:creationId xmlns:a16="http://schemas.microsoft.com/office/drawing/2014/main" id="{48BF8F22-E288-84B0-03E9-82D678051D4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075578" y="1461393"/>
            <a:ext cx="1865376" cy="86621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Vivienda</a:t>
            </a:r>
          </a:p>
        </p:txBody>
      </p:sp>
      <p:sp>
        <p:nvSpPr>
          <p:cNvPr id="52" name="Marcador de texto 51">
            <a:extLst>
              <a:ext uri="{FF2B5EF4-FFF2-40B4-BE49-F238E27FC236}">
                <a16:creationId xmlns:a16="http://schemas.microsoft.com/office/drawing/2014/main" id="{BACB9342-C47E-6729-46BE-F10DBB78182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075125" y="2324073"/>
            <a:ext cx="1867186" cy="2706774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La persistencia de carencias sugiere que los problemas de infraestructura son más difíciles de revertir en períodos cortos.</a:t>
            </a:r>
          </a:p>
        </p:txBody>
      </p:sp>
      <p:sp>
        <p:nvSpPr>
          <p:cNvPr id="44" name="Marcador de texto 43">
            <a:extLst>
              <a:ext uri="{FF2B5EF4-FFF2-40B4-BE49-F238E27FC236}">
                <a16:creationId xmlns:a16="http://schemas.microsoft.com/office/drawing/2014/main" id="{D0C47E92-8875-E555-5480-8A9BAEE853A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238134" y="1461393"/>
            <a:ext cx="1865376" cy="86621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Empleo</a:t>
            </a:r>
          </a:p>
        </p:txBody>
      </p:sp>
      <p:sp>
        <p:nvSpPr>
          <p:cNvPr id="54" name="Marcador de texto 53">
            <a:extLst>
              <a:ext uri="{FF2B5EF4-FFF2-40B4-BE49-F238E27FC236}">
                <a16:creationId xmlns:a16="http://schemas.microsoft.com/office/drawing/2014/main" id="{DDCD388C-8374-D810-DCE5-554B7E05F55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239038" y="2324073"/>
            <a:ext cx="1865376" cy="2706773"/>
          </a:xfrm>
        </p:spPr>
        <p:txBody>
          <a:bodyPr rtlCol="0"/>
          <a:lstStyle>
            <a:defPPr>
              <a:defRPr lang="es-ES"/>
            </a:defPPr>
          </a:lstStyle>
          <a:p>
            <a:pPr lvl="0"/>
            <a:r>
              <a:rPr lang="es-CL" dirty="0"/>
              <a:t>La brecha salarial evidencia desigualdades económicas que afectan especialmente a hogares con jefatura femenina.</a:t>
            </a:r>
            <a:endParaRPr lang="es-ES" dirty="0"/>
          </a:p>
        </p:txBody>
      </p:sp>
      <p:sp>
        <p:nvSpPr>
          <p:cNvPr id="46" name="Marcador de texto 45">
            <a:extLst>
              <a:ext uri="{FF2B5EF4-FFF2-40B4-BE49-F238E27FC236}">
                <a16:creationId xmlns:a16="http://schemas.microsoft.com/office/drawing/2014/main" id="{B87AFF1A-EF07-5FBF-C582-29AE302A47D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400690" y="1461393"/>
            <a:ext cx="1865376" cy="86621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Territorio</a:t>
            </a:r>
          </a:p>
        </p:txBody>
      </p:sp>
      <p:sp>
        <p:nvSpPr>
          <p:cNvPr id="56" name="Marcador de texto 55">
            <a:extLst>
              <a:ext uri="{FF2B5EF4-FFF2-40B4-BE49-F238E27FC236}">
                <a16:creationId xmlns:a16="http://schemas.microsoft.com/office/drawing/2014/main" id="{E62055F1-67DB-9D6D-ABE2-20C3B2514A4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401141" y="2324073"/>
            <a:ext cx="1865376" cy="2706772"/>
          </a:xfrm>
        </p:spPr>
        <p:txBody>
          <a:bodyPr rtlCol="0"/>
          <a:lstStyle>
            <a:defPPr>
              <a:defRPr lang="es-ES"/>
            </a:defPPr>
          </a:lstStyle>
          <a:p>
            <a:pPr lvl="0"/>
            <a:r>
              <a:rPr lang="es-ES" dirty="0"/>
              <a:t>Las comunas rurales continúan concentrando mayores niveles de pobreza multidimensional.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85177ED-2E57-8FF5-AFD8-AA79A7B24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20214" y="1460875"/>
            <a:ext cx="8345852" cy="859536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latin typeface="+mn-lt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EFD68CE-EF5C-4046-41F5-3763D028DAE5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PMD en la Región de Los Ríos 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FC7183-3EBB-B8D1-A66D-964D3C3A7DA8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>
          <a:xfrm>
            <a:off x="11194169" y="6217920"/>
            <a:ext cx="859286" cy="36512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altLang="zh-CN" noProof="0"/>
              <a:t>9 de 10</a:t>
            </a:r>
            <a:endParaRPr lang="es-ES" altLang="zh-CN" noProof="0" dirty="0"/>
          </a:p>
        </p:txBody>
      </p:sp>
      <p:sp>
        <p:nvSpPr>
          <p:cNvPr id="200" name="IA Vinculo"/>
          <p:cNvSpPr/>
          <p:nvPr/>
        </p:nvSpPr>
        <p:spPr>
          <a:xfrm>
            <a:off x="838200" y="5227320"/>
            <a:ext cx="10515600" cy="7366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>
            <a:noFill/>
          </a:ln>
        </p:spPr>
        <p:txBody>
          <a:bodyPr wrap="square" lIns="109728" tIns="45720" rIns="109728" bIns="45720" anchor="ctr"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s-CL" sz="1400" b="1" dirty="0">
                <a:solidFill>
                  <a:schemeClr val="dk2"/>
                </a:solidFill>
              </a:rPr>
              <a:t>Vínculo con los modelos de IA: </a:t>
            </a:r>
            <a:r>
              <a:rPr lang="es-CL" sz="1400" dirty="0">
                <a:solidFill>
                  <a:schemeClr val="dk2"/>
                </a:solidFill>
              </a:rPr>
              <a:t>el Random Forest confirma a Vivienda y Educación como los factores de mayor peso predictivo, y el Clustering detecta un segmento crítico (Cluster 3: </a:t>
            </a:r>
            <a:r>
              <a:rPr lang="es-CL" dirty="0">
                <a:solidFill>
                  <a:schemeClr val="dk2"/>
                </a:solidFill>
              </a:rPr>
              <a:t>alrededor de </a:t>
            </a:r>
            <a:r>
              <a:rPr lang="es-CL" sz="1400" dirty="0">
                <a:solidFill>
                  <a:schemeClr val="dk2"/>
                </a:solidFill>
              </a:rPr>
              <a:t>6% de los hogares con 51% de pobreza).</a:t>
            </a:r>
          </a:p>
        </p:txBody>
      </p:sp>
    </p:spTree>
    <p:extLst>
      <p:ext uri="{BB962C8B-B14F-4D97-AF65-F5344CB8AC3E}">
        <p14:creationId xmlns:p14="http://schemas.microsoft.com/office/powerpoint/2010/main" val="2030836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85">
            <a:extLst>
              <a:ext uri="{FF2B5EF4-FFF2-40B4-BE49-F238E27FC236}">
                <a16:creationId xmlns:a16="http://schemas.microsoft.com/office/drawing/2014/main" id="{1E3F7726-AC85-55B8-BDED-51E7BA85CD1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s-ES"/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dirty="0"/>
              <a:t>Conclusiones</a:t>
            </a:r>
          </a:p>
        </p:txBody>
      </p:sp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695DA9C9-8185-D0AB-3C76-BC1CABABA354}"/>
              </a:ext>
            </a:extLst>
          </p:cNvPr>
          <p:cNvSpPr txBox="1">
            <a:spLocks/>
          </p:cNvSpPr>
          <p:nvPr/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rtlCol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s-ES"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/>
              <a:t>PMD en la Región de Los Ríos </a:t>
            </a:r>
            <a:endParaRPr lang="es-ES" dirty="0"/>
          </a:p>
        </p:txBody>
      </p:sp>
      <p:sp>
        <p:nvSpPr>
          <p:cNvPr id="21" name="Hdr Trabajo"/>
          <p:cNvSpPr/>
          <p:nvPr/>
        </p:nvSpPr>
        <p:spPr>
          <a:xfrm>
            <a:off x="584200" y="1905000"/>
            <a:ext cx="5334000" cy="558800"/>
          </a:xfrm>
          <a:prstGeom prst="roundRect">
            <a:avLst>
              <a:gd name="adj" fmla="val 12000"/>
            </a:avLst>
          </a:prstGeom>
          <a:solidFill>
            <a:schemeClr val="dk2"/>
          </a:solidFill>
          <a:ln>
            <a:noFill/>
          </a:ln>
        </p:spPr>
        <p:txBody>
          <a:bodyPr lIns="91440" tIns="27432" rIns="91440" bIns="27432" anchor="ctr"/>
          <a:lstStyle/>
          <a:p>
            <a:pPr algn="l"/>
            <a:r>
              <a:rPr lang="es-CL" sz="1800" b="1" dirty="0">
                <a:solidFill>
                  <a:schemeClr val="lt1"/>
                </a:solidFill>
              </a:rPr>
              <a:t>Conclusiones del trabajo</a:t>
            </a:r>
          </a:p>
        </p:txBody>
      </p:sp>
      <p:sp>
        <p:nvSpPr>
          <p:cNvPr id="22" name="Hdr Asignatura"/>
          <p:cNvSpPr/>
          <p:nvPr/>
        </p:nvSpPr>
        <p:spPr>
          <a:xfrm>
            <a:off x="6273800" y="1905000"/>
            <a:ext cx="5334000" cy="558800"/>
          </a:xfrm>
          <a:prstGeom prst="roundRect">
            <a:avLst>
              <a:gd name="adj" fmla="val 12000"/>
            </a:avLst>
          </a:prstGeom>
          <a:solidFill>
            <a:schemeClr val="dk2"/>
          </a:solidFill>
          <a:ln>
            <a:noFill/>
          </a:ln>
        </p:spPr>
        <p:txBody>
          <a:bodyPr lIns="91440" tIns="27432" rIns="91440" bIns="27432" anchor="ctr"/>
          <a:lstStyle/>
          <a:p>
            <a:pPr algn="l"/>
            <a:r>
              <a:rPr lang="es-CL" sz="1800" b="1" dirty="0">
                <a:solidFill>
                  <a:schemeClr val="lt1"/>
                </a:solidFill>
              </a:rPr>
              <a:t>Conclusiones de la asignatura</a:t>
            </a:r>
          </a:p>
        </p:txBody>
      </p:sp>
      <p:sp>
        <p:nvSpPr>
          <p:cNvPr id="23" name="Body Trabajo"/>
          <p:cNvSpPr/>
          <p:nvPr/>
        </p:nvSpPr>
        <p:spPr>
          <a:xfrm>
            <a:off x="584200" y="2603500"/>
            <a:ext cx="5334000" cy="34925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/>
          <a:p>
            <a:pPr marL="228600" indent="-2286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/>
              <a:buChar char="•"/>
            </a:pPr>
            <a:r>
              <a:rPr lang="es-CL" sz="1500" dirty="0">
                <a:solidFill>
                  <a:schemeClr val="dk2"/>
                </a:solidFill>
              </a:rPr>
              <a:t>La pobreza multidimensional presenta fuertes diferencias territoriales en Los Ríos.</a:t>
            </a:r>
          </a:p>
          <a:p>
            <a:pPr marL="228600" indent="-2286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/>
              <a:buChar char="•"/>
            </a:pPr>
            <a:r>
              <a:rPr lang="es-CL" sz="1500" dirty="0">
                <a:solidFill>
                  <a:schemeClr val="dk2"/>
                </a:solidFill>
              </a:rPr>
              <a:t>La educación muestra avances entre 2017 y 2024, mientras las carencias de vivienda permanecen estables.</a:t>
            </a:r>
          </a:p>
          <a:p>
            <a:pPr marL="228600" indent="-2286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/>
              <a:buChar char="•"/>
            </a:pPr>
            <a:r>
              <a:rPr lang="es-CL" sz="1500" dirty="0">
                <a:solidFill>
                  <a:schemeClr val="dk2"/>
                </a:solidFill>
              </a:rPr>
              <a:t>La brecha salarial de género persiste.</a:t>
            </a:r>
          </a:p>
          <a:p>
            <a:pPr marL="228600" indent="-2286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/>
              <a:buChar char="•"/>
            </a:pPr>
            <a:r>
              <a:rPr lang="es-CL" sz="1500" dirty="0">
                <a:solidFill>
                  <a:schemeClr val="dk2"/>
                </a:solidFill>
              </a:rPr>
              <a:t>Los modelos de IA identifican a Vivienda y Educación como factores predominantes y detectan perfiles de hogares vulnerables.</a:t>
            </a:r>
          </a:p>
        </p:txBody>
      </p:sp>
      <p:sp>
        <p:nvSpPr>
          <p:cNvPr id="24" name="Body Asignatura"/>
          <p:cNvSpPr/>
          <p:nvPr/>
        </p:nvSpPr>
        <p:spPr>
          <a:xfrm>
            <a:off x="6273800" y="2595033"/>
            <a:ext cx="5334000" cy="34925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/>
          <a:p>
            <a:pPr marL="228600" indent="-2286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/>
              <a:buChar char="•"/>
            </a:pPr>
            <a:r>
              <a:rPr lang="es-CL" sz="1500" dirty="0">
                <a:solidFill>
                  <a:schemeClr val="dk2"/>
                </a:solidFill>
              </a:rPr>
              <a:t>Aplicamos el flujo completo de Computación Científica con Python: obtención (scraping y microdatos), limpieza, enriquecimiento, visualización y modelos de machine learning.</a:t>
            </a:r>
          </a:p>
          <a:p>
            <a:pPr marL="228600" indent="-2286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/>
              <a:buChar char="•"/>
            </a:pPr>
            <a:r>
              <a:rPr lang="es-CL" sz="1500" dirty="0">
                <a:solidFill>
                  <a:schemeClr val="dk2"/>
                </a:solidFill>
              </a:rPr>
              <a:t>Integramos pandas, GeoPandas, matplotlib, seaborn, scikit-learn e ipywidgets en un proyecto reproducible (entorno virtual, requirements.txt y repositorio en GitHub).</a:t>
            </a:r>
          </a:p>
          <a:p>
            <a:pPr marL="228600" indent="-2286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/>
              <a:buChar char="•"/>
            </a:pPr>
            <a:r>
              <a:rPr lang="es-CL" sz="1500" dirty="0">
                <a:solidFill>
                  <a:schemeClr val="dk2"/>
                </a:solidFill>
              </a:rPr>
              <a:t>El trabajo colaborativo con control de versiones permitió dividir el análisis por dimensiones y consolidarlo en un dashboard único.</a:t>
            </a:r>
          </a:p>
        </p:txBody>
      </p:sp>
      <p:sp>
        <p:nvSpPr>
          <p:cNvPr id="25" name="Marcador de número de diapositiva 4">
            <a:extLst>
              <a:ext uri="{FF2B5EF4-FFF2-40B4-BE49-F238E27FC236}">
                <a16:creationId xmlns:a16="http://schemas.microsoft.com/office/drawing/2014/main" id="{68272546-6424-41C4-1077-F47E03FF5689}"/>
              </a:ext>
            </a:extLst>
          </p:cNvPr>
          <p:cNvSpPr txBox="1">
            <a:spLocks/>
          </p:cNvSpPr>
          <p:nvPr/>
        </p:nvSpPr>
        <p:spPr>
          <a:xfrm>
            <a:off x="11235266" y="6217920"/>
            <a:ext cx="838200" cy="274955"/>
          </a:xfrm>
          <a:prstGeom prst="rect">
            <a:avLst/>
          </a:prstGeom>
        </p:spPr>
        <p:txBody>
          <a:bodyPr rtlCol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s-ES"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altLang="zh-CN" sz="1200"/>
              <a:t>10 de 10</a:t>
            </a:r>
            <a:endParaRPr lang="es-E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369501681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657802-EE7C-4486-8CE0-1329EE26792A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7ad3e2b9-775c-46bb-b06c-29a1f07e7a7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1001</Words>
  <Application>Microsoft Office PowerPoint</Application>
  <PresentationFormat>Panorámica</PresentationFormat>
  <Paragraphs>120</Paragraphs>
  <Slides>10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 Black</vt:lpstr>
      <vt:lpstr>Mate</vt:lpstr>
      <vt:lpstr>Arial</vt:lpstr>
      <vt:lpstr>Calibri</vt:lpstr>
      <vt:lpstr>Personalizar​</vt:lpstr>
      <vt:lpstr>Factores Predominantes en Hogares con Pobreza Multidimensional en la Región de Los Ríos (2017–2024)</vt:lpstr>
      <vt:lpstr>Índice</vt:lpstr>
      <vt:lpstr>Introducción</vt:lpstr>
      <vt:lpstr>Preguntas de investigación</vt:lpstr>
      <vt:lpstr>Solución</vt:lpstr>
      <vt:lpstr>Metodología aplicada</vt:lpstr>
      <vt:lpstr>Análisis general</vt:lpstr>
      <vt:lpstr>Muestra del dashboard</vt:lpstr>
      <vt:lpstr>Discusión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Fabián Reyes Tapia</dc:creator>
  <cp:lastModifiedBy>Javier Ramírez</cp:lastModifiedBy>
  <cp:revision>10</cp:revision>
  <dcterms:modified xsi:type="dcterms:W3CDTF">2026-06-29T18:28:27Z</dcterms:modified>
</cp:coreProperties>
</file>