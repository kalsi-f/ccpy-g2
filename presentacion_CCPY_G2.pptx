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4" r:id="rId13"/>
    <p:sldId id="283" r:id="rId14"/>
  </p:sldIdLst>
  <p:sldSz cx="12192000" cy="6858000"/>
  <p:notesSz cx="6858000" cy="9144000"/>
  <p:embeddedFontLst>
    <p:embeddedFont>
      <p:font typeface="Arial Black" panose="020B0A04020102020204" pitchFamily="34" charset="0"/>
      <p:regular r:id="rId16"/>
      <p:bold r:id="rId17"/>
    </p:embeddedFont>
    <p:embeddedFont>
      <p:font typeface="Mate" panose="020B0604020202020204" charset="0"/>
      <p:regular r:id="rId18"/>
      <p: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36">
          <p15:clr>
            <a:srgbClr val="A4A3A4"/>
          </p15:clr>
        </p15:guide>
        <p15:guide id="2" pos="31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1536"/>
        <p:guide pos="3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" name="Google Shape;5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6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  <p:extLst>
    <p:ext uri="{620B2872-D7B9-4A21-9093-7833F8D536E1}">
      <p15:sldGuideLst xmlns:p15="http://schemas.microsoft.com/office/powerpoint/2012/main">
        <p15:guide id="1" orient="horz" pos="2880">
          <p15:clr>
            <a:srgbClr val="F26B43"/>
          </p15:clr>
        </p15:guide>
        <p15:guide id="2" pos="2160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4" name="Google Shape;26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3" name="Google Shape;27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2" name="Google Shape;29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1" name="Google Shape;30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3" name="Google Shape;313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3" name="Google Shape;323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2" name="Google Shape;33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El histograma presente en la Fig. 6 muestra una asimetría en la distribución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de ingresos en el mercado laboral regional. La mayor concentración de mujeres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 encuentra en el tramo de ingresos más bajo ($0 a $500.000 CLP), lo que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indica empleos precarios, salarios mínimos o jornadas parciales. En contraste,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los hombres presentan mayor participación en los tramos de ingresos medios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y altos (entre $500.000 y $1.500.000). Este gráfico permite explorar la relación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entre brecha salarial de género y vulnerabilidad del núcleo familiar en hogares con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jefatura femenina frente a carencias en vivienda, educación y seguridad social.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9ab5b710e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2" name="Google Shape;342;g39ab5b710e0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La Fig. 7 compara la distribución de ingresos laborales por género entre 2017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y 2024 en la Región de Los Ríos, agrupados en tramos de $500.000 CLP. Se ob-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serva un desplazamiento general hacia tramos superiores entre ambos períodos,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atribuible en parte a la inflación y los reajustes del ingreso mínimo. Sin embargo,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la proporción de mujeres concentradas en el tramo inferior ($0 a $500.000 CLP)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 mantiene consistentemente más alta que la de hombres en ambos años. Este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gráfico permite evaluar si la brecha salarial de género persiste en el tiempo 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en qué medida se asocia a la mayor vulnerabilidad de los hogares con jefatura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femenina frente a carencias en vivienda, educación y seguridad social.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g39ab5b710e0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12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4844979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13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8206457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 con imagen">
  <p:cSld name="Diapositiva de título con imagen"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1484764" y="1986926"/>
            <a:ext cx="5257793" cy="2057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6" name="Google Shape;16;p2"/>
          <p:cNvCxnSpPr/>
          <p:nvPr/>
        </p:nvCxnSpPr>
        <p:spPr>
          <a:xfrm>
            <a:off x="1509005" y="4172084"/>
            <a:ext cx="0" cy="760288"/>
          </a:xfrm>
          <a:prstGeom prst="straightConnector1">
            <a:avLst/>
          </a:prstGeom>
          <a:noFill/>
          <a:ln w="19050" cap="flat" cmpd="sng">
            <a:solidFill>
              <a:srgbClr val="D8440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" name="Google Shape;17;p2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601366" y="4172084"/>
            <a:ext cx="1570612" cy="76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>
            <a:spLocks noGrp="1"/>
          </p:cNvSpPr>
          <p:nvPr>
            <p:ph type="pic" idx="2"/>
          </p:nvPr>
        </p:nvSpPr>
        <p:spPr>
          <a:xfrm>
            <a:off x="6742557" y="821836"/>
            <a:ext cx="4405503" cy="506634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19" name="Google Shape;19;p2"/>
          <p:cNvSpPr/>
          <p:nvPr/>
        </p:nvSpPr>
        <p:spPr>
          <a:xfrm>
            <a:off x="7441324" y="5568778"/>
            <a:ext cx="829927" cy="949454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">
  <p:cSld name="Título y contenid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>
            <a:spLocks noGrp="1"/>
          </p:cNvSpPr>
          <p:nvPr>
            <p:ph type="chart" idx="2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 con imagen">
  <p:cSld name="Título y contenido con imagen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>
            <a:spLocks noGrp="1"/>
          </p:cNvSpPr>
          <p:nvPr>
            <p:ph type="tbl" idx="2"/>
          </p:nvPr>
        </p:nvSpPr>
        <p:spPr>
          <a:xfrm>
            <a:off x="581709" y="1614198"/>
            <a:ext cx="10889796" cy="4317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10551278" y="4665388"/>
            <a:ext cx="603952" cy="681742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10524774" y="5146146"/>
            <a:ext cx="1667226" cy="1711855"/>
          </a:xfrm>
          <a:custGeom>
            <a:avLst/>
            <a:gdLst/>
            <a:ahLst/>
            <a:cxnLst/>
            <a:rect l="l" t="t" r="r" b="b"/>
            <a:pathLst>
              <a:path w="1667226" h="1711855" extrusionOk="0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10177285" y="5347130"/>
            <a:ext cx="748554" cy="856361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 txBox="1">
            <a:spLocks noGrp="1"/>
          </p:cNvSpPr>
          <p:nvPr>
            <p:ph type="title"/>
          </p:nvPr>
        </p:nvSpPr>
        <p:spPr>
          <a:xfrm>
            <a:off x="512572" y="3435545"/>
            <a:ext cx="4253399" cy="1740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6282845" y="525294"/>
            <a:ext cx="1913128" cy="2140085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7"/>
          <p:cNvSpPr/>
          <p:nvPr/>
        </p:nvSpPr>
        <p:spPr>
          <a:xfrm>
            <a:off x="8375472" y="496110"/>
            <a:ext cx="1913128" cy="2159541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7"/>
          <p:cNvSpPr/>
          <p:nvPr/>
        </p:nvSpPr>
        <p:spPr>
          <a:xfrm>
            <a:off x="7328126" y="2310315"/>
            <a:ext cx="1913128" cy="2159541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7"/>
          <p:cNvSpPr/>
          <p:nvPr/>
        </p:nvSpPr>
        <p:spPr>
          <a:xfrm>
            <a:off x="8375472" y="4095335"/>
            <a:ext cx="1913128" cy="2159541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7"/>
          <p:cNvSpPr/>
          <p:nvPr/>
        </p:nvSpPr>
        <p:spPr>
          <a:xfrm>
            <a:off x="9403474" y="2310314"/>
            <a:ext cx="1913128" cy="2159541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7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6274027" y="1076241"/>
            <a:ext cx="1913128" cy="1054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7" descr="Haga clic en el icono para agregar una imagen"/>
          <p:cNvSpPr txBox="1">
            <a:spLocks noGrp="1"/>
          </p:cNvSpPr>
          <p:nvPr>
            <p:ph type="body" idx="2"/>
          </p:nvPr>
        </p:nvSpPr>
        <p:spPr>
          <a:xfrm>
            <a:off x="8375472" y="1076241"/>
            <a:ext cx="1904890" cy="10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13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7" descr="Haga clic en el icono para agregar una imagen"/>
          <p:cNvSpPr txBox="1">
            <a:spLocks noGrp="1"/>
          </p:cNvSpPr>
          <p:nvPr>
            <p:ph type="body" idx="3"/>
          </p:nvPr>
        </p:nvSpPr>
        <p:spPr>
          <a:xfrm>
            <a:off x="7321949" y="2844725"/>
            <a:ext cx="1914694" cy="1089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13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7" descr="Haga clic en el icono para agregar una imagen"/>
          <p:cNvSpPr txBox="1">
            <a:spLocks noGrp="1"/>
          </p:cNvSpPr>
          <p:nvPr>
            <p:ph type="body" idx="4"/>
          </p:nvPr>
        </p:nvSpPr>
        <p:spPr>
          <a:xfrm>
            <a:off x="9409651" y="2826795"/>
            <a:ext cx="1913128" cy="1107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13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7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8367234" y="4631270"/>
            <a:ext cx="1913128" cy="1075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13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7"/>
          <p:cNvSpPr/>
          <p:nvPr/>
        </p:nvSpPr>
        <p:spPr>
          <a:xfrm>
            <a:off x="630971" y="606175"/>
            <a:ext cx="1913128" cy="2140085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7"/>
          <p:cNvSpPr/>
          <p:nvPr/>
        </p:nvSpPr>
        <p:spPr>
          <a:xfrm>
            <a:off x="10460480" y="505838"/>
            <a:ext cx="1731521" cy="2159541"/>
          </a:xfrm>
          <a:custGeom>
            <a:avLst/>
            <a:gdLst/>
            <a:ahLst/>
            <a:cxnLst/>
            <a:rect l="l" t="t" r="r" b="b"/>
            <a:pathLst>
              <a:path w="1731521" h="2159541" extrusionOk="0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11498097" y="2436654"/>
            <a:ext cx="698022" cy="1868948"/>
          </a:xfrm>
          <a:custGeom>
            <a:avLst/>
            <a:gdLst/>
            <a:ahLst/>
            <a:cxnLst/>
            <a:rect l="l" t="t" r="r" b="b"/>
            <a:pathLst>
              <a:path w="698022" h="1868948" extrusionOk="0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7"/>
          <p:cNvSpPr/>
          <p:nvPr/>
        </p:nvSpPr>
        <p:spPr>
          <a:xfrm>
            <a:off x="10460480" y="4114794"/>
            <a:ext cx="1731521" cy="2159541"/>
          </a:xfrm>
          <a:custGeom>
            <a:avLst/>
            <a:gdLst/>
            <a:ahLst/>
            <a:cxnLst/>
            <a:rect l="l" t="t" r="r" b="b"/>
            <a:pathLst>
              <a:path w="1731521" h="2159541" extrusionOk="0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7"/>
          <p:cNvSpPr/>
          <p:nvPr/>
        </p:nvSpPr>
        <p:spPr>
          <a:xfrm>
            <a:off x="5252937" y="2290859"/>
            <a:ext cx="1913128" cy="2159541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6310033" y="4056424"/>
            <a:ext cx="1913128" cy="2159541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7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7"/>
          <p:cNvSpPr txBox="1">
            <a:spLocks noGrp="1"/>
          </p:cNvSpPr>
          <p:nvPr>
            <p:ph type="sldNum" idx="12"/>
          </p:nvPr>
        </p:nvSpPr>
        <p:spPr>
          <a:xfrm>
            <a:off x="11194168" y="6217920"/>
            <a:ext cx="99783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r>
              <a:rPr lang="es-ES"/>
              <a:t> </a:t>
            </a:r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ción">
  <p:cSld name="Introducción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8"/>
          <p:cNvSpPr txBox="1">
            <a:spLocks noGrp="1"/>
          </p:cNvSpPr>
          <p:nvPr>
            <p:ph type="title"/>
          </p:nvPr>
        </p:nvSpPr>
        <p:spPr>
          <a:xfrm>
            <a:off x="509574" y="2096892"/>
            <a:ext cx="511716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8"/>
          <p:cNvSpPr txBox="1">
            <a:spLocks noGrp="1"/>
          </p:cNvSpPr>
          <p:nvPr>
            <p:ph type="body" idx="1"/>
          </p:nvPr>
        </p:nvSpPr>
        <p:spPr>
          <a:xfrm>
            <a:off x="509574" y="3435546"/>
            <a:ext cx="4260180" cy="1294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500"/>
              <a:buNone/>
              <a:defRPr sz="15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8"/>
          <p:cNvSpPr>
            <a:spLocks noGrp="1"/>
          </p:cNvSpPr>
          <p:nvPr>
            <p:ph type="pic" idx="2"/>
          </p:nvPr>
        </p:nvSpPr>
        <p:spPr>
          <a:xfrm>
            <a:off x="5745001" y="0"/>
            <a:ext cx="6446999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94" name="Google Shape;94;p8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8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la sección">
  <p:cSld name="Encabezado de la sección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9"/>
          <p:cNvSpPr txBox="1"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/>
          <p:nvPr/>
        </p:nvSpPr>
        <p:spPr>
          <a:xfrm rot="5400000">
            <a:off x="1308232" y="2004972"/>
            <a:ext cx="3593592" cy="2880360"/>
          </a:xfrm>
          <a:prstGeom prst="hexagon">
            <a:avLst>
              <a:gd name="adj" fmla="val 31211"/>
              <a:gd name="vf" fmla="val 11547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9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2319235" y="2911781"/>
            <a:ext cx="1570612" cy="1070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13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cap="none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0" name="Google Shape;100;p9"/>
          <p:cNvSpPr>
            <a:spLocks noGrp="1"/>
          </p:cNvSpPr>
          <p:nvPr>
            <p:ph type="pic" idx="2"/>
          </p:nvPr>
        </p:nvSpPr>
        <p:spPr>
          <a:xfrm>
            <a:off x="581710" y="555648"/>
            <a:ext cx="5045662" cy="5783096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ta ">
  <p:cSld name="Cita 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0"/>
          <p:cNvSpPr txBox="1">
            <a:spLocks noGrp="1"/>
          </p:cNvSpPr>
          <p:nvPr>
            <p:ph type="title"/>
          </p:nvPr>
        </p:nvSpPr>
        <p:spPr>
          <a:xfrm>
            <a:off x="6099079" y="1856195"/>
            <a:ext cx="4518122" cy="1688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Arial"/>
              <a:buNone/>
              <a:defRPr sz="270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6095999" y="3695015"/>
            <a:ext cx="4672693" cy="1688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 b="0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" name="Google Shape;104;p10"/>
          <p:cNvSpPr/>
          <p:nvPr/>
        </p:nvSpPr>
        <p:spPr>
          <a:xfrm>
            <a:off x="3843559" y="722518"/>
            <a:ext cx="1244907" cy="1405252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ADC0D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0"/>
          <p:cNvSpPr/>
          <p:nvPr/>
        </p:nvSpPr>
        <p:spPr>
          <a:xfrm>
            <a:off x="1223929" y="1436914"/>
            <a:ext cx="2857005" cy="326977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CD3A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758702" y="3457554"/>
            <a:ext cx="1208037" cy="138175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0"/>
          <p:cNvSpPr/>
          <p:nvPr/>
        </p:nvSpPr>
        <p:spPr>
          <a:xfrm>
            <a:off x="2917915" y="4662164"/>
            <a:ext cx="663381" cy="758922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EE8C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08" name="Google Shape;108;p10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0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miembros del equipo">
  <p:cSld name="4 miembros del equipo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1"/>
          <p:cNvSpPr>
            <a:spLocks noGrp="1"/>
          </p:cNvSpPr>
          <p:nvPr>
            <p:ph type="pic" idx="2"/>
          </p:nvPr>
        </p:nvSpPr>
        <p:spPr>
          <a:xfrm>
            <a:off x="1114798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3" name="Google Shape;113;p11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214003" y="476428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4" name="Google Shape;114;p11"/>
          <p:cNvSpPr txBox="1">
            <a:spLocks noGrp="1"/>
          </p:cNvSpPr>
          <p:nvPr>
            <p:ph type="body" idx="3"/>
          </p:nvPr>
        </p:nvSpPr>
        <p:spPr>
          <a:xfrm>
            <a:off x="1214003" y="5295180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5" name="Google Shape;115;p11"/>
          <p:cNvSpPr>
            <a:spLocks noGrp="1"/>
          </p:cNvSpPr>
          <p:nvPr>
            <p:ph type="pic" idx="4"/>
          </p:nvPr>
        </p:nvSpPr>
        <p:spPr>
          <a:xfrm>
            <a:off x="3623536" y="1840730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6" name="Google Shape;116;p11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3720440" y="4045832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7" name="Google Shape;117;p11"/>
          <p:cNvSpPr txBox="1">
            <a:spLocks noGrp="1"/>
          </p:cNvSpPr>
          <p:nvPr>
            <p:ph type="body" idx="6"/>
          </p:nvPr>
        </p:nvSpPr>
        <p:spPr>
          <a:xfrm>
            <a:off x="3720440" y="4576723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11"/>
          <p:cNvSpPr>
            <a:spLocks noGrp="1"/>
          </p:cNvSpPr>
          <p:nvPr>
            <p:ph type="pic" idx="7"/>
          </p:nvPr>
        </p:nvSpPr>
        <p:spPr>
          <a:xfrm>
            <a:off x="6113401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9" name="Google Shape;119;p11" descr="Haga clic en el icono para agregar una imagen"/>
          <p:cNvSpPr txBox="1">
            <a:spLocks noGrp="1"/>
          </p:cNvSpPr>
          <p:nvPr>
            <p:ph type="body" idx="8"/>
          </p:nvPr>
        </p:nvSpPr>
        <p:spPr>
          <a:xfrm>
            <a:off x="6218710" y="476428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9"/>
          </p:nvPr>
        </p:nvSpPr>
        <p:spPr>
          <a:xfrm>
            <a:off x="6218710" y="5295180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>
            <a:spLocks noGrp="1"/>
          </p:cNvSpPr>
          <p:nvPr>
            <p:ph type="pic" idx="13"/>
          </p:nvPr>
        </p:nvSpPr>
        <p:spPr>
          <a:xfrm>
            <a:off x="8500328" y="1836331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22" name="Google Shape;122;p11" descr="Haga clic en el icono para agregar una imagen"/>
          <p:cNvSpPr txBox="1">
            <a:spLocks noGrp="1"/>
          </p:cNvSpPr>
          <p:nvPr>
            <p:ph type="body" idx="14"/>
          </p:nvPr>
        </p:nvSpPr>
        <p:spPr>
          <a:xfrm>
            <a:off x="8635340" y="4045832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11"/>
          <p:cNvSpPr txBox="1">
            <a:spLocks noGrp="1"/>
          </p:cNvSpPr>
          <p:nvPr>
            <p:ph type="body" idx="15"/>
          </p:nvPr>
        </p:nvSpPr>
        <p:spPr>
          <a:xfrm>
            <a:off x="8635340" y="4576723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1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 miembros del equipo">
  <p:cSld name="8 miembros del equipo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"/>
          <p:cNvSpPr txBox="1">
            <a:spLocks noGrp="1"/>
          </p:cNvSpPr>
          <p:nvPr>
            <p:ph type="title"/>
          </p:nvPr>
        </p:nvSpPr>
        <p:spPr>
          <a:xfrm>
            <a:off x="509574" y="2367293"/>
            <a:ext cx="3909993" cy="3629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2"/>
          <p:cNvSpPr>
            <a:spLocks noGrp="1"/>
          </p:cNvSpPr>
          <p:nvPr>
            <p:ph type="pic" idx="2"/>
          </p:nvPr>
        </p:nvSpPr>
        <p:spPr>
          <a:xfrm>
            <a:off x="4269796" y="436455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12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5520210" y="522515"/>
            <a:ext cx="2289842" cy="626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12"/>
          <p:cNvSpPr txBox="1">
            <a:spLocks noGrp="1"/>
          </p:cNvSpPr>
          <p:nvPr>
            <p:ph type="body" idx="3"/>
          </p:nvPr>
        </p:nvSpPr>
        <p:spPr>
          <a:xfrm>
            <a:off x="5520211" y="1165881"/>
            <a:ext cx="2289842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12"/>
          <p:cNvSpPr>
            <a:spLocks noGrp="1"/>
          </p:cNvSpPr>
          <p:nvPr>
            <p:ph type="pic" idx="4"/>
          </p:nvPr>
        </p:nvSpPr>
        <p:spPr>
          <a:xfrm>
            <a:off x="8059916" y="436455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2" name="Google Shape;132;p12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9309889" y="642667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12"/>
          <p:cNvSpPr txBox="1">
            <a:spLocks noGrp="1"/>
          </p:cNvSpPr>
          <p:nvPr>
            <p:ph type="body" idx="6"/>
          </p:nvPr>
        </p:nvSpPr>
        <p:spPr>
          <a:xfrm>
            <a:off x="9309891" y="1165881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12"/>
          <p:cNvSpPr>
            <a:spLocks noGrp="1"/>
          </p:cNvSpPr>
          <p:nvPr>
            <p:ph type="pic" idx="7"/>
          </p:nvPr>
        </p:nvSpPr>
        <p:spPr>
          <a:xfrm>
            <a:off x="4269796" y="2004222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12" descr="Haga clic en el icono para agregar una imagen"/>
          <p:cNvSpPr txBox="1">
            <a:spLocks noGrp="1"/>
          </p:cNvSpPr>
          <p:nvPr>
            <p:ph type="body" idx="8"/>
          </p:nvPr>
        </p:nvSpPr>
        <p:spPr>
          <a:xfrm>
            <a:off x="5520210" y="2105171"/>
            <a:ext cx="2193021" cy="617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12"/>
          <p:cNvSpPr txBox="1">
            <a:spLocks noGrp="1"/>
          </p:cNvSpPr>
          <p:nvPr>
            <p:ph type="body" idx="9"/>
          </p:nvPr>
        </p:nvSpPr>
        <p:spPr>
          <a:xfrm>
            <a:off x="5520212" y="2739721"/>
            <a:ext cx="2193021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12"/>
          <p:cNvSpPr>
            <a:spLocks noGrp="1"/>
          </p:cNvSpPr>
          <p:nvPr>
            <p:ph type="pic" idx="13"/>
          </p:nvPr>
        </p:nvSpPr>
        <p:spPr>
          <a:xfrm>
            <a:off x="8059916" y="2004222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8" name="Google Shape;138;p12" descr="Haga clic en el icono para agregar una imagen"/>
          <p:cNvSpPr txBox="1">
            <a:spLocks noGrp="1"/>
          </p:cNvSpPr>
          <p:nvPr>
            <p:ph type="body" idx="14"/>
          </p:nvPr>
        </p:nvSpPr>
        <p:spPr>
          <a:xfrm>
            <a:off x="9309890" y="2032203"/>
            <a:ext cx="2098039" cy="701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12"/>
          <p:cNvSpPr txBox="1">
            <a:spLocks noGrp="1"/>
          </p:cNvSpPr>
          <p:nvPr>
            <p:ph type="body" idx="15"/>
          </p:nvPr>
        </p:nvSpPr>
        <p:spPr>
          <a:xfrm>
            <a:off x="9309890" y="274640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p12"/>
          <p:cNvSpPr>
            <a:spLocks noGrp="1"/>
          </p:cNvSpPr>
          <p:nvPr>
            <p:ph type="pic" idx="16"/>
          </p:nvPr>
        </p:nvSpPr>
        <p:spPr>
          <a:xfrm>
            <a:off x="4269796" y="3571991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12" descr="Haga clic en el icono para agregar una imagen"/>
          <p:cNvSpPr txBox="1">
            <a:spLocks noGrp="1"/>
          </p:cNvSpPr>
          <p:nvPr>
            <p:ph type="body" idx="17"/>
          </p:nvPr>
        </p:nvSpPr>
        <p:spPr>
          <a:xfrm>
            <a:off x="5520210" y="3775516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2" name="Google Shape;142;p12"/>
          <p:cNvSpPr txBox="1">
            <a:spLocks noGrp="1"/>
          </p:cNvSpPr>
          <p:nvPr>
            <p:ph type="body" idx="18"/>
          </p:nvPr>
        </p:nvSpPr>
        <p:spPr>
          <a:xfrm>
            <a:off x="5520211" y="431207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p12"/>
          <p:cNvSpPr>
            <a:spLocks noGrp="1"/>
          </p:cNvSpPr>
          <p:nvPr>
            <p:ph type="pic" idx="19"/>
          </p:nvPr>
        </p:nvSpPr>
        <p:spPr>
          <a:xfrm>
            <a:off x="8059916" y="3571991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4" name="Google Shape;144;p12" descr="Haga clic en el icono para agregar una imagen"/>
          <p:cNvSpPr txBox="1">
            <a:spLocks noGrp="1"/>
          </p:cNvSpPr>
          <p:nvPr>
            <p:ph type="body" idx="20"/>
          </p:nvPr>
        </p:nvSpPr>
        <p:spPr>
          <a:xfrm>
            <a:off x="9309889" y="3775516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12"/>
          <p:cNvSpPr txBox="1">
            <a:spLocks noGrp="1"/>
          </p:cNvSpPr>
          <p:nvPr>
            <p:ph type="body" idx="21"/>
          </p:nvPr>
        </p:nvSpPr>
        <p:spPr>
          <a:xfrm>
            <a:off x="9309891" y="431207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12"/>
          <p:cNvSpPr>
            <a:spLocks noGrp="1"/>
          </p:cNvSpPr>
          <p:nvPr>
            <p:ph type="pic" idx="22"/>
          </p:nvPr>
        </p:nvSpPr>
        <p:spPr>
          <a:xfrm>
            <a:off x="4269796" y="5153614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12" descr="Haga clic en el icono para agregar una imagen"/>
          <p:cNvSpPr txBox="1">
            <a:spLocks noGrp="1"/>
          </p:cNvSpPr>
          <p:nvPr>
            <p:ph type="body" idx="23"/>
          </p:nvPr>
        </p:nvSpPr>
        <p:spPr>
          <a:xfrm>
            <a:off x="5520210" y="536944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12"/>
          <p:cNvSpPr txBox="1">
            <a:spLocks noGrp="1"/>
          </p:cNvSpPr>
          <p:nvPr>
            <p:ph type="body" idx="24"/>
          </p:nvPr>
        </p:nvSpPr>
        <p:spPr>
          <a:xfrm>
            <a:off x="5520211" y="5901594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9" name="Google Shape;149;p12"/>
          <p:cNvSpPr>
            <a:spLocks noGrp="1"/>
          </p:cNvSpPr>
          <p:nvPr>
            <p:ph type="pic" idx="25"/>
          </p:nvPr>
        </p:nvSpPr>
        <p:spPr>
          <a:xfrm>
            <a:off x="8059916" y="5153614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50" name="Google Shape;150;p12" descr="Haga clic en el icono para agregar una imagen"/>
          <p:cNvSpPr txBox="1">
            <a:spLocks noGrp="1"/>
          </p:cNvSpPr>
          <p:nvPr>
            <p:ph type="body" idx="26"/>
          </p:nvPr>
        </p:nvSpPr>
        <p:spPr>
          <a:xfrm>
            <a:off x="9313612" y="536944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12"/>
          <p:cNvSpPr txBox="1">
            <a:spLocks noGrp="1"/>
          </p:cNvSpPr>
          <p:nvPr>
            <p:ph type="body" idx="27"/>
          </p:nvPr>
        </p:nvSpPr>
        <p:spPr>
          <a:xfrm>
            <a:off x="9309891" y="5901594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12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2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r>
              <a:rPr lang="es-ES"/>
              <a:t> de 11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scala de tiempo">
  <p:cSld name="Escala de tiempo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3"/>
          <p:cNvSpPr/>
          <p:nvPr/>
        </p:nvSpPr>
        <p:spPr>
          <a:xfrm>
            <a:off x="1295508" y="3039919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6" name="Google Shape;156;p13"/>
          <p:cNvSpPr/>
          <p:nvPr/>
        </p:nvSpPr>
        <p:spPr>
          <a:xfrm>
            <a:off x="3670763" y="1677046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7" name="Google Shape;157;p13"/>
          <p:cNvSpPr/>
          <p:nvPr/>
        </p:nvSpPr>
        <p:spPr>
          <a:xfrm>
            <a:off x="4865676" y="3722308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8" name="Google Shape;158;p13"/>
          <p:cNvSpPr/>
          <p:nvPr/>
        </p:nvSpPr>
        <p:spPr>
          <a:xfrm>
            <a:off x="7245668" y="3725411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9" name="Google Shape;159;p13"/>
          <p:cNvSpPr/>
          <p:nvPr/>
        </p:nvSpPr>
        <p:spPr>
          <a:xfrm>
            <a:off x="8440729" y="1677046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0" name="Google Shape;160;p13"/>
          <p:cNvSpPr/>
          <p:nvPr/>
        </p:nvSpPr>
        <p:spPr>
          <a:xfrm>
            <a:off x="1274779" y="1667026"/>
            <a:ext cx="7152768" cy="2736950"/>
          </a:xfrm>
          <a:custGeom>
            <a:avLst/>
            <a:gdLst/>
            <a:ahLst/>
            <a:cxnLst/>
            <a:rect l="l" t="t" r="r" b="b"/>
            <a:pathLst>
              <a:path w="7152768" h="2736950" extrusionOk="0">
                <a:moveTo>
                  <a:pt x="0" y="2063113"/>
                </a:moveTo>
                <a:cubicBezTo>
                  <a:pt x="405781" y="1831271"/>
                  <a:pt x="752967" y="1616359"/>
                  <a:pt x="1197659" y="1371385"/>
                </a:cubicBezTo>
                <a:lnTo>
                  <a:pt x="2393620" y="2055218"/>
                </a:lnTo>
                <a:cubicBezTo>
                  <a:pt x="2396863" y="1599639"/>
                  <a:pt x="2385767" y="1153198"/>
                  <a:pt x="2389010" y="697619"/>
                </a:cubicBezTo>
                <a:lnTo>
                  <a:pt x="3577170" y="0"/>
                </a:lnTo>
                <a:lnTo>
                  <a:pt x="4773889" y="698321"/>
                </a:lnTo>
                <a:cubicBezTo>
                  <a:pt x="4772268" y="1155521"/>
                  <a:pt x="4762088" y="1590256"/>
                  <a:pt x="4760467" y="2047456"/>
                </a:cubicBezTo>
                <a:lnTo>
                  <a:pt x="5972264" y="2736950"/>
                </a:lnTo>
                <a:lnTo>
                  <a:pt x="7152768" y="2052536"/>
                </a:lnTo>
              </a:path>
            </a:pathLst>
          </a:custGeom>
          <a:noFill/>
          <a:ln w="38100" cap="flat" cmpd="sng">
            <a:solidFill>
              <a:srgbClr val="D9E5F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1" name="Google Shape;161;p13"/>
          <p:cNvSpPr/>
          <p:nvPr/>
        </p:nvSpPr>
        <p:spPr>
          <a:xfrm>
            <a:off x="8440979" y="1677475"/>
            <a:ext cx="2373549" cy="2062264"/>
          </a:xfrm>
          <a:custGeom>
            <a:avLst/>
            <a:gdLst/>
            <a:ahLst/>
            <a:cxnLst/>
            <a:rect l="l" t="t" r="r" b="b"/>
            <a:pathLst>
              <a:path w="2373549" h="2062264" extrusionOk="0">
                <a:moveTo>
                  <a:pt x="2373549" y="680936"/>
                </a:moveTo>
                <a:lnTo>
                  <a:pt x="1186774" y="0"/>
                </a:lnTo>
                <a:lnTo>
                  <a:pt x="0" y="690664"/>
                </a:lnTo>
                <a:lnTo>
                  <a:pt x="0" y="2062264"/>
                </a:lnTo>
              </a:path>
            </a:pathLst>
          </a:custGeom>
          <a:noFill/>
          <a:ln w="38100" cap="flat" cmpd="sng">
            <a:solidFill>
              <a:srgbClr val="D9E5F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2" name="Google Shape;162;p13"/>
          <p:cNvSpPr/>
          <p:nvPr/>
        </p:nvSpPr>
        <p:spPr>
          <a:xfrm flipH="1">
            <a:off x="10715501" y="2243467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3" name="Google Shape;163;p13"/>
          <p:cNvSpPr/>
          <p:nvPr/>
        </p:nvSpPr>
        <p:spPr>
          <a:xfrm flipH="1">
            <a:off x="9534557" y="1571099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4" name="Google Shape;164;p13"/>
          <p:cNvSpPr/>
          <p:nvPr/>
        </p:nvSpPr>
        <p:spPr>
          <a:xfrm flipH="1">
            <a:off x="8328171" y="2258376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5" name="Google Shape;165;p13"/>
          <p:cNvSpPr/>
          <p:nvPr/>
        </p:nvSpPr>
        <p:spPr>
          <a:xfrm flipH="1">
            <a:off x="8333460" y="3610854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6" name="Google Shape;166;p13"/>
          <p:cNvSpPr/>
          <p:nvPr/>
        </p:nvSpPr>
        <p:spPr>
          <a:xfrm flipH="1">
            <a:off x="7146016" y="429086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7" name="Google Shape;167;p13"/>
          <p:cNvSpPr/>
          <p:nvPr/>
        </p:nvSpPr>
        <p:spPr>
          <a:xfrm flipH="1">
            <a:off x="5937847" y="361339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8" name="Google Shape;168;p13"/>
          <p:cNvSpPr/>
          <p:nvPr/>
        </p:nvSpPr>
        <p:spPr>
          <a:xfrm flipH="1">
            <a:off x="5951993" y="225130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9" name="Google Shape;169;p13"/>
          <p:cNvSpPr/>
          <p:nvPr/>
        </p:nvSpPr>
        <p:spPr>
          <a:xfrm flipH="1">
            <a:off x="4778156" y="1565771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0" name="Google Shape;170;p13"/>
          <p:cNvSpPr/>
          <p:nvPr/>
        </p:nvSpPr>
        <p:spPr>
          <a:xfrm flipH="1">
            <a:off x="3565843" y="2247823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1" name="Google Shape;171;p13"/>
          <p:cNvSpPr/>
          <p:nvPr/>
        </p:nvSpPr>
        <p:spPr>
          <a:xfrm flipH="1">
            <a:off x="3565952" y="361339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2" name="Google Shape;172;p13"/>
          <p:cNvSpPr/>
          <p:nvPr/>
        </p:nvSpPr>
        <p:spPr>
          <a:xfrm flipH="1">
            <a:off x="2386318" y="2962784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3" name="Google Shape;173;p13"/>
          <p:cNvSpPr/>
          <p:nvPr/>
        </p:nvSpPr>
        <p:spPr>
          <a:xfrm flipH="1">
            <a:off x="1190302" y="361221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4" name="Google Shape;174;p13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507136" y="386500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13"/>
          <p:cNvSpPr txBox="1">
            <a:spLocks noGrp="1"/>
          </p:cNvSpPr>
          <p:nvPr>
            <p:ph type="body" idx="2"/>
          </p:nvPr>
        </p:nvSpPr>
        <p:spPr>
          <a:xfrm>
            <a:off x="1507136" y="444707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6" name="Google Shape;176;p13" descr="Haga clic en el icono para agregar una imagen"/>
          <p:cNvSpPr txBox="1">
            <a:spLocks noGrp="1"/>
          </p:cNvSpPr>
          <p:nvPr>
            <p:ph type="body" idx="3"/>
          </p:nvPr>
        </p:nvSpPr>
        <p:spPr>
          <a:xfrm>
            <a:off x="3889942" y="235564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7" name="Google Shape;177;p13"/>
          <p:cNvSpPr txBox="1">
            <a:spLocks noGrp="1"/>
          </p:cNvSpPr>
          <p:nvPr>
            <p:ph type="body" idx="4"/>
          </p:nvPr>
        </p:nvSpPr>
        <p:spPr>
          <a:xfrm>
            <a:off x="3889942" y="293771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13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5107230" y="4469081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3"/>
          <p:cNvSpPr txBox="1">
            <a:spLocks noGrp="1"/>
          </p:cNvSpPr>
          <p:nvPr>
            <p:ph type="body" idx="6"/>
          </p:nvPr>
        </p:nvSpPr>
        <p:spPr>
          <a:xfrm>
            <a:off x="5107230" y="5051157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13" descr="Haga clic en el icono para agregar una imagen"/>
          <p:cNvSpPr txBox="1">
            <a:spLocks noGrp="1"/>
          </p:cNvSpPr>
          <p:nvPr>
            <p:ph type="body" idx="7"/>
          </p:nvPr>
        </p:nvSpPr>
        <p:spPr>
          <a:xfrm>
            <a:off x="7501941" y="4469081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13"/>
          <p:cNvSpPr txBox="1">
            <a:spLocks noGrp="1"/>
          </p:cNvSpPr>
          <p:nvPr>
            <p:ph type="body" idx="8"/>
          </p:nvPr>
        </p:nvSpPr>
        <p:spPr>
          <a:xfrm>
            <a:off x="7501941" y="5051157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2" name="Google Shape;182;p13" descr="Haga clic en el icono para agregar una imagen"/>
          <p:cNvSpPr txBox="1">
            <a:spLocks noGrp="1"/>
          </p:cNvSpPr>
          <p:nvPr>
            <p:ph type="body" idx="9"/>
          </p:nvPr>
        </p:nvSpPr>
        <p:spPr>
          <a:xfrm>
            <a:off x="8734718" y="235564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3" name="Google Shape;183;p13"/>
          <p:cNvSpPr txBox="1">
            <a:spLocks noGrp="1"/>
          </p:cNvSpPr>
          <p:nvPr>
            <p:ph type="body" idx="13"/>
          </p:nvPr>
        </p:nvSpPr>
        <p:spPr>
          <a:xfrm>
            <a:off x="8734718" y="293771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/>
          </p:nvPr>
        </p:nvSpPr>
        <p:spPr>
          <a:xfrm>
            <a:off x="578914" y="726705"/>
            <a:ext cx="10515600" cy="1205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contenido">
  <p:cSld name="Dos contenido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4"/>
          <p:cNvSpPr/>
          <p:nvPr/>
        </p:nvSpPr>
        <p:spPr>
          <a:xfrm flipH="1">
            <a:off x="769290" y="491100"/>
            <a:ext cx="1886361" cy="2213189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4"/>
          <p:cNvSpPr/>
          <p:nvPr/>
        </p:nvSpPr>
        <p:spPr>
          <a:xfrm flipH="1">
            <a:off x="783145" y="4057904"/>
            <a:ext cx="1886359" cy="2213189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4"/>
          <p:cNvSpPr/>
          <p:nvPr/>
        </p:nvSpPr>
        <p:spPr>
          <a:xfrm flipH="1">
            <a:off x="0" y="3709992"/>
            <a:ext cx="1157948" cy="1502830"/>
          </a:xfrm>
          <a:custGeom>
            <a:avLst/>
            <a:gdLst/>
            <a:ahLst/>
            <a:cxnLst/>
            <a:rect l="l" t="t" r="r" b="b"/>
            <a:pathLst>
              <a:path w="1157948" h="1502830" extrusionOk="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4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4550705" y="3625598"/>
            <a:ext cx="2653545" cy="587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2" name="Google Shape;192;p14"/>
          <p:cNvSpPr txBox="1">
            <a:spLocks noGrp="1"/>
          </p:cNvSpPr>
          <p:nvPr>
            <p:ph type="body" idx="2"/>
          </p:nvPr>
        </p:nvSpPr>
        <p:spPr>
          <a:xfrm>
            <a:off x="4550705" y="4246516"/>
            <a:ext cx="2653545" cy="1727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3" name="Google Shape;193;p14"/>
          <p:cNvSpPr>
            <a:spLocks noGrp="1"/>
          </p:cNvSpPr>
          <p:nvPr>
            <p:ph type="pic" idx="3"/>
          </p:nvPr>
        </p:nvSpPr>
        <p:spPr>
          <a:xfrm>
            <a:off x="1788170" y="2296125"/>
            <a:ext cx="1886360" cy="2144668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94" name="Google Shape;194;p14"/>
          <p:cNvSpPr txBox="1">
            <a:spLocks noGrp="1"/>
          </p:cNvSpPr>
          <p:nvPr>
            <p:ph type="title"/>
          </p:nvPr>
        </p:nvSpPr>
        <p:spPr>
          <a:xfrm>
            <a:off x="4550704" y="1690878"/>
            <a:ext cx="659942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5" name="Google Shape;195;p14" descr="Haga clic en el icono para agregar una imagen"/>
          <p:cNvSpPr txBox="1">
            <a:spLocks noGrp="1"/>
          </p:cNvSpPr>
          <p:nvPr>
            <p:ph type="body" idx="4"/>
          </p:nvPr>
        </p:nvSpPr>
        <p:spPr>
          <a:xfrm>
            <a:off x="7811506" y="3625598"/>
            <a:ext cx="2653545" cy="587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6" name="Google Shape;196;p14"/>
          <p:cNvSpPr txBox="1">
            <a:spLocks noGrp="1"/>
          </p:cNvSpPr>
          <p:nvPr>
            <p:ph type="body" idx="5"/>
          </p:nvPr>
        </p:nvSpPr>
        <p:spPr>
          <a:xfrm>
            <a:off x="7811506" y="4246516"/>
            <a:ext cx="2653545" cy="1727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7" name="Google Shape;197;p14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es contenidos">
  <p:cSld name="Tres contenidos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"/>
          <p:cNvSpPr/>
          <p:nvPr/>
        </p:nvSpPr>
        <p:spPr>
          <a:xfrm>
            <a:off x="0" y="2860787"/>
            <a:ext cx="2361029" cy="3676532"/>
          </a:xfrm>
          <a:custGeom>
            <a:avLst/>
            <a:gdLst/>
            <a:ahLst/>
            <a:cxnLst/>
            <a:rect l="l" t="t" r="r" b="b"/>
            <a:pathLst>
              <a:path w="2361029" h="3676532" extrusionOk="0">
                <a:moveTo>
                  <a:pt x="773997" y="0"/>
                </a:moveTo>
                <a:lnTo>
                  <a:pt x="2361029" y="925683"/>
                </a:lnTo>
                <a:lnTo>
                  <a:pt x="2361029" y="2763949"/>
                </a:lnTo>
                <a:lnTo>
                  <a:pt x="769661" y="3676532"/>
                </a:lnTo>
                <a:lnTo>
                  <a:pt x="0" y="3234717"/>
                </a:lnTo>
                <a:lnTo>
                  <a:pt x="0" y="446885"/>
                </a:lnTo>
                <a:close/>
              </a:path>
            </a:pathLst>
          </a:custGeom>
          <a:solidFill>
            <a:srgbClr val="FCD3A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5"/>
          <p:cNvSpPr/>
          <p:nvPr/>
        </p:nvSpPr>
        <p:spPr>
          <a:xfrm flipH="1">
            <a:off x="1014233" y="5253270"/>
            <a:ext cx="1710765" cy="1593273"/>
          </a:xfrm>
          <a:custGeom>
            <a:avLst/>
            <a:gdLst/>
            <a:ahLst/>
            <a:cxnLst/>
            <a:rect l="l" t="t" r="r" b="b"/>
            <a:pathLst>
              <a:path w="1710765" h="1593273" extrusionOk="0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5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5271609" y="1025236"/>
            <a:ext cx="5162709" cy="420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2" name="Google Shape;202;p15"/>
          <p:cNvSpPr txBox="1">
            <a:spLocks noGrp="1"/>
          </p:cNvSpPr>
          <p:nvPr>
            <p:ph type="body" idx="2"/>
          </p:nvPr>
        </p:nvSpPr>
        <p:spPr>
          <a:xfrm>
            <a:off x="5271608" y="1469069"/>
            <a:ext cx="5162709" cy="1506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Arial"/>
              <a:buChar char="•"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3" name="Google Shape;203;p15" descr="Haga clic en el icono para agregar una imagen"/>
          <p:cNvSpPr txBox="1">
            <a:spLocks noGrp="1"/>
          </p:cNvSpPr>
          <p:nvPr>
            <p:ph type="body" idx="3"/>
          </p:nvPr>
        </p:nvSpPr>
        <p:spPr>
          <a:xfrm>
            <a:off x="5271609" y="2984685"/>
            <a:ext cx="5162709" cy="420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4" name="Google Shape;204;p15" descr="Haga clic en el icono para agregar una imagen"/>
          <p:cNvSpPr txBox="1">
            <a:spLocks noGrp="1"/>
          </p:cNvSpPr>
          <p:nvPr>
            <p:ph type="body" idx="4"/>
          </p:nvPr>
        </p:nvSpPr>
        <p:spPr>
          <a:xfrm>
            <a:off x="5271607" y="4597473"/>
            <a:ext cx="5162709" cy="421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5" name="Google Shape;205;p15"/>
          <p:cNvSpPr txBox="1">
            <a:spLocks noGrp="1"/>
          </p:cNvSpPr>
          <p:nvPr>
            <p:ph type="body" idx="5"/>
          </p:nvPr>
        </p:nvSpPr>
        <p:spPr>
          <a:xfrm>
            <a:off x="5271608" y="3419684"/>
            <a:ext cx="5162709" cy="117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Arial"/>
              <a:buChar char="•"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6" name="Google Shape;206;p15"/>
          <p:cNvSpPr txBox="1">
            <a:spLocks noGrp="1"/>
          </p:cNvSpPr>
          <p:nvPr>
            <p:ph type="body" idx="6"/>
          </p:nvPr>
        </p:nvSpPr>
        <p:spPr>
          <a:xfrm>
            <a:off x="5271608" y="5041922"/>
            <a:ext cx="5162709" cy="163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Arial"/>
              <a:buChar char="•"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7" name="Google Shape;207;p15"/>
          <p:cNvSpPr/>
          <p:nvPr/>
        </p:nvSpPr>
        <p:spPr>
          <a:xfrm flipH="1">
            <a:off x="2631891" y="4699053"/>
            <a:ext cx="668814" cy="784693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8DA9D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5"/>
          <p:cNvSpPr txBox="1">
            <a:spLocks noGrp="1"/>
          </p:cNvSpPr>
          <p:nvPr>
            <p:ph type="title"/>
          </p:nvPr>
        </p:nvSpPr>
        <p:spPr>
          <a:xfrm>
            <a:off x="502665" y="707105"/>
            <a:ext cx="3994173" cy="2277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15"/>
          <p:cNvSpPr>
            <a:spLocks noGrp="1"/>
          </p:cNvSpPr>
          <p:nvPr>
            <p:ph type="pic" idx="7"/>
          </p:nvPr>
        </p:nvSpPr>
        <p:spPr>
          <a:xfrm>
            <a:off x="4734172" y="1141669"/>
            <a:ext cx="507778" cy="565882"/>
          </a:xfrm>
          <a:prstGeom prst="rect">
            <a:avLst/>
          </a:prstGeom>
          <a:noFill/>
          <a:ln>
            <a:noFill/>
          </a:ln>
        </p:spPr>
      </p:sp>
      <p:sp>
        <p:nvSpPr>
          <p:cNvPr id="210" name="Google Shape;210;p15"/>
          <p:cNvSpPr>
            <a:spLocks noGrp="1"/>
          </p:cNvSpPr>
          <p:nvPr>
            <p:ph type="pic" idx="8"/>
          </p:nvPr>
        </p:nvSpPr>
        <p:spPr>
          <a:xfrm>
            <a:off x="4724705" y="3105650"/>
            <a:ext cx="536270" cy="565882"/>
          </a:xfrm>
          <a:prstGeom prst="rect">
            <a:avLst/>
          </a:prstGeom>
          <a:noFill/>
          <a:ln>
            <a:noFill/>
          </a:ln>
        </p:spPr>
      </p:sp>
      <p:sp>
        <p:nvSpPr>
          <p:cNvPr id="211" name="Google Shape;211;p15"/>
          <p:cNvSpPr>
            <a:spLocks noGrp="1"/>
          </p:cNvSpPr>
          <p:nvPr>
            <p:ph type="pic" idx="9"/>
          </p:nvPr>
        </p:nvSpPr>
        <p:spPr>
          <a:xfrm>
            <a:off x="4714069" y="4716041"/>
            <a:ext cx="536270" cy="565882"/>
          </a:xfrm>
          <a:prstGeom prst="rect">
            <a:avLst/>
          </a:prstGeom>
          <a:noFill/>
          <a:ln>
            <a:noFill/>
          </a:ln>
        </p:spPr>
      </p:sp>
      <p:sp>
        <p:nvSpPr>
          <p:cNvPr id="212" name="Google Shape;212;p15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sumen">
  <p:cSld name="Resumen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"/>
          <p:cNvSpPr>
            <a:spLocks noGrp="1"/>
          </p:cNvSpPr>
          <p:nvPr>
            <p:ph type="pic" idx="2"/>
          </p:nvPr>
        </p:nvSpPr>
        <p:spPr>
          <a:xfrm>
            <a:off x="7493157" y="529148"/>
            <a:ext cx="4248873" cy="4731130"/>
          </a:xfrm>
          <a:prstGeom prst="rect">
            <a:avLst/>
          </a:prstGeom>
          <a:noFill/>
          <a:ln>
            <a:noFill/>
          </a:ln>
        </p:spPr>
      </p:sp>
      <p:sp>
        <p:nvSpPr>
          <p:cNvPr id="215" name="Google Shape;215;p16"/>
          <p:cNvSpPr txBox="1">
            <a:spLocks noGrp="1"/>
          </p:cNvSpPr>
          <p:nvPr>
            <p:ph type="body" idx="1"/>
          </p:nvPr>
        </p:nvSpPr>
        <p:spPr>
          <a:xfrm>
            <a:off x="517427" y="3253120"/>
            <a:ext cx="4959822" cy="2007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500"/>
              <a:buNone/>
              <a:defRPr sz="15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6" name="Google Shape;216;p16"/>
          <p:cNvSpPr/>
          <p:nvPr/>
        </p:nvSpPr>
        <p:spPr>
          <a:xfrm flipH="1">
            <a:off x="7400972" y="4508725"/>
            <a:ext cx="1347680" cy="1581179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rgbClr val="FABE7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6"/>
          <p:cNvSpPr/>
          <p:nvPr/>
        </p:nvSpPr>
        <p:spPr>
          <a:xfrm>
            <a:off x="6521016" y="4772906"/>
            <a:ext cx="663381" cy="758922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218" name="Google Shape;218;p16"/>
          <p:cNvSpPr txBox="1">
            <a:spLocks noGrp="1"/>
          </p:cNvSpPr>
          <p:nvPr>
            <p:ph type="title"/>
          </p:nvPr>
        </p:nvSpPr>
        <p:spPr>
          <a:xfrm>
            <a:off x="517427" y="2497488"/>
            <a:ext cx="982399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16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0" name="Google Shape;220;p16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cias">
  <p:cSld name="Gracia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/>
          <p:cNvSpPr/>
          <p:nvPr/>
        </p:nvSpPr>
        <p:spPr>
          <a:xfrm>
            <a:off x="410352" y="12435"/>
            <a:ext cx="1455521" cy="1019127"/>
          </a:xfrm>
          <a:custGeom>
            <a:avLst/>
            <a:gdLst/>
            <a:ahLst/>
            <a:cxnLst/>
            <a:rect l="l" t="t" r="r" b="b"/>
            <a:pathLst>
              <a:path w="1455521" h="1019127" extrusionOk="0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7"/>
          <p:cNvSpPr/>
          <p:nvPr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7"/>
          <p:cNvSpPr/>
          <p:nvPr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7"/>
          <p:cNvSpPr/>
          <p:nvPr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7"/>
          <p:cNvSpPr/>
          <p:nvPr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7"/>
          <p:cNvSpPr/>
          <p:nvPr/>
        </p:nvSpPr>
        <p:spPr>
          <a:xfrm>
            <a:off x="3955762" y="5952136"/>
            <a:ext cx="1455521" cy="932559"/>
          </a:xfrm>
          <a:custGeom>
            <a:avLst/>
            <a:gdLst/>
            <a:ahLst/>
            <a:cxnLst/>
            <a:rect l="l" t="t" r="r" b="b"/>
            <a:pathLst>
              <a:path w="1455521" h="932559" extrusionOk="0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7"/>
          <p:cNvSpPr/>
          <p:nvPr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7"/>
          <p:cNvSpPr/>
          <p:nvPr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334C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7"/>
          <p:cNvSpPr/>
          <p:nvPr/>
        </p:nvSpPr>
        <p:spPr>
          <a:xfrm>
            <a:off x="3702" y="448131"/>
            <a:ext cx="678871" cy="1266696"/>
          </a:xfrm>
          <a:custGeom>
            <a:avLst/>
            <a:gdLst/>
            <a:ahLst/>
            <a:cxnLst/>
            <a:rect l="l" t="t" r="r" b="b"/>
            <a:pathLst>
              <a:path w="678871" h="1266696" extrusionOk="0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7"/>
          <p:cNvSpPr/>
          <p:nvPr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 cap="flat" cmpd="sng">
            <a:solidFill>
              <a:srgbClr val="FABE7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7"/>
          <p:cNvSpPr/>
          <p:nvPr/>
        </p:nvSpPr>
        <p:spPr>
          <a:xfrm>
            <a:off x="6334981" y="5962237"/>
            <a:ext cx="1455521" cy="901561"/>
          </a:xfrm>
          <a:custGeom>
            <a:avLst/>
            <a:gdLst/>
            <a:ahLst/>
            <a:cxnLst/>
            <a:rect l="l" t="t" r="r" b="b"/>
            <a:pathLst>
              <a:path w="1455521" h="901561" extrusionOk="0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7"/>
          <p:cNvSpPr>
            <a:spLocks noGrp="1"/>
          </p:cNvSpPr>
          <p:nvPr>
            <p:ph type="pic" idx="2"/>
          </p:nvPr>
        </p:nvSpPr>
        <p:spPr>
          <a:xfrm>
            <a:off x="2754948" y="250209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4" name="Google Shape;234;p17"/>
          <p:cNvSpPr>
            <a:spLocks noGrp="1"/>
          </p:cNvSpPr>
          <p:nvPr>
            <p:ph type="pic" idx="3"/>
          </p:nvPr>
        </p:nvSpPr>
        <p:spPr>
          <a:xfrm>
            <a:off x="391110" y="2493385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5" name="Google Shape;235;p17"/>
          <p:cNvSpPr>
            <a:spLocks noGrp="1"/>
          </p:cNvSpPr>
          <p:nvPr>
            <p:ph type="pic" idx="4"/>
          </p:nvPr>
        </p:nvSpPr>
        <p:spPr>
          <a:xfrm>
            <a:off x="5151412" y="5238680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6" name="Google Shape;236;p17"/>
          <p:cNvSpPr>
            <a:spLocks noGrp="1"/>
          </p:cNvSpPr>
          <p:nvPr>
            <p:ph type="pic" idx="5"/>
          </p:nvPr>
        </p:nvSpPr>
        <p:spPr>
          <a:xfrm>
            <a:off x="3948599" y="319492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7" name="Google Shape;237;p17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6096000" y="3093990"/>
            <a:ext cx="3034145" cy="187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8" name="Google Shape;238;p17"/>
          <p:cNvSpPr txBox="1">
            <a:spLocks noGrp="1"/>
          </p:cNvSpPr>
          <p:nvPr>
            <p:ph type="title"/>
          </p:nvPr>
        </p:nvSpPr>
        <p:spPr>
          <a:xfrm>
            <a:off x="6096000" y="1703538"/>
            <a:ext cx="505569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17"/>
          <p:cNvSpPr/>
          <p:nvPr/>
        </p:nvSpPr>
        <p:spPr>
          <a:xfrm>
            <a:off x="-6538" y="1815084"/>
            <a:ext cx="697438" cy="1266696"/>
          </a:xfrm>
          <a:custGeom>
            <a:avLst/>
            <a:gdLst/>
            <a:ahLst/>
            <a:cxnLst/>
            <a:rect l="l" t="t" r="r" b="b"/>
            <a:pathLst>
              <a:path w="697438" h="1266696" extrusionOk="0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 cap="flat" cmpd="sng">
            <a:solidFill>
              <a:srgbClr val="D5DFE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lumna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67FF6BA4-2B1B-4B51-9FE3-A67E3DCC31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200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0" name="Marcador de posición del contenido 47">
            <a:extLst>
              <a:ext uri="{FF2B5EF4-FFF2-40B4-BE49-F238E27FC236}">
                <a16:creationId xmlns:a16="http://schemas.microsoft.com/office/drawing/2014/main" id="{88E2377A-ED6B-4D69-A9DC-647CB22A520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000303" y="2929823"/>
            <a:ext cx="1867186" cy="2471878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1" name="Marcador de posición del contenido 47">
            <a:extLst>
              <a:ext uri="{FF2B5EF4-FFF2-40B4-BE49-F238E27FC236}">
                <a16:creationId xmlns:a16="http://schemas.microsoft.com/office/drawing/2014/main" id="{ECC27D7D-FA65-E93F-3C7E-AADBF7E0CC2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64216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>
            <a:extLst>
              <a:ext uri="{FF2B5EF4-FFF2-40B4-BE49-F238E27FC236}">
                <a16:creationId xmlns:a16="http://schemas.microsoft.com/office/drawing/2014/main" id="{DF5280E4-E86B-9E17-04A1-072A8148C3B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326319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>
            <a:extLst>
              <a:ext uri="{FF2B5EF4-FFF2-40B4-BE49-F238E27FC236}">
                <a16:creationId xmlns:a16="http://schemas.microsoft.com/office/drawing/2014/main" id="{42F4F0D3-AF64-7F92-FF1C-F5D1DC62A38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488424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7" name="Marcador de posición del contenido 47">
            <a:extLst>
              <a:ext uri="{FF2B5EF4-FFF2-40B4-BE49-F238E27FC236}">
                <a16:creationId xmlns:a16="http://schemas.microsoft.com/office/drawing/2014/main" id="{43D089D6-48B5-43AB-A887-EEF910BA916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8200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4" name="Marcador de título 4">
            <a:extLst>
              <a:ext uri="{FF2B5EF4-FFF2-40B4-BE49-F238E27FC236}">
                <a16:creationId xmlns:a16="http://schemas.microsoft.com/office/drawing/2014/main" id="{69ABDED2-7EB3-3ABE-90D0-E6C00F806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25" name="Marcador de posición del contenido 47">
            <a:extLst>
              <a:ext uri="{FF2B5EF4-FFF2-40B4-BE49-F238E27FC236}">
                <a16:creationId xmlns:a16="http://schemas.microsoft.com/office/drawing/2014/main" id="{476A31DC-7395-007C-8BA1-C38E5B289CF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000756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6" name="Marcador de posición del contenido 47">
            <a:extLst>
              <a:ext uri="{FF2B5EF4-FFF2-40B4-BE49-F238E27FC236}">
                <a16:creationId xmlns:a16="http://schemas.microsoft.com/office/drawing/2014/main" id="{35CE0786-D87B-DD89-C418-C53C1B7E610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163312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8" name="Marcador de posición del contenido 47">
            <a:extLst>
              <a:ext uri="{FF2B5EF4-FFF2-40B4-BE49-F238E27FC236}">
                <a16:creationId xmlns:a16="http://schemas.microsoft.com/office/drawing/2014/main" id="{7C7F2E6C-1DCD-3C6A-4830-5BF230A3AAB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325868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9" name="Marcador de posición del contenido 47">
            <a:extLst>
              <a:ext uri="{FF2B5EF4-FFF2-40B4-BE49-F238E27FC236}">
                <a16:creationId xmlns:a16="http://schemas.microsoft.com/office/drawing/2014/main" id="{56A87F6E-D6C5-8903-BC20-31381004603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488424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11" name="Marcador de pie de página 10">
            <a:extLst>
              <a:ext uri="{FF2B5EF4-FFF2-40B4-BE49-F238E27FC236}">
                <a16:creationId xmlns:a16="http://schemas.microsoft.com/office/drawing/2014/main" id="{7218367E-FDD8-A1F8-8E0F-A365771B85F7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 noProof="0"/>
              <a:t>Título de la presentación</a:t>
            </a:r>
            <a:endParaRPr lang="es-ES" noProof="0" dirty="0"/>
          </a:p>
        </p:txBody>
      </p:sp>
      <p:sp>
        <p:nvSpPr>
          <p:cNvPr id="12" name="Marcador de número de diapositiva 11">
            <a:extLst>
              <a:ext uri="{FF2B5EF4-FFF2-40B4-BE49-F238E27FC236}">
                <a16:creationId xmlns:a16="http://schemas.microsoft.com/office/drawing/2014/main" id="{77ECE300-0AB8-85A0-D4D3-B948DDA7B00F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noProof="0" smtClean="0"/>
              <a:pPr rtl="0"/>
              <a:t>‹Nº›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41513823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 columnas con icon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rma libre: Forma 6">
            <a:extLst>
              <a:ext uri="{FF2B5EF4-FFF2-40B4-BE49-F238E27FC236}">
                <a16:creationId xmlns:a16="http://schemas.microsoft.com/office/drawing/2014/main" id="{A533F602-EEC9-45F6-8223-8C8F4914919D}"/>
              </a:ext>
            </a:extLst>
          </p:cNvPr>
          <p:cNvSpPr/>
          <p:nvPr userDrawn="1"/>
        </p:nvSpPr>
        <p:spPr>
          <a:xfrm>
            <a:off x="2121636" y="2070606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5" name="Forma libre: Forma 7">
            <a:extLst>
              <a:ext uri="{FF2B5EF4-FFF2-40B4-BE49-F238E27FC236}">
                <a16:creationId xmlns:a16="http://schemas.microsoft.com/office/drawing/2014/main" id="{08F73F8C-5CF8-4470-AE2B-8E6D7952FF3E}"/>
              </a:ext>
            </a:extLst>
          </p:cNvPr>
          <p:cNvSpPr/>
          <p:nvPr userDrawn="1"/>
        </p:nvSpPr>
        <p:spPr>
          <a:xfrm>
            <a:off x="4174867" y="207344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6" name="Forma libre: Forma 8">
            <a:extLst>
              <a:ext uri="{FF2B5EF4-FFF2-40B4-BE49-F238E27FC236}">
                <a16:creationId xmlns:a16="http://schemas.microsoft.com/office/drawing/2014/main" id="{1299AD72-44AB-4D37-ABBB-9E295508DDB5}"/>
              </a:ext>
            </a:extLst>
          </p:cNvPr>
          <p:cNvSpPr/>
          <p:nvPr userDrawn="1"/>
        </p:nvSpPr>
        <p:spPr>
          <a:xfrm>
            <a:off x="6308379" y="206452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7" name="Forma libre: Forma 9">
            <a:extLst>
              <a:ext uri="{FF2B5EF4-FFF2-40B4-BE49-F238E27FC236}">
                <a16:creationId xmlns:a16="http://schemas.microsoft.com/office/drawing/2014/main" id="{834981F1-A16D-4CA2-8001-0D2A65539268}"/>
              </a:ext>
            </a:extLst>
          </p:cNvPr>
          <p:cNvSpPr/>
          <p:nvPr userDrawn="1"/>
        </p:nvSpPr>
        <p:spPr>
          <a:xfrm>
            <a:off x="8407152" y="206898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31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7AA46292-B7E4-4DB5-85D0-C4F19D66F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21770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382E7D57-1A1A-432F-AEA9-9730DEE157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2627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E51F0384-440E-45B9-91E7-78CA13DE0B9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88314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4" name="Marcador de posición del contenido 47">
            <a:extLst>
              <a:ext uri="{FF2B5EF4-FFF2-40B4-BE49-F238E27FC236}">
                <a16:creationId xmlns:a16="http://schemas.microsoft.com/office/drawing/2014/main" id="{35EAE525-3692-40E8-894E-B19171FF64F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979171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5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847DC539-F391-4470-96EB-486AB02DADB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073898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6" name="Marcador de posición del contenido 47">
            <a:extLst>
              <a:ext uri="{FF2B5EF4-FFF2-40B4-BE49-F238E27FC236}">
                <a16:creationId xmlns:a16="http://schemas.microsoft.com/office/drawing/2014/main" id="{50988645-D146-4AFE-B87D-27927957717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164755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6712E8AC-14E0-42CC-8037-7C1D0E044B61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259482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8" name="Marcador de posición del contenido 47">
            <a:extLst>
              <a:ext uri="{FF2B5EF4-FFF2-40B4-BE49-F238E27FC236}">
                <a16:creationId xmlns:a16="http://schemas.microsoft.com/office/drawing/2014/main" id="{C68DF822-6F14-4839-BD33-6874C8136EE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350339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9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2D1F75C7-DA21-4400-B066-F38190B4F52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45066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40" name="Marcador de posición del contenido 47">
            <a:extLst>
              <a:ext uri="{FF2B5EF4-FFF2-40B4-BE49-F238E27FC236}">
                <a16:creationId xmlns:a16="http://schemas.microsoft.com/office/drawing/2014/main" id="{F7CF6BF0-A40D-4F18-B9DF-D9C4106065D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535923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41" name="Marcador de posición del contenido 47">
            <a:extLst>
              <a:ext uri="{FF2B5EF4-FFF2-40B4-BE49-F238E27FC236}">
                <a16:creationId xmlns:a16="http://schemas.microsoft.com/office/drawing/2014/main" id="{95C6B2A2-937E-4C7D-92E3-8A105DD43A98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3282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2" name="Marcador de posición del contenido 47">
            <a:extLst>
              <a:ext uri="{FF2B5EF4-FFF2-40B4-BE49-F238E27FC236}">
                <a16:creationId xmlns:a16="http://schemas.microsoft.com/office/drawing/2014/main" id="{A9ECEF10-95EB-4F03-B3B1-8FC0E421618E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310934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3" name="Marcador de posición del contenido 47">
            <a:extLst>
              <a:ext uri="{FF2B5EF4-FFF2-40B4-BE49-F238E27FC236}">
                <a16:creationId xmlns:a16="http://schemas.microsoft.com/office/drawing/2014/main" id="{12D92FE1-9874-49B8-8FDC-F903A4843015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5235410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4" name="Marcador de posición del contenido 47">
            <a:extLst>
              <a:ext uri="{FF2B5EF4-FFF2-40B4-BE49-F238E27FC236}">
                <a16:creationId xmlns:a16="http://schemas.microsoft.com/office/drawing/2014/main" id="{12070F52-AB91-476E-9FE0-5403568A11DD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361474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5" name="Marcador de posición del contenido 47">
            <a:extLst>
              <a:ext uri="{FF2B5EF4-FFF2-40B4-BE49-F238E27FC236}">
                <a16:creationId xmlns:a16="http://schemas.microsoft.com/office/drawing/2014/main" id="{13AE459B-26D7-43FC-BE0B-EF7B119D7D40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948753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25" name="Marcador de título 4">
            <a:extLst>
              <a:ext uri="{FF2B5EF4-FFF2-40B4-BE49-F238E27FC236}">
                <a16:creationId xmlns:a16="http://schemas.microsoft.com/office/drawing/2014/main" id="{C8ECEE37-7B17-4FD7-2612-FBD357E10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F7F2CD23-FF0B-8184-9F40-957043412F1C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876D293-58F2-B8E9-6576-2676F210D7CF}"/>
              </a:ext>
            </a:extLst>
          </p:cNvPr>
          <p:cNvSpPr>
            <a:spLocks noGrp="1"/>
          </p:cNvSpPr>
          <p:nvPr>
            <p:ph type="sldNum" sz="quarter" idx="63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‹Nº›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1647461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5" r:id="rId15"/>
    <p:sldLayoutId id="2147483666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>
          <p15:clr>
            <a:srgbClr val="F26B43"/>
          </p15:clr>
        </p15:guide>
        <p15:guide id="2" pos="3840">
          <p15:clr>
            <a:srgbClr val="F26B43"/>
          </p15:clr>
        </p15:guide>
        <p15:guide id="3" pos="5640">
          <p15:clr>
            <a:srgbClr val="F26B43"/>
          </p15:clr>
        </p15:guide>
        <p15:guide id="4" pos="1656">
          <p15:clr>
            <a:srgbClr val="F26B43"/>
          </p15:clr>
        </p15:guide>
        <p15:guide id="5" pos="52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8"/>
          <p:cNvSpPr txBox="1">
            <a:spLocks noGrp="1"/>
          </p:cNvSpPr>
          <p:nvPr>
            <p:ph type="title"/>
          </p:nvPr>
        </p:nvSpPr>
        <p:spPr>
          <a:xfrm>
            <a:off x="368968" y="1967271"/>
            <a:ext cx="5521299" cy="2057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Font typeface="Arial Black"/>
              <a:buNone/>
            </a:pPr>
            <a:r>
              <a:rPr lang="es-ES" sz="30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Factores Predominantes en Hogares con Pobreza Multidimensional en la Región de Los Ríos (2017–2024)</a:t>
            </a:r>
            <a:endParaRPr/>
          </a:p>
        </p:txBody>
      </p:sp>
      <p:sp>
        <p:nvSpPr>
          <p:cNvPr id="246" name="Google Shape;246;p18"/>
          <p:cNvSpPr txBox="1">
            <a:spLocks noGrp="1"/>
          </p:cNvSpPr>
          <p:nvPr>
            <p:ph type="body" idx="1"/>
          </p:nvPr>
        </p:nvSpPr>
        <p:spPr>
          <a:xfrm>
            <a:off x="1524529" y="4113817"/>
            <a:ext cx="2469956" cy="205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Cristóbal Espinoza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Vicente Paredes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Javier Ramírez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Fabián Reyes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Profesor: Luis Veas C.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8"/>
          <p:cNvSpPr/>
          <p:nvPr/>
        </p:nvSpPr>
        <p:spPr>
          <a:xfrm>
            <a:off x="9857505" y="838985"/>
            <a:ext cx="1637958" cy="1873859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rgbClr val="4D8CD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248" name="Google Shape;248;p18"/>
          <p:cNvSpPr/>
          <p:nvPr/>
        </p:nvSpPr>
        <p:spPr>
          <a:xfrm>
            <a:off x="5974436" y="3694919"/>
            <a:ext cx="1637958" cy="1873859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>
              <a:alpha val="50196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pic>
        <p:nvPicPr>
          <p:cNvPr id="249" name="Google Shape;249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4758" y="1289222"/>
            <a:ext cx="4956737" cy="4235757"/>
          </a:xfrm>
          <a:prstGeom prst="rect">
            <a:avLst/>
          </a:prstGeom>
          <a:noFill/>
          <a:ln>
            <a:noFill/>
          </a:ln>
          <a:effectLst>
            <a:outerShdw blurRad="190500" algn="tl" rotWithShape="0">
              <a:srgbClr val="000000">
                <a:alpha val="70196"/>
              </a:srgbClr>
            </a:outerShdw>
          </a:effectLst>
        </p:spPr>
      </p:pic>
      <p:sp>
        <p:nvSpPr>
          <p:cNvPr id="250" name="Google Shape;250;p18"/>
          <p:cNvSpPr txBox="1"/>
          <p:nvPr/>
        </p:nvSpPr>
        <p:spPr>
          <a:xfrm>
            <a:off x="368968" y="1601167"/>
            <a:ext cx="266580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Arial"/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Computación Científica con Python</a:t>
            </a:r>
            <a:endParaRPr/>
          </a:p>
        </p:txBody>
      </p:sp>
      <p:pic>
        <p:nvPicPr>
          <p:cNvPr id="251" name="Google Shape;251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3453" y="632901"/>
            <a:ext cx="2665805" cy="615809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9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/>
              <a:t>Introducción</a:t>
            </a:r>
            <a:endParaRPr/>
          </a:p>
        </p:txBody>
      </p:sp>
      <p:sp>
        <p:nvSpPr>
          <p:cNvPr id="257" name="Google Shape;257;p19"/>
          <p:cNvSpPr>
            <a:spLocks noGrp="1"/>
          </p:cNvSpPr>
          <p:nvPr>
            <p:ph type="chart" idx="2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La pobreza va más allá del ingreso → el IPM (PNUD/OPHI, 2010) mide privaciones en educación, salud, trabajo y vivienda</a:t>
            </a:r>
            <a:endParaRPr sz="20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Chile adoptó su IPM nacional en 2014, medido bianualmente vía CASEN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Los Ríos muestra alta heterogeneidad: de 13,9% (Valdivia) a 35,4% (Lago Ranco) en 2022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Este trabajo analiza los determinantes comunales usando CASEN, Censo 2017 y 2024</a:t>
            </a:r>
            <a:endParaRPr sz="20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9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Título de la presentación</a:t>
            </a:r>
            <a:endParaRPr/>
          </a:p>
        </p:txBody>
      </p:sp>
      <p:sp>
        <p:nvSpPr>
          <p:cNvPr id="259" name="Google Shape;259;p19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2</a:t>
            </a:fld>
            <a:r>
              <a:rPr lang="es-ES" dirty="0"/>
              <a:t> de 13</a:t>
            </a:r>
            <a:endParaRPr dirty="0"/>
          </a:p>
        </p:txBody>
      </p:sp>
      <p:pic>
        <p:nvPicPr>
          <p:cNvPr id="260" name="Google Shape;260;p19" descr="Observatorio Social - Ministerio de Desarrollo Social y Famili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9121" y="4611174"/>
            <a:ext cx="3140311" cy="6243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19" descr="Censo 2024, la mejor encuesta geoestadística de planificación para un país  - Escuela de Salud Pública"/>
          <p:cNvPicPr preferRelativeResize="0"/>
          <p:nvPr/>
        </p:nvPicPr>
        <p:blipFill rotWithShape="1">
          <a:blip r:embed="rId4">
            <a:alphaModFix/>
          </a:blip>
          <a:srcRect b="30153"/>
          <a:stretch/>
        </p:blipFill>
        <p:spPr>
          <a:xfrm>
            <a:off x="5303384" y="4321238"/>
            <a:ext cx="2647950" cy="12041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0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Preguntas de investigación</a:t>
            </a:r>
            <a:endParaRPr/>
          </a:p>
        </p:txBody>
      </p:sp>
      <p:sp>
        <p:nvSpPr>
          <p:cNvPr id="268" name="Google Shape;268;p20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69" name="Google Shape;269;p20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 smtClean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 de 13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0"/>
          <p:cNvSpPr>
            <a:spLocks noGrp="1"/>
          </p:cNvSpPr>
          <p:nvPr>
            <p:ph type="chart" idx="2"/>
          </p:nvPr>
        </p:nvSpPr>
        <p:spPr>
          <a:xfrm>
            <a:off x="571775" y="2273025"/>
            <a:ext cx="11115900" cy="3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4889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Mate"/>
              <a:buAutoNum type="arabicPeriod"/>
            </a:pPr>
            <a:r>
              <a:rPr lang="es-ES" sz="25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¿Qué dimensiones del IPM tienen mayor incidencia en la pobreza multidimensional de las comunas de la Región de Los Ríos en 2017 y 2024?</a:t>
            </a:r>
            <a:endParaRPr sz="25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/>
          </a:p>
          <a:p>
            <a:pPr marL="457200" marR="0" lvl="0" indent="-4889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Mate"/>
              <a:buAutoNum type="arabicPeriod"/>
            </a:pPr>
            <a:r>
              <a:rPr lang="es-ES" sz="25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¿Cómo ha evolucionado la incidencia de las carencias en educación, vivienda, composición de hogar y empleos e ingresos a nivel comunal entre 2017 y 2024?</a:t>
            </a:r>
            <a:endParaRPr sz="25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"/>
          <p:cNvSpPr txBox="1">
            <a:spLocks noGrp="1"/>
          </p:cNvSpPr>
          <p:nvPr>
            <p:ph type="title"/>
          </p:nvPr>
        </p:nvSpPr>
        <p:spPr>
          <a:xfrm>
            <a:off x="7678439" y="507076"/>
            <a:ext cx="4216782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Solución</a:t>
            </a:r>
            <a:endParaRPr/>
          </a:p>
        </p:txBody>
      </p:sp>
      <p:sp>
        <p:nvSpPr>
          <p:cNvPr id="277" name="Google Shape;277;p2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78" name="Google Shape;278;p2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fld id="{00000000-1234-1234-1234-123412341234}" type="slidenum">
              <a:rPr lang="es-ES" sz="1200" b="0" i="0" u="none" strike="noStrike" cap="none" smtClean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pPr lvl="0"/>
              <a:t>4</a:t>
            </a:fld>
            <a:r>
              <a:rPr lang="es-ES" dirty="0"/>
              <a:t> de 13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1"/>
          <p:cNvSpPr>
            <a:spLocks noGrp="1"/>
          </p:cNvSpPr>
          <p:nvPr>
            <p:ph type="chart" idx="2"/>
          </p:nvPr>
        </p:nvSpPr>
        <p:spPr>
          <a:xfrm>
            <a:off x="7678439" y="1502193"/>
            <a:ext cx="374502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s-ES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Análisis comparativo comunal con </a:t>
            </a:r>
            <a:r>
              <a:rPr lang="es-ES" sz="1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5 dimensiones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s-ES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Fuentes: 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Noto Sans Symbols"/>
              <a:buChar char="❑"/>
            </a:pPr>
            <a:r>
              <a:rPr lang="es-ES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microdatos CASEN 2017 y 2024  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Noto Sans Symbols"/>
              <a:buChar char="❑"/>
            </a:pPr>
            <a:r>
              <a:rPr lang="es-ES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Censo de Población y Vivienda 2017 y 2024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Noto Sans Symbols"/>
              <a:buChar char="❑"/>
            </a:pPr>
            <a:r>
              <a:rPr lang="es-ES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Biblioteca del Congreso Nacional (BCN)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Noto Sans Symbols"/>
              <a:buChar char="❑"/>
            </a:pPr>
            <a:r>
              <a:rPr lang="es-ES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Encuesta Nacional de Empleo (ENE)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Noto Sans Symbols"/>
              <a:buChar char="❑"/>
            </a:pPr>
            <a:r>
              <a:rPr lang="es-ES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Instituto Nacional de Estadísticas (INE)</a:t>
            </a:r>
            <a:endParaRPr/>
          </a:p>
        </p:txBody>
      </p:sp>
      <p:pic>
        <p:nvPicPr>
          <p:cNvPr id="280" name="Google Shape;280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3236" y="1338351"/>
            <a:ext cx="7425203" cy="41812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2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Educación</a:t>
            </a:r>
            <a:endParaRPr/>
          </a:p>
        </p:txBody>
      </p:sp>
      <p:sp>
        <p:nvSpPr>
          <p:cNvPr id="287" name="Google Shape;287;p22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88" name="Google Shape;288;p22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fld id="{00000000-1234-1234-1234-123412341234}" type="slidenum">
              <a:rPr lang="es-ES" sz="1200" b="0" i="0" u="none" strike="noStrike" cap="none" smtClean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pPr lvl="0"/>
              <a:t>5</a:t>
            </a:fld>
            <a:r>
              <a:rPr lang="es-ES" dirty="0"/>
              <a:t> de 13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B77CDC2-654B-83BF-A937-9FD0E7DE5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19" y="1470141"/>
            <a:ext cx="8999967" cy="466632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3"/>
          <p:cNvSpPr txBox="1">
            <a:spLocks noGrp="1"/>
          </p:cNvSpPr>
          <p:nvPr>
            <p:ph type="title"/>
          </p:nvPr>
        </p:nvSpPr>
        <p:spPr>
          <a:xfrm>
            <a:off x="3970421" y="618833"/>
            <a:ext cx="7639870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Viviend</a:t>
            </a:r>
            <a:r>
              <a:rPr lang="es-ES" sz="4400" b="0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a y Habitabilidad</a:t>
            </a:r>
            <a:endParaRPr sz="4400" b="1" i="0" u="none" strike="noStrike" cap="none">
              <a:solidFill>
                <a:schemeClr val="accent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296" name="Google Shape;296;p23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97" name="Google Shape;297;p23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fld id="{00000000-1234-1234-1234-123412341234}" type="slidenum">
              <a:rPr lang="es-ES" sz="1200" b="0" i="0" u="none" strike="noStrike" cap="none" smtClean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pPr lvl="0"/>
              <a:t>6</a:t>
            </a:fld>
            <a:r>
              <a:rPr lang="es-ES" dirty="0"/>
              <a:t> de 13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8" name="Google Shape;298;p23" descr="Gráfico, Gráfico de barras&#10;&#10;El contenido generado por IA puede ser incorrecto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5736" y="1711440"/>
            <a:ext cx="9302152" cy="39958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4"/>
          <p:cNvSpPr txBox="1">
            <a:spLocks noGrp="1"/>
          </p:cNvSpPr>
          <p:nvPr>
            <p:ph type="title"/>
          </p:nvPr>
        </p:nvSpPr>
        <p:spPr>
          <a:xfrm>
            <a:off x="3970421" y="618833"/>
            <a:ext cx="7639870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Viviend</a:t>
            </a:r>
            <a:r>
              <a:rPr lang="es-ES" sz="4400" b="0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a y Habitabilidad</a:t>
            </a:r>
            <a:endParaRPr sz="4400" b="1" i="0" u="none" strike="noStrike" cap="none">
              <a:solidFill>
                <a:schemeClr val="accent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05" name="Google Shape;305;p24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06" name="Google Shape;306;p24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fld id="{00000000-1234-1234-1234-123412341234}" type="slidenum">
              <a:rPr lang="es-ES" sz="1200" b="0" i="0" u="none" strike="noStrike" cap="none" smtClean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pPr lvl="0"/>
              <a:t>7</a:t>
            </a:fld>
            <a:r>
              <a:rPr lang="es-ES" dirty="0"/>
              <a:t> de 13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" name="Google Shape;307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6152" y="1654464"/>
            <a:ext cx="5514291" cy="23589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41264" y="1654464"/>
            <a:ext cx="5194584" cy="295243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2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6152" y="4013462"/>
            <a:ext cx="5514291" cy="1672168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4"/>
          <p:cNvSpPr txBox="1"/>
          <p:nvPr/>
        </p:nvSpPr>
        <p:spPr>
          <a:xfrm>
            <a:off x="1532943" y="4310181"/>
            <a:ext cx="303224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A = personas por dormitorio</a:t>
            </a: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5"/>
          <p:cNvSpPr txBox="1">
            <a:spLocks noGrp="1"/>
          </p:cNvSpPr>
          <p:nvPr>
            <p:ph type="title"/>
          </p:nvPr>
        </p:nvSpPr>
        <p:spPr>
          <a:xfrm>
            <a:off x="3970421" y="618833"/>
            <a:ext cx="7639870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Viviend</a:t>
            </a:r>
            <a:r>
              <a:rPr lang="es-ES" sz="4400" b="0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a y Habitabilidad</a:t>
            </a:r>
            <a:endParaRPr sz="4400" b="1" i="0" u="none" strike="noStrike" cap="none">
              <a:solidFill>
                <a:schemeClr val="accent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17" name="Google Shape;317;p25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18" name="Google Shape;318;p25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fld id="{00000000-1234-1234-1234-123412341234}" type="slidenum">
              <a:rPr lang="es-ES" sz="1200" b="0" i="0" u="none" strike="noStrike" cap="none" smtClean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pPr lvl="0"/>
              <a:t>8</a:t>
            </a:fld>
            <a:r>
              <a:rPr lang="es-ES" dirty="0"/>
              <a:t> de 13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25"/>
          <p:cNvSpPr>
            <a:spLocks noGrp="1"/>
          </p:cNvSpPr>
          <p:nvPr>
            <p:ph type="tbl" idx="2"/>
          </p:nvPr>
        </p:nvSpPr>
        <p:spPr>
          <a:xfrm>
            <a:off x="581709" y="1614198"/>
            <a:ext cx="10889796" cy="4317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60D482C-E5C5-EAF3-C8A7-11E00C10AB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390" y="1328332"/>
            <a:ext cx="11475139" cy="49108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6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Composición del Hogar</a:t>
            </a:r>
            <a:endParaRPr/>
          </a:p>
        </p:txBody>
      </p:sp>
      <p:sp>
        <p:nvSpPr>
          <p:cNvPr id="327" name="Google Shape;327;p26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28" name="Google Shape;328;p26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fld id="{00000000-1234-1234-1234-123412341234}" type="slidenum">
              <a:rPr lang="es-ES" sz="1200" b="0" i="0" u="none" strike="noStrike" cap="none" smtClean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pPr lvl="0"/>
              <a:t>9</a:t>
            </a:fld>
            <a:r>
              <a:rPr lang="es-ES" dirty="0"/>
              <a:t> de 13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9" name="Google Shape;329;p26" title="mapa_comparac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2200" y="1535125"/>
            <a:ext cx="10527601" cy="468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7"/>
          <p:cNvSpPr txBox="1">
            <a:spLocks noGrp="1"/>
          </p:cNvSpPr>
          <p:nvPr>
            <p:ph type="title"/>
          </p:nvPr>
        </p:nvSpPr>
        <p:spPr>
          <a:xfrm>
            <a:off x="5354235" y="811736"/>
            <a:ext cx="6260249" cy="7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Empleos e Ingresos</a:t>
            </a:r>
            <a:endParaRPr/>
          </a:p>
        </p:txBody>
      </p:sp>
      <p:sp>
        <p:nvSpPr>
          <p:cNvPr id="336" name="Google Shape;336;p27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37" name="Google Shape;337;p27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fld id="{00000000-1234-1234-1234-123412341234}" type="slidenum">
              <a:rPr lang="es-ES" sz="1200" b="0" i="0" u="none" strike="noStrike" cap="none" smtClean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pPr lvl="0"/>
              <a:t>10</a:t>
            </a:fld>
            <a:r>
              <a:rPr lang="es-ES" dirty="0"/>
              <a:t> de 13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27"/>
          <p:cNvSpPr>
            <a:spLocks noGrp="1"/>
          </p:cNvSpPr>
          <p:nvPr>
            <p:ph type="tbl" idx="2"/>
          </p:nvPr>
        </p:nvSpPr>
        <p:spPr>
          <a:xfrm>
            <a:off x="7654475" y="1745075"/>
            <a:ext cx="3960000" cy="43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Char char="-"/>
            </a:pPr>
            <a:r>
              <a:rPr lang="es-ES"/>
              <a:t>Asimetría en la distribución de ingresos en el mercado laboral reg.</a:t>
            </a:r>
            <a:endParaRPr/>
          </a:p>
          <a:p>
            <a:pPr marL="457200" marR="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/>
              <a:t>Mayor concentración femenina en el tramo más bajo.</a:t>
            </a:r>
            <a:endParaRPr/>
          </a:p>
          <a:p>
            <a:pPr marL="457200" marR="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/>
              <a:t>Hombres poseen mayor participación en tramos medios y altos.</a:t>
            </a:r>
            <a:endParaRPr/>
          </a:p>
        </p:txBody>
      </p:sp>
      <p:pic>
        <p:nvPicPr>
          <p:cNvPr id="339" name="Google Shape;339;p27" title="histograma_sueldos.jpg"/>
          <p:cNvPicPr preferRelativeResize="0"/>
          <p:nvPr/>
        </p:nvPicPr>
        <p:blipFill rotWithShape="1">
          <a:blip r:embed="rId3">
            <a:alphaModFix/>
          </a:blip>
          <a:srcRect l="10790" r="-10790"/>
          <a:stretch/>
        </p:blipFill>
        <p:spPr>
          <a:xfrm>
            <a:off x="495299" y="1590125"/>
            <a:ext cx="8004859" cy="462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8"/>
          <p:cNvSpPr txBox="1">
            <a:spLocks noGrp="1"/>
          </p:cNvSpPr>
          <p:nvPr>
            <p:ph type="title"/>
          </p:nvPr>
        </p:nvSpPr>
        <p:spPr>
          <a:xfrm>
            <a:off x="5354235" y="811736"/>
            <a:ext cx="62601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Empleos e Ingresos</a:t>
            </a:r>
            <a:endParaRPr/>
          </a:p>
        </p:txBody>
      </p:sp>
      <p:sp>
        <p:nvSpPr>
          <p:cNvPr id="346" name="Google Shape;346;p28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47" name="Google Shape;347;p28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s-ES" dirty="0"/>
              <a:t>11 de 13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8"/>
          <p:cNvSpPr>
            <a:spLocks noGrp="1"/>
          </p:cNvSpPr>
          <p:nvPr>
            <p:ph type="tbl" idx="2"/>
          </p:nvPr>
        </p:nvSpPr>
        <p:spPr>
          <a:xfrm>
            <a:off x="7600650" y="1614200"/>
            <a:ext cx="3870900" cy="43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Char char="-"/>
            </a:pPr>
            <a:r>
              <a:rPr lang="es-ES"/>
              <a:t>Desplazamiento general hacia tramos superiores (inflacion y reajustes del S.M.)</a:t>
            </a:r>
            <a:endParaRPr/>
          </a:p>
          <a:p>
            <a:pPr marL="457200" marR="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/>
              <a:t>Concentración femenina más alta en el tramo inferior ($0-$500k)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49" name="Google Shape;349;p28" title="evolucion_brecha_salarial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5300" y="1614200"/>
            <a:ext cx="7105357" cy="4603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ítulo 37">
            <a:extLst>
              <a:ext uri="{FF2B5EF4-FFF2-40B4-BE49-F238E27FC236}">
                <a16:creationId xmlns:a16="http://schemas.microsoft.com/office/drawing/2014/main" id="{478CB64C-71AF-6B72-8069-000DD2505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1879"/>
            <a:ext cx="10515600" cy="1325563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Discusión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FA2F9A05-8E79-46FF-1ABA-927EF2D69BC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913022" y="2083185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Educación</a:t>
            </a:r>
          </a:p>
        </p:txBody>
      </p:sp>
      <p:sp>
        <p:nvSpPr>
          <p:cNvPr id="50" name="Marcador de texto 49">
            <a:extLst>
              <a:ext uri="{FF2B5EF4-FFF2-40B4-BE49-F238E27FC236}">
                <a16:creationId xmlns:a16="http://schemas.microsoft.com/office/drawing/2014/main" id="{0532F467-8DBE-D445-0CF7-D5D242DAD663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913022" y="2945865"/>
            <a:ext cx="1865376" cy="2388135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ES" dirty="0"/>
              <a:t>La mejora educacional podría relacionarse con una reducción parcial de vulnerabilidad social, aunque las diferencias territoriales siguen presentes.</a:t>
            </a:r>
          </a:p>
        </p:txBody>
      </p:sp>
      <p:sp>
        <p:nvSpPr>
          <p:cNvPr id="42" name="Marcador de texto 41">
            <a:extLst>
              <a:ext uri="{FF2B5EF4-FFF2-40B4-BE49-F238E27FC236}">
                <a16:creationId xmlns:a16="http://schemas.microsoft.com/office/drawing/2014/main" id="{48BF8F22-E288-84B0-03E9-82D678051D45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4075578" y="2083185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Vivienda</a:t>
            </a:r>
          </a:p>
        </p:txBody>
      </p:sp>
      <p:sp>
        <p:nvSpPr>
          <p:cNvPr id="52" name="Marcador de texto 51">
            <a:extLst>
              <a:ext uri="{FF2B5EF4-FFF2-40B4-BE49-F238E27FC236}">
                <a16:creationId xmlns:a16="http://schemas.microsoft.com/office/drawing/2014/main" id="{BACB9342-C47E-6729-46BE-F10DBB78182A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075125" y="2945865"/>
            <a:ext cx="1867186" cy="2388135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La persistencia de carencias sugiere que los problemas de infraestructura son más difíciles de revertir en períodos cortos.</a:t>
            </a:r>
          </a:p>
        </p:txBody>
      </p:sp>
      <p:sp>
        <p:nvSpPr>
          <p:cNvPr id="44" name="Marcador de texto 43">
            <a:extLst>
              <a:ext uri="{FF2B5EF4-FFF2-40B4-BE49-F238E27FC236}">
                <a16:creationId xmlns:a16="http://schemas.microsoft.com/office/drawing/2014/main" id="{D0C47E92-8875-E555-5480-8A9BAEE853A7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6238134" y="2083185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Empleo</a:t>
            </a:r>
          </a:p>
        </p:txBody>
      </p:sp>
      <p:sp>
        <p:nvSpPr>
          <p:cNvPr id="54" name="Marcador de texto 53">
            <a:extLst>
              <a:ext uri="{FF2B5EF4-FFF2-40B4-BE49-F238E27FC236}">
                <a16:creationId xmlns:a16="http://schemas.microsoft.com/office/drawing/2014/main" id="{DDCD388C-8374-D810-DCE5-554B7E05F55A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239038" y="2945866"/>
            <a:ext cx="1865376" cy="2388134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CL" dirty="0"/>
              <a:t>La brecha salarial evidencia desigualdades económicas que afectan especialmente a hogares con jefatura femenina.</a:t>
            </a:r>
            <a:endParaRPr lang="es-ES" dirty="0"/>
          </a:p>
        </p:txBody>
      </p:sp>
      <p:sp>
        <p:nvSpPr>
          <p:cNvPr id="46" name="Marcador de texto 45">
            <a:extLst>
              <a:ext uri="{FF2B5EF4-FFF2-40B4-BE49-F238E27FC236}">
                <a16:creationId xmlns:a16="http://schemas.microsoft.com/office/drawing/2014/main" id="{B87AFF1A-EF07-5FBF-C582-29AE302A47D5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8400690" y="2083185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Territorio</a:t>
            </a:r>
          </a:p>
        </p:txBody>
      </p:sp>
      <p:sp>
        <p:nvSpPr>
          <p:cNvPr id="56" name="Marcador de texto 55">
            <a:extLst>
              <a:ext uri="{FF2B5EF4-FFF2-40B4-BE49-F238E27FC236}">
                <a16:creationId xmlns:a16="http://schemas.microsoft.com/office/drawing/2014/main" id="{E62055F1-67DB-9D6D-ABE2-20C3B2514A4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8401141" y="2945865"/>
            <a:ext cx="1865376" cy="2388134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ES" dirty="0"/>
              <a:t>Las comunas rurales continúan concentrando mayores niveles de pobreza multidimensional.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285177ED-2E57-8FF5-AFD8-AA79A7B24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920214" y="2082667"/>
            <a:ext cx="8345852" cy="859536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latin typeface="+mn-lt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EFD68CE-EF5C-4046-41F5-3763D028DAE5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PMD en la Región de Los Ríos 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4FC7183-3EBB-B8D1-A66D-964D3C3A7DA8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/>
          <a:lstStyle>
            <a:defPPr>
              <a:defRPr lang="es-ES"/>
            </a:defPPr>
          </a:lstStyle>
          <a:p>
            <a:fld id="{47FEACEE-25B4-4A2D-B147-27296E36371D}" type="slidenum">
              <a:rPr lang="es-ES" altLang="zh-CN" noProof="0" smtClean="0"/>
              <a:pPr/>
              <a:t>12</a:t>
            </a:fld>
            <a:r>
              <a:rPr lang="es-ES" altLang="zh-CN" noProof="0" dirty="0"/>
              <a:t> </a:t>
            </a:r>
            <a:r>
              <a:rPr lang="es-ES" dirty="0"/>
              <a:t>de 13</a:t>
            </a:r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6240212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ítulo 85">
            <a:extLst>
              <a:ext uri="{FF2B5EF4-FFF2-40B4-BE49-F238E27FC236}">
                <a16:creationId xmlns:a16="http://schemas.microsoft.com/office/drawing/2014/main" id="{1E3F7726-AC85-55B8-BDED-51E7BA85C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Conclusiones</a:t>
            </a:r>
          </a:p>
        </p:txBody>
      </p:sp>
      <p:sp>
        <p:nvSpPr>
          <p:cNvPr id="38" name="Marcador de texto">
            <a:extLst>
              <a:ext uri="{FF2B5EF4-FFF2-40B4-BE49-F238E27FC236}">
                <a16:creationId xmlns:a16="http://schemas.microsoft.com/office/drawing/2014/main" id="{6BEF3457-28AE-41BA-B285-C77561919C1A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2072083" y="4106221"/>
            <a:ext cx="1691687" cy="1374110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CL" dirty="0"/>
              <a:t>La pobreza multidimensional presenta diferencias territoriales importantes.</a:t>
            </a:r>
            <a:endParaRPr lang="es-ES" altLang="en-US" dirty="0"/>
          </a:p>
        </p:txBody>
      </p:sp>
      <p:sp>
        <p:nvSpPr>
          <p:cNvPr id="40" name="Marcador de texto">
            <a:extLst>
              <a:ext uri="{FF2B5EF4-FFF2-40B4-BE49-F238E27FC236}">
                <a16:creationId xmlns:a16="http://schemas.microsoft.com/office/drawing/2014/main" id="{17095E6E-F279-4342-B53E-E53B820336B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4129684" y="4140857"/>
            <a:ext cx="1691687" cy="1210189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La educación muestra avances entre 2017 y 2024.</a:t>
            </a:r>
          </a:p>
        </p:txBody>
      </p:sp>
      <p:sp>
        <p:nvSpPr>
          <p:cNvPr id="42" name="Marcador de texto">
            <a:extLst>
              <a:ext uri="{FF2B5EF4-FFF2-40B4-BE49-F238E27FC236}">
                <a16:creationId xmlns:a16="http://schemas.microsoft.com/office/drawing/2014/main" id="{6BF979FF-A4F0-4625-889A-AB985F98B2D4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259475" y="4156097"/>
            <a:ext cx="1691687" cy="1210189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ES" dirty="0"/>
              <a:t>Las carencias de vivienda permanecen relativamente estables.</a:t>
            </a:r>
          </a:p>
        </p:txBody>
      </p:sp>
      <p:sp>
        <p:nvSpPr>
          <p:cNvPr id="50" name="Marcador de texto">
            <a:extLst>
              <a:ext uri="{FF2B5EF4-FFF2-40B4-BE49-F238E27FC236}">
                <a16:creationId xmlns:a16="http://schemas.microsoft.com/office/drawing/2014/main" id="{4E9BE8F8-2FF1-43CB-B1AA-4F07E411D171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8229198" y="4171378"/>
            <a:ext cx="2001653" cy="1210189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CL" dirty="0"/>
              <a:t>La brecha salarial de género continúa presente.</a:t>
            </a:r>
            <a:endParaRPr lang="es-ES" altLang="en-U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95DA9C9-8185-D0AB-3C76-BC1CABABA354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PMD en la Región de Los Ríos 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58D9DED-0D81-19D6-DF40-E6B4B5BFEF9E}"/>
              </a:ext>
            </a:extLst>
          </p:cNvPr>
          <p:cNvSpPr>
            <a:spLocks noGrp="1"/>
          </p:cNvSpPr>
          <p:nvPr>
            <p:ph type="sldNum" sz="quarter" idx="63"/>
          </p:nvPr>
        </p:nvSpPr>
        <p:spPr/>
        <p:txBody>
          <a:bodyPr rtlCol="0"/>
          <a:lstStyle>
            <a:defPPr>
              <a:defRPr lang="es-ES"/>
            </a:defPPr>
          </a:lstStyle>
          <a:p>
            <a:fld id="{47FEACEE-25B4-4A2D-B147-27296E36371D}" type="slidenum">
              <a:rPr lang="es-ES" altLang="zh-CN" smtClean="0"/>
              <a:pPr/>
              <a:t>13</a:t>
            </a:fld>
            <a:r>
              <a:rPr lang="es-ES" altLang="zh-CN" dirty="0"/>
              <a:t> </a:t>
            </a:r>
            <a:r>
              <a:rPr lang="es-ES" dirty="0"/>
              <a:t>de 13</a:t>
            </a:r>
            <a:endParaRPr lang="es-ES" altLang="zh-CN" dirty="0"/>
          </a:p>
        </p:txBody>
      </p:sp>
      <p:pic>
        <p:nvPicPr>
          <p:cNvPr id="25" name="Gráfico 24" descr="África con relleno sólido">
            <a:extLst>
              <a:ext uri="{FF2B5EF4-FFF2-40B4-BE49-F238E27FC236}">
                <a16:creationId xmlns:a16="http://schemas.microsoft.com/office/drawing/2014/main" id="{A2EB70BB-9EF6-DE5B-86A9-00CCF990E7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5290" y="2428277"/>
            <a:ext cx="1237902" cy="1237902"/>
          </a:xfrm>
          <a:prstGeom prst="rect">
            <a:avLst/>
          </a:prstGeom>
        </p:spPr>
      </p:pic>
      <p:pic>
        <p:nvPicPr>
          <p:cNvPr id="44" name="Gráfico 43" descr="Birrete contorno">
            <a:extLst>
              <a:ext uri="{FF2B5EF4-FFF2-40B4-BE49-F238E27FC236}">
                <a16:creationId xmlns:a16="http://schemas.microsoft.com/office/drawing/2014/main" id="{34542FB0-E49B-0EF2-E89A-BC6548082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15553" y="2271313"/>
            <a:ext cx="1325563" cy="1325563"/>
          </a:xfrm>
          <a:prstGeom prst="rect">
            <a:avLst/>
          </a:prstGeom>
        </p:spPr>
      </p:pic>
      <p:pic>
        <p:nvPicPr>
          <p:cNvPr id="46" name="Gráfico 45" descr="Casa con relleno sólido">
            <a:extLst>
              <a:ext uri="{FF2B5EF4-FFF2-40B4-BE49-F238E27FC236}">
                <a16:creationId xmlns:a16="http://schemas.microsoft.com/office/drawing/2014/main" id="{15C55BBE-C0A2-0F36-3F72-D9FB4DB81A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50886" y="2396668"/>
            <a:ext cx="1084835" cy="1084835"/>
          </a:xfrm>
          <a:prstGeom prst="rect">
            <a:avLst/>
          </a:prstGeom>
        </p:spPr>
      </p:pic>
      <p:pic>
        <p:nvPicPr>
          <p:cNvPr id="48" name="Gráfico 47" descr="Dinero volando con relleno sólido">
            <a:extLst>
              <a:ext uri="{FF2B5EF4-FFF2-40B4-BE49-F238E27FC236}">
                <a16:creationId xmlns:a16="http://schemas.microsoft.com/office/drawing/2014/main" id="{1C369222-0865-561C-05BF-6BAD6F9FF6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75283" y="2396668"/>
            <a:ext cx="1157687" cy="1157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140333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​">
  <a:themeElements>
    <a:clrScheme name="Custom 9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803"/>
      </a:accent2>
      <a:accent3>
        <a:srgbClr val="DCD3CC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766</Words>
  <Application>Microsoft Office PowerPoint</Application>
  <PresentationFormat>Panorámica</PresentationFormat>
  <Paragraphs>105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Mate</vt:lpstr>
      <vt:lpstr>Calibri</vt:lpstr>
      <vt:lpstr>Arial</vt:lpstr>
      <vt:lpstr>Arial Black</vt:lpstr>
      <vt:lpstr>Noto Sans Symbols</vt:lpstr>
      <vt:lpstr>Personalizar​</vt:lpstr>
      <vt:lpstr>Factores Predominantes en Hogares con Pobreza Multidimensional en la Región de Los Ríos (2017–2024)</vt:lpstr>
      <vt:lpstr>Introducción</vt:lpstr>
      <vt:lpstr>Preguntas de investigación</vt:lpstr>
      <vt:lpstr>Solución</vt:lpstr>
      <vt:lpstr>Educación</vt:lpstr>
      <vt:lpstr>Vivienda y Habitabilidad</vt:lpstr>
      <vt:lpstr>Vivienda y Habitabilidad</vt:lpstr>
      <vt:lpstr>Vivienda y Habitabilidad</vt:lpstr>
      <vt:lpstr>Composición del Hogar</vt:lpstr>
      <vt:lpstr>Empleos e Ingresos</vt:lpstr>
      <vt:lpstr>Empleos e Ingresos</vt:lpstr>
      <vt:lpstr>Discusión</vt:lpstr>
      <vt:lpstr>Conclusiones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Fabián Reyes Tapia</dc:creator>
  <cp:lastModifiedBy>Fabián Reyes T.</cp:lastModifiedBy>
  <cp:revision>1</cp:revision>
  <dcterms:modified xsi:type="dcterms:W3CDTF">2026-05-11T03:59:20Z</dcterms:modified>
</cp:coreProperties>
</file>